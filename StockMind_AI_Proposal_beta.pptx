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Assalam-o-Alaikum. Our Final Year Project is StockMind AI, an intelligent demand forecasting and inventory optimization system designed for multi-outlet retail chains. The system uses historical sales and inventory data to forecast future demand, identify inventory risks, and provide actionable recommendations for replenishment and inter-outlet transfers.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 multi-outlet retail business, the same product may have very different demand at different outlets. Traditional spreadsheet-based approaches often rely on historical averages or manual judgment. This can result in too much inventory at one outlet while another outlet faces a shortage. StockMind AI is designed to provide predictive and decision-support capabilities to address this problem.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problem we identified is not simply inventory tracking. It is the lack of an integrated decision-support process that connects historical data, demand forecasting, inventory optimization, risk detection, and recommendations across multiple outlets.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StockMind AI moves beyond simply displaying historical inventory information. It first understands historical demand, predicts future demand using multiple forecasting approaches, evaluates those approaches, and then uses the forecasts to calculate inventory indicators and generate recommendations.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objectives cover the complete decision-support workflow. We are not only developing a forecasting model. We are integrating forecasting with inventory calculations, risk detection, recommendations, and a web-based dashboard.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major functional capabilities of the proposed product. A key feature is that the system works at both product and outlet levels, because demand for the same product can differ significantly between outlets.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intentionally use multiple forecasting approaches because different product-outlet demand series may behave differently. SMA may work well for relatively stable demand, Holt-Winters can capture trend and seasonality, ARIMA can model time-series dependencies, while XGBoost can capture nonlinear relationships using engineered features. The system will compare their performance rather than assuming that one algorithm is universally best.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layer is what transforms prediction into practical decision support. For example, if forecasted demand indicates that an outlet is likely to run out of a product before the next replenishment cycle, StockMind can flag the risk and recommend replenishment. Recommendations are prioritized according to configurable risk thresholds.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important part of our multi-outlet design is transfer intelligence. Instead of immediately recommending a new purchase, the system can identify situations where another outlet may have sufficient surplus. This can potentially improve inventory utilization across the chain. The system remains decision-support software and does not automatically execute transfers.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architecture is modular. Forecasting, inventory optimization, recommendation logic, API services, and frontend presentation are separated. This allows us to develop and test each major component independently while still integrating them into one product.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selected technologies that allow us to build the project as a complete software product rather than only a machine-learning experiment. Python provides the forecasting and data-processing ecosystem, FastAPI provides the backend API, and React provides the interactive dashboard.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quality is important because forecasting and inventory recommendations are only as reliable as their inputs. Therefore, data validation and preprocessing are treated as an explicit part of our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have deliberately defined boundaries so that the FYP remains achievable while still demonstrating substantial AI and software engineering complexity. StockMind is a decision-support platform, not a replacement for a complete ERP or POS system.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development plan follows an iterative approach. Some activities are intentionally parallelized. For example, frontend development can proceed while the forecasting and backend modules are being developed, provided that the required interfaces and data structures have been established.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have divided responsibilities according to the major technical components while keeping important activities such as requirements, integration, testing, deployment, and documentation shared between both team members.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expected outcome is a complete functional product that demonstrates both software engineering and artificial intelligence capabilities. The main distinction from a basic forecasting project is the end-to-end integration from raw data to actionable inventory decisions.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comparison benchmarks StockMind AI against established commercial solutions such as RELEX, Blue Yonder, and Slimstock. These products are enterprise-grade: they demand large budgets, long implementation, dedicated data teams, and target large retailers or global supply chains. StockMind AI differentiates on accessibility — a lightweight, low-cost web app for small and mid multi-outlet chains that still evaluates multiple forecasting models on held-out data, derives safety stock and reorder points from predicted demand, proactively flags stockout and overstock risks, and proposes surplus-shortage transfer matches across company, outlet, and product levels.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References support the forecasting and inventory methodology used in StockMind AI. ARIMA and exponential smoothing are grounded in classic time-series literature, XGBoost follows the original gradient boosting publication, forecasting evaluation follows Forecasting: Principles and Practice, and safety stock, reorder point, EOQ, and multi-location coordination rely on established inventory and supply-chain references.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StockMind AI combines multiple areas of computing into one practical product. It uses historical data to forecast demand, evaluates forecasting approaches, calculates inventory requirements, identifies risks, and provides actionable recommendations through an interactive web platform. Thank you.</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Questions and discussion.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AFB"/>
        </a:solidFill>
        <a:effectLst/>
      </p:bgPr>
    </p:bg>
    <p:spTree>
      <p:nvGrpSpPr>
        <p:cNvPr id="1" name=""/>
        <p:cNvGrpSpPr/>
        <p:nvPr/>
      </p:nvGrpSpPr>
      <p:grpSpPr/>
      <p:pic>
        <p:nvPicPr>
          <p:cNvPr id="2" name="Picture 1" descr="443732266_1006349624830063_6095867571651137613_n-removebg-preview.png"/>
          <p:cNvPicPr>
            <a:picLocks noChangeAspect="1"/>
          </p:cNvPicPr>
          <p:nvPr/>
        </p:nvPicPr>
        <p:blipFill>
          <a:blip r:embed="rId2"/>
          <a:stretch>
            <a:fillRect/>
          </a:stretch>
        </p:blipFill>
        <p:spPr>
          <a:xfrm>
            <a:off x="11094415" y="137160"/>
            <a:ext cx="868680" cy="868680"/>
          </a:xfrm>
          <a:prstGeom prst="rect">
            <a:avLst/>
          </a:prstGeom>
        </p:spPr>
      </p:pic>
      <p:sp>
        <p:nvSpPr>
          <p:cNvPr id="3" name="Rounded Rectangle 2"/>
          <p:cNvSpPr/>
          <p:nvPr/>
        </p:nvSpPr>
        <p:spPr>
          <a:xfrm>
            <a:off x="0" y="0"/>
            <a:ext cx="109728" cy="685800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731520"/>
            <a:ext cx="10058400" cy="914400"/>
          </a:xfrm>
          <a:prstGeom prst="rect">
            <a:avLst/>
          </a:prstGeom>
          <a:noFill/>
        </p:spPr>
        <p:txBody>
          <a:bodyPr wrap="square"/>
          <a:lstStyle/>
          <a:p>
            <a:pPr algn="l">
              <a:spcBef>
                <a:spcPts val="0"/>
              </a:spcBef>
              <a:spcAft>
                <a:spcPts val="0"/>
              </a:spcAft>
            </a:pPr>
            <a:r>
              <a:rPr sz="5200" b="1">
                <a:solidFill>
                  <a:srgbClr val="2563EB"/>
                </a:solidFill>
                <a:latin typeface="Space Grotesk"/>
              </a:rPr>
              <a:t>StockMind AI</a:t>
            </a:r>
          </a:p>
        </p:txBody>
      </p:sp>
      <p:sp>
        <p:nvSpPr>
          <p:cNvPr id="5" name="TextBox 4"/>
          <p:cNvSpPr txBox="1"/>
          <p:nvPr/>
        </p:nvSpPr>
        <p:spPr>
          <a:xfrm>
            <a:off x="1097280" y="1691640"/>
            <a:ext cx="9144000" cy="731520"/>
          </a:xfrm>
          <a:prstGeom prst="rect">
            <a:avLst/>
          </a:prstGeom>
          <a:noFill/>
        </p:spPr>
        <p:txBody>
          <a:bodyPr wrap="square"/>
          <a:lstStyle/>
          <a:p>
            <a:pPr algn="l">
              <a:spcBef>
                <a:spcPts val="0"/>
              </a:spcBef>
              <a:spcAft>
                <a:spcPts val="0"/>
              </a:spcAft>
            </a:pPr>
            <a:r>
              <a:rPr sz="2200" b="0">
                <a:solidFill>
                  <a:srgbClr val="111827"/>
                </a:solidFill>
                <a:latin typeface="Inter"/>
              </a:rPr>
              <a:t>An Intelligent Demand Forecasting and
Inventory Optimization System for Multi-Outlet Retail Chains</a:t>
            </a:r>
          </a:p>
        </p:txBody>
      </p:sp>
      <p:sp>
        <p:nvSpPr>
          <p:cNvPr id="6" name="Rounded Rectangle 5"/>
          <p:cNvSpPr/>
          <p:nvPr/>
        </p:nvSpPr>
        <p:spPr>
          <a:xfrm>
            <a:off x="1097280" y="2606040"/>
            <a:ext cx="3200400" cy="3810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834640"/>
            <a:ext cx="5486400" cy="365760"/>
          </a:xfrm>
          <a:prstGeom prst="rect">
            <a:avLst/>
          </a:prstGeom>
          <a:noFill/>
        </p:spPr>
        <p:txBody>
          <a:bodyPr wrap="square"/>
          <a:lstStyle/>
          <a:p>
            <a:pPr algn="l">
              <a:spcBef>
                <a:spcPts val="0"/>
              </a:spcBef>
              <a:spcAft>
                <a:spcPts val="0"/>
              </a:spcAft>
            </a:pPr>
            <a:r>
              <a:rPr sz="1600" b="0">
                <a:solidFill>
                  <a:srgbClr val="9CA3AF"/>
                </a:solidFill>
                <a:latin typeface="Inter"/>
              </a:rPr>
              <a:t>Final Year Project Proposal</a:t>
            </a:r>
          </a:p>
        </p:txBody>
      </p:sp>
      <p:sp>
        <p:nvSpPr>
          <p:cNvPr id="8" name="TextBox 7"/>
          <p:cNvSpPr txBox="1"/>
          <p:nvPr/>
        </p:nvSpPr>
        <p:spPr>
          <a:xfrm>
            <a:off x="1097280" y="3474720"/>
            <a:ext cx="4572000" cy="1463040"/>
          </a:xfrm>
          <a:prstGeom prst="rect">
            <a:avLst/>
          </a:prstGeom>
          <a:noFill/>
        </p:spPr>
        <p:txBody>
          <a:bodyPr wrap="square"/>
          <a:lstStyle/>
          <a:p>
            <a:pPr algn="l">
              <a:spcAft>
                <a:spcPts val="200"/>
              </a:spcAft>
            </a:pPr>
            <a:r>
              <a:rPr sz="1300" b="0">
                <a:solidFill>
                  <a:srgbClr val="9CA3AF"/>
                </a:solidFill>
                <a:latin typeface="Inter"/>
              </a:rPr>
              <a:t>Presented by:</a:t>
            </a:r>
          </a:p>
          <a:p>
            <a:pPr algn="l">
              <a:spcAft>
                <a:spcPts val="1000"/>
              </a:spcAft>
            </a:pPr>
            <a:r>
              <a:rPr sz="1800" b="1">
                <a:solidFill>
                  <a:srgbClr val="111827"/>
                </a:solidFill>
                <a:latin typeface="Inter"/>
              </a:rPr>
              <a:t>Meer Musabih Saleem  &amp;  Malaika Saleem</a:t>
            </a:r>
          </a:p>
          <a:p>
            <a:pPr algn="l">
              <a:spcAft>
                <a:spcPts val="200"/>
              </a:spcAft>
            </a:pPr>
            <a:r>
              <a:rPr sz="1300" b="0">
                <a:solidFill>
                  <a:srgbClr val="9CA3AF"/>
                </a:solidFill>
                <a:latin typeface="Inter"/>
              </a:rPr>
              <a:t>Supervisor:</a:t>
            </a:r>
          </a:p>
          <a:p>
            <a:pPr algn="l">
              <a:spcAft>
                <a:spcPts val="1000"/>
              </a:spcAft>
            </a:pPr>
            <a:r>
              <a:rPr sz="1800" b="1">
                <a:solidFill>
                  <a:srgbClr val="111827"/>
                </a:solidFill>
                <a:latin typeface="Inter"/>
              </a:rPr>
              <a:t>Dr. Muhammad Fawad</a:t>
            </a:r>
          </a:p>
          <a:p>
            <a:pPr algn="l">
              <a:spcAft>
                <a:spcPts val="0"/>
              </a:spcAft>
            </a:pPr>
            <a:r>
              <a:rPr sz="1400" b="0">
                <a:solidFill>
                  <a:srgbClr val="14B8A6"/>
                </a:solidFill>
                <a:latin typeface="Inter"/>
              </a:rPr>
              <a:t>Riphah International University — Lahore</a:t>
            </a:r>
          </a:p>
        </p:txBody>
      </p:sp>
      <p:sp>
        <p:nvSpPr>
          <p:cNvPr id="9" name="Rounded Rectangle 8"/>
          <p:cNvSpPr/>
          <p:nvPr/>
        </p:nvSpPr>
        <p:spPr>
          <a:xfrm>
            <a:off x="6217920" y="3291840"/>
            <a:ext cx="1234440" cy="5943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200" b="1">
                <a:solidFill>
                  <a:srgbClr val="FFFFFF"/>
                </a:solidFill>
                <a:latin typeface="Inter"/>
              </a:rPr>
              <a:t>Retail Data</a:t>
            </a:r>
          </a:p>
        </p:txBody>
      </p:sp>
      <p:sp>
        <p:nvSpPr>
          <p:cNvPr id="10" name="Rounded Rectangle 9"/>
          <p:cNvSpPr/>
          <p:nvPr/>
        </p:nvSpPr>
        <p:spPr>
          <a:xfrm>
            <a:off x="7680960" y="3291840"/>
            <a:ext cx="1234440" cy="5943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200" b="1">
                <a:solidFill>
                  <a:srgbClr val="FFFFFF"/>
                </a:solidFill>
                <a:latin typeface="Inter"/>
              </a:rPr>
              <a:t>AI Forecast</a:t>
            </a:r>
          </a:p>
        </p:txBody>
      </p:sp>
      <p:sp>
        <p:nvSpPr>
          <p:cNvPr id="11" name="Rounded Rectangle 10"/>
          <p:cNvSpPr/>
          <p:nvPr/>
        </p:nvSpPr>
        <p:spPr>
          <a:xfrm>
            <a:off x="9144000" y="3291840"/>
            <a:ext cx="1234440" cy="59436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200" b="1">
                <a:solidFill>
                  <a:srgbClr val="FFFFFF"/>
                </a:solidFill>
                <a:latin typeface="Inter"/>
              </a:rPr>
              <a:t>Inventory
Intelligence</a:t>
            </a:r>
          </a:p>
        </p:txBody>
      </p:sp>
      <p:sp>
        <p:nvSpPr>
          <p:cNvPr id="12" name="Rounded Rectangle 11"/>
          <p:cNvSpPr/>
          <p:nvPr/>
        </p:nvSpPr>
        <p:spPr>
          <a:xfrm>
            <a:off x="10607040" y="3291840"/>
            <a:ext cx="1234440" cy="59436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200" b="1">
                <a:solidFill>
                  <a:srgbClr val="FFFFFF"/>
                </a:solidFill>
                <a:latin typeface="Inter"/>
              </a:rPr>
              <a:t>Action</a:t>
            </a:r>
          </a:p>
        </p:txBody>
      </p:sp>
      <p:sp>
        <p:nvSpPr>
          <p:cNvPr id="13" name="Rounded Rectangle 12"/>
          <p:cNvSpPr/>
          <p:nvPr/>
        </p:nvSpPr>
        <p:spPr>
          <a:xfrm>
            <a:off x="0" y="6629400"/>
            <a:ext cx="12191695" cy="22860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AFB"/>
        </a:solidFill>
        <a:effectLst/>
      </p:bgPr>
    </p:bg>
    <p:spTree>
      <p:nvGrpSpPr>
        <p:cNvPr id="1" name=""/>
        <p:cNvGrpSpPr/>
        <p:nvPr/>
      </p:nvGrpSpPr>
      <p:grpSpPr/>
      <p:sp>
        <p:nvSpPr>
          <p:cNvPr id="2" name="Rounded Rectangle 1"/>
          <p:cNvSpPr/>
          <p:nvPr/>
        </p:nvSpPr>
        <p:spPr>
          <a:xfrm>
            <a:off x="0" y="0"/>
            <a:ext cx="12191695" cy="10515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515600" cy="548640"/>
          </a:xfrm>
          <a:prstGeom prst="rect">
            <a:avLst/>
          </a:prstGeom>
          <a:noFill/>
        </p:spPr>
        <p:txBody>
          <a:bodyPr wrap="square"/>
          <a:lstStyle/>
          <a:p>
            <a:pPr algn="l">
              <a:spcBef>
                <a:spcPts val="0"/>
              </a:spcBef>
              <a:spcAft>
                <a:spcPts val="0"/>
              </a:spcAft>
            </a:pPr>
            <a:r>
              <a:rPr sz="3000" b="1">
                <a:solidFill>
                  <a:srgbClr val="FFFFFF"/>
                </a:solidFill>
                <a:latin typeface="Space Grotesk"/>
              </a:rPr>
              <a:t>Outline</a:t>
            </a:r>
          </a:p>
        </p:txBody>
      </p:sp>
      <p:pic>
        <p:nvPicPr>
          <p:cNvPr id="4" name="Picture 3" descr="443732266_1006349624830063_6095867571651137613_n-removebg-preview.png"/>
          <p:cNvPicPr>
            <a:picLocks noChangeAspect="1"/>
          </p:cNvPicPr>
          <p:nvPr/>
        </p:nvPicPr>
        <p:blipFill>
          <a:blip r:embed="rId2"/>
          <a:stretch>
            <a:fillRect/>
          </a:stretch>
        </p:blipFill>
        <p:spPr>
          <a:xfrm>
            <a:off x="11094415" y="137160"/>
            <a:ext cx="868680" cy="868680"/>
          </a:xfrm>
          <a:prstGeom prst="rect">
            <a:avLst/>
          </a:prstGeom>
        </p:spPr>
      </p:pic>
      <p:sp>
        <p:nvSpPr>
          <p:cNvPr id="5" name="Rounded Rectangle 4"/>
          <p:cNvSpPr/>
          <p:nvPr/>
        </p:nvSpPr>
        <p:spPr>
          <a:xfrm>
            <a:off x="0" y="6675120"/>
            <a:ext cx="12191695" cy="18288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0" y="6446520"/>
            <a:ext cx="822960" cy="274320"/>
          </a:xfrm>
          <a:prstGeom prst="rect">
            <a:avLst/>
          </a:prstGeom>
          <a:noFill/>
        </p:spPr>
        <p:txBody>
          <a:bodyPr wrap="square"/>
          <a:lstStyle/>
          <a:p>
            <a:pPr algn="r">
              <a:spcBef>
                <a:spcPts val="0"/>
              </a:spcBef>
              <a:spcAft>
                <a:spcPts val="0"/>
              </a:spcAft>
            </a:pPr>
            <a:r>
              <a:rPr sz="1000" b="0">
                <a:solidFill>
                  <a:srgbClr val="9CA3AF"/>
                </a:solidFill>
                <a:latin typeface="Inter"/>
              </a:rPr>
              <a:t>2 / 21</a:t>
            </a:r>
          </a:p>
        </p:txBody>
      </p:sp>
      <p:sp>
        <p:nvSpPr>
          <p:cNvPr id="7" name="Rounded Rectangle 6"/>
          <p:cNvSpPr/>
          <p:nvPr/>
        </p:nvSpPr>
        <p:spPr>
          <a:xfrm>
            <a:off x="365760" y="1444752"/>
            <a:ext cx="411480" cy="34747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Inter"/>
              </a:rPr>
              <a:t>01</a:t>
            </a:r>
          </a:p>
        </p:txBody>
      </p:sp>
      <p:sp>
        <p:nvSpPr>
          <p:cNvPr id="8" name="TextBox 7"/>
          <p:cNvSpPr txBox="1"/>
          <p:nvPr/>
        </p:nvSpPr>
        <p:spPr>
          <a:xfrm>
            <a:off x="868680" y="1444752"/>
            <a:ext cx="3200399" cy="347472"/>
          </a:xfrm>
          <a:prstGeom prst="rect">
            <a:avLst/>
          </a:prstGeom>
          <a:noFill/>
        </p:spPr>
        <p:txBody>
          <a:bodyPr wrap="square"/>
          <a:lstStyle/>
          <a:p>
            <a:pPr algn="l">
              <a:spcBef>
                <a:spcPts val="0"/>
              </a:spcBef>
              <a:spcAft>
                <a:spcPts val="0"/>
              </a:spcAft>
            </a:pPr>
            <a:r>
              <a:rPr sz="1400" b="0">
                <a:solidFill>
                  <a:srgbClr val="111827"/>
                </a:solidFill>
                <a:latin typeface="Inter"/>
              </a:rPr>
              <a:t>Introduction</a:t>
            </a:r>
          </a:p>
        </p:txBody>
      </p:sp>
      <p:sp>
        <p:nvSpPr>
          <p:cNvPr id="9" name="Rounded Rectangle 8"/>
          <p:cNvSpPr/>
          <p:nvPr/>
        </p:nvSpPr>
        <p:spPr>
          <a:xfrm>
            <a:off x="365760" y="1956816"/>
            <a:ext cx="411480" cy="34747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Inter"/>
              </a:rPr>
              <a:t>02</a:t>
            </a:r>
          </a:p>
        </p:txBody>
      </p:sp>
      <p:sp>
        <p:nvSpPr>
          <p:cNvPr id="10" name="TextBox 9"/>
          <p:cNvSpPr txBox="1"/>
          <p:nvPr/>
        </p:nvSpPr>
        <p:spPr>
          <a:xfrm>
            <a:off x="868680" y="1956816"/>
            <a:ext cx="3200399" cy="347472"/>
          </a:xfrm>
          <a:prstGeom prst="rect">
            <a:avLst/>
          </a:prstGeom>
          <a:noFill/>
        </p:spPr>
        <p:txBody>
          <a:bodyPr wrap="square"/>
          <a:lstStyle/>
          <a:p>
            <a:pPr algn="l">
              <a:spcBef>
                <a:spcPts val="0"/>
              </a:spcBef>
              <a:spcAft>
                <a:spcPts val="0"/>
              </a:spcAft>
            </a:pPr>
            <a:r>
              <a:rPr sz="1400" b="0">
                <a:solidFill>
                  <a:srgbClr val="111827"/>
                </a:solidFill>
                <a:latin typeface="Inter"/>
              </a:rPr>
              <a:t>Problem Statement</a:t>
            </a:r>
          </a:p>
        </p:txBody>
      </p:sp>
      <p:sp>
        <p:nvSpPr>
          <p:cNvPr id="11" name="Rounded Rectangle 10"/>
          <p:cNvSpPr/>
          <p:nvPr/>
        </p:nvSpPr>
        <p:spPr>
          <a:xfrm>
            <a:off x="365760" y="2468880"/>
            <a:ext cx="411480" cy="34747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Inter"/>
              </a:rPr>
              <a:t>03</a:t>
            </a:r>
          </a:p>
        </p:txBody>
      </p:sp>
      <p:sp>
        <p:nvSpPr>
          <p:cNvPr id="12" name="TextBox 11"/>
          <p:cNvSpPr txBox="1"/>
          <p:nvPr/>
        </p:nvSpPr>
        <p:spPr>
          <a:xfrm>
            <a:off x="868680" y="2468880"/>
            <a:ext cx="3200399" cy="347472"/>
          </a:xfrm>
          <a:prstGeom prst="rect">
            <a:avLst/>
          </a:prstGeom>
          <a:noFill/>
        </p:spPr>
        <p:txBody>
          <a:bodyPr wrap="square"/>
          <a:lstStyle/>
          <a:p>
            <a:pPr algn="l">
              <a:spcBef>
                <a:spcPts val="0"/>
              </a:spcBef>
              <a:spcAft>
                <a:spcPts val="0"/>
              </a:spcAft>
            </a:pPr>
            <a:r>
              <a:rPr sz="1400" b="0">
                <a:solidFill>
                  <a:srgbClr val="111827"/>
                </a:solidFill>
                <a:latin typeface="Inter"/>
              </a:rPr>
              <a:t>Proposed Solution</a:t>
            </a:r>
          </a:p>
        </p:txBody>
      </p:sp>
      <p:sp>
        <p:nvSpPr>
          <p:cNvPr id="13" name="Rounded Rectangle 12"/>
          <p:cNvSpPr/>
          <p:nvPr/>
        </p:nvSpPr>
        <p:spPr>
          <a:xfrm>
            <a:off x="365760" y="2980944"/>
            <a:ext cx="411480" cy="34747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Inter"/>
              </a:rPr>
              <a:t>04</a:t>
            </a:r>
          </a:p>
        </p:txBody>
      </p:sp>
      <p:sp>
        <p:nvSpPr>
          <p:cNvPr id="14" name="TextBox 13"/>
          <p:cNvSpPr txBox="1"/>
          <p:nvPr/>
        </p:nvSpPr>
        <p:spPr>
          <a:xfrm>
            <a:off x="868680" y="2980944"/>
            <a:ext cx="3200399" cy="347472"/>
          </a:xfrm>
          <a:prstGeom prst="rect">
            <a:avLst/>
          </a:prstGeom>
          <a:noFill/>
        </p:spPr>
        <p:txBody>
          <a:bodyPr wrap="square"/>
          <a:lstStyle/>
          <a:p>
            <a:pPr algn="l">
              <a:spcBef>
                <a:spcPts val="0"/>
              </a:spcBef>
              <a:spcAft>
                <a:spcPts val="0"/>
              </a:spcAft>
            </a:pPr>
            <a:r>
              <a:rPr sz="1400" b="0">
                <a:solidFill>
                  <a:srgbClr val="111827"/>
                </a:solidFill>
                <a:latin typeface="Inter"/>
              </a:rPr>
              <a:t>Project Objectives</a:t>
            </a:r>
          </a:p>
        </p:txBody>
      </p:sp>
      <p:sp>
        <p:nvSpPr>
          <p:cNvPr id="15" name="Rounded Rectangle 14"/>
          <p:cNvSpPr/>
          <p:nvPr/>
        </p:nvSpPr>
        <p:spPr>
          <a:xfrm>
            <a:off x="365760" y="3493008"/>
            <a:ext cx="411480" cy="34747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Inter"/>
              </a:rPr>
              <a:t>05</a:t>
            </a:r>
          </a:p>
        </p:txBody>
      </p:sp>
      <p:sp>
        <p:nvSpPr>
          <p:cNvPr id="16" name="TextBox 15"/>
          <p:cNvSpPr txBox="1"/>
          <p:nvPr/>
        </p:nvSpPr>
        <p:spPr>
          <a:xfrm>
            <a:off x="868680" y="3493008"/>
            <a:ext cx="3200399" cy="347472"/>
          </a:xfrm>
          <a:prstGeom prst="rect">
            <a:avLst/>
          </a:prstGeom>
          <a:noFill/>
        </p:spPr>
        <p:txBody>
          <a:bodyPr wrap="square"/>
          <a:lstStyle/>
          <a:p>
            <a:pPr algn="l">
              <a:spcBef>
                <a:spcPts val="0"/>
              </a:spcBef>
              <a:spcAft>
                <a:spcPts val="0"/>
              </a:spcAft>
            </a:pPr>
            <a:r>
              <a:rPr sz="1400" b="0">
                <a:solidFill>
                  <a:srgbClr val="111827"/>
                </a:solidFill>
                <a:latin typeface="Inter"/>
              </a:rPr>
              <a:t>Key Features</a:t>
            </a:r>
          </a:p>
        </p:txBody>
      </p:sp>
      <p:sp>
        <p:nvSpPr>
          <p:cNvPr id="17" name="Rounded Rectangle 16"/>
          <p:cNvSpPr/>
          <p:nvPr/>
        </p:nvSpPr>
        <p:spPr>
          <a:xfrm>
            <a:off x="365760" y="4005072"/>
            <a:ext cx="411480" cy="34747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Inter"/>
              </a:rPr>
              <a:t>06</a:t>
            </a:r>
          </a:p>
        </p:txBody>
      </p:sp>
      <p:sp>
        <p:nvSpPr>
          <p:cNvPr id="18" name="TextBox 17"/>
          <p:cNvSpPr txBox="1"/>
          <p:nvPr/>
        </p:nvSpPr>
        <p:spPr>
          <a:xfrm>
            <a:off x="868680" y="4005072"/>
            <a:ext cx="3200399" cy="347472"/>
          </a:xfrm>
          <a:prstGeom prst="rect">
            <a:avLst/>
          </a:prstGeom>
          <a:noFill/>
        </p:spPr>
        <p:txBody>
          <a:bodyPr wrap="square"/>
          <a:lstStyle/>
          <a:p>
            <a:pPr algn="l">
              <a:spcBef>
                <a:spcPts val="0"/>
              </a:spcBef>
              <a:spcAft>
                <a:spcPts val="0"/>
              </a:spcAft>
            </a:pPr>
            <a:r>
              <a:rPr sz="1400" b="0">
                <a:solidFill>
                  <a:srgbClr val="111827"/>
                </a:solidFill>
                <a:latin typeface="Inter"/>
              </a:rPr>
              <a:t>Demand Forecasting Engine</a:t>
            </a:r>
          </a:p>
        </p:txBody>
      </p:sp>
      <p:sp>
        <p:nvSpPr>
          <p:cNvPr id="19" name="Rounded Rectangle 18"/>
          <p:cNvSpPr/>
          <p:nvPr/>
        </p:nvSpPr>
        <p:spPr>
          <a:xfrm>
            <a:off x="4434839" y="1444752"/>
            <a:ext cx="411480" cy="34747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Inter"/>
              </a:rPr>
              <a:t>07</a:t>
            </a:r>
          </a:p>
        </p:txBody>
      </p:sp>
      <p:sp>
        <p:nvSpPr>
          <p:cNvPr id="20" name="TextBox 19"/>
          <p:cNvSpPr txBox="1"/>
          <p:nvPr/>
        </p:nvSpPr>
        <p:spPr>
          <a:xfrm>
            <a:off x="4937759" y="1444752"/>
            <a:ext cx="3200399" cy="347472"/>
          </a:xfrm>
          <a:prstGeom prst="rect">
            <a:avLst/>
          </a:prstGeom>
          <a:noFill/>
        </p:spPr>
        <p:txBody>
          <a:bodyPr wrap="square"/>
          <a:lstStyle/>
          <a:p>
            <a:pPr algn="l">
              <a:spcBef>
                <a:spcPts val="0"/>
              </a:spcBef>
              <a:spcAft>
                <a:spcPts val="0"/>
              </a:spcAft>
            </a:pPr>
            <a:r>
              <a:rPr sz="1400" b="0">
                <a:solidFill>
                  <a:srgbClr val="111827"/>
                </a:solidFill>
                <a:latin typeface="Inter"/>
              </a:rPr>
              <a:t>Inventory Optimization &amp; Recommendation Engine</a:t>
            </a:r>
          </a:p>
        </p:txBody>
      </p:sp>
      <p:sp>
        <p:nvSpPr>
          <p:cNvPr id="21" name="Rounded Rectangle 20"/>
          <p:cNvSpPr/>
          <p:nvPr/>
        </p:nvSpPr>
        <p:spPr>
          <a:xfrm>
            <a:off x="4434839" y="1956816"/>
            <a:ext cx="411480" cy="34747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Inter"/>
              </a:rPr>
              <a:t>08</a:t>
            </a:r>
          </a:p>
        </p:txBody>
      </p:sp>
      <p:sp>
        <p:nvSpPr>
          <p:cNvPr id="22" name="TextBox 21"/>
          <p:cNvSpPr txBox="1"/>
          <p:nvPr/>
        </p:nvSpPr>
        <p:spPr>
          <a:xfrm>
            <a:off x="4937759" y="1956816"/>
            <a:ext cx="3200399" cy="347472"/>
          </a:xfrm>
          <a:prstGeom prst="rect">
            <a:avLst/>
          </a:prstGeom>
          <a:noFill/>
        </p:spPr>
        <p:txBody>
          <a:bodyPr wrap="square"/>
          <a:lstStyle/>
          <a:p>
            <a:pPr algn="l">
              <a:spcBef>
                <a:spcPts val="0"/>
              </a:spcBef>
              <a:spcAft>
                <a:spcPts val="0"/>
              </a:spcAft>
            </a:pPr>
            <a:r>
              <a:rPr sz="1400" b="0">
                <a:solidFill>
                  <a:srgbClr val="111827"/>
                </a:solidFill>
                <a:latin typeface="Inter"/>
              </a:rPr>
              <a:t>Multi-Outlet Transfer Intelligence</a:t>
            </a:r>
          </a:p>
        </p:txBody>
      </p:sp>
      <p:sp>
        <p:nvSpPr>
          <p:cNvPr id="23" name="Rounded Rectangle 22"/>
          <p:cNvSpPr/>
          <p:nvPr/>
        </p:nvSpPr>
        <p:spPr>
          <a:xfrm>
            <a:off x="4434839" y="2468880"/>
            <a:ext cx="411480" cy="34747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Inter"/>
              </a:rPr>
              <a:t>09</a:t>
            </a:r>
          </a:p>
        </p:txBody>
      </p:sp>
      <p:sp>
        <p:nvSpPr>
          <p:cNvPr id="24" name="TextBox 23"/>
          <p:cNvSpPr txBox="1"/>
          <p:nvPr/>
        </p:nvSpPr>
        <p:spPr>
          <a:xfrm>
            <a:off x="4937759" y="2468880"/>
            <a:ext cx="3200399" cy="347472"/>
          </a:xfrm>
          <a:prstGeom prst="rect">
            <a:avLst/>
          </a:prstGeom>
          <a:noFill/>
        </p:spPr>
        <p:txBody>
          <a:bodyPr wrap="square"/>
          <a:lstStyle/>
          <a:p>
            <a:pPr algn="l">
              <a:spcBef>
                <a:spcPts val="0"/>
              </a:spcBef>
              <a:spcAft>
                <a:spcPts val="0"/>
              </a:spcAft>
            </a:pPr>
            <a:r>
              <a:rPr sz="1400" b="0">
                <a:solidFill>
                  <a:srgbClr val="111827"/>
                </a:solidFill>
                <a:latin typeface="Inter"/>
              </a:rPr>
              <a:t>Layered System Architecture</a:t>
            </a:r>
          </a:p>
        </p:txBody>
      </p:sp>
      <p:sp>
        <p:nvSpPr>
          <p:cNvPr id="25" name="Rounded Rectangle 24"/>
          <p:cNvSpPr/>
          <p:nvPr/>
        </p:nvSpPr>
        <p:spPr>
          <a:xfrm>
            <a:off x="4434839" y="2980944"/>
            <a:ext cx="411480" cy="34747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Inter"/>
              </a:rPr>
              <a:t>10</a:t>
            </a:r>
          </a:p>
        </p:txBody>
      </p:sp>
      <p:sp>
        <p:nvSpPr>
          <p:cNvPr id="26" name="TextBox 25"/>
          <p:cNvSpPr txBox="1"/>
          <p:nvPr/>
        </p:nvSpPr>
        <p:spPr>
          <a:xfrm>
            <a:off x="4937759" y="2980944"/>
            <a:ext cx="3200399" cy="347472"/>
          </a:xfrm>
          <a:prstGeom prst="rect">
            <a:avLst/>
          </a:prstGeom>
          <a:noFill/>
        </p:spPr>
        <p:txBody>
          <a:bodyPr wrap="square"/>
          <a:lstStyle/>
          <a:p>
            <a:pPr algn="l">
              <a:spcBef>
                <a:spcPts val="0"/>
              </a:spcBef>
              <a:spcAft>
                <a:spcPts val="0"/>
              </a:spcAft>
            </a:pPr>
            <a:r>
              <a:rPr sz="1400" b="0">
                <a:solidFill>
                  <a:srgbClr val="111827"/>
                </a:solidFill>
                <a:latin typeface="Inter"/>
              </a:rPr>
              <a:t>Technology Stack</a:t>
            </a:r>
          </a:p>
        </p:txBody>
      </p:sp>
      <p:sp>
        <p:nvSpPr>
          <p:cNvPr id="27" name="Rounded Rectangle 26"/>
          <p:cNvSpPr/>
          <p:nvPr/>
        </p:nvSpPr>
        <p:spPr>
          <a:xfrm>
            <a:off x="4434839" y="3493008"/>
            <a:ext cx="411480" cy="34747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Inter"/>
              </a:rPr>
              <a:t>11</a:t>
            </a:r>
          </a:p>
        </p:txBody>
      </p:sp>
      <p:sp>
        <p:nvSpPr>
          <p:cNvPr id="28" name="TextBox 27"/>
          <p:cNvSpPr txBox="1"/>
          <p:nvPr/>
        </p:nvSpPr>
        <p:spPr>
          <a:xfrm>
            <a:off x="4937759" y="3493008"/>
            <a:ext cx="3200399" cy="347472"/>
          </a:xfrm>
          <a:prstGeom prst="rect">
            <a:avLst/>
          </a:prstGeom>
          <a:noFill/>
        </p:spPr>
        <p:txBody>
          <a:bodyPr wrap="square"/>
          <a:lstStyle/>
          <a:p>
            <a:pPr algn="l">
              <a:spcBef>
                <a:spcPts val="0"/>
              </a:spcBef>
              <a:spcAft>
                <a:spcPts val="0"/>
              </a:spcAft>
            </a:pPr>
            <a:r>
              <a:rPr sz="1400" b="0">
                <a:solidFill>
                  <a:srgbClr val="111827"/>
                </a:solidFill>
                <a:latin typeface="Inter"/>
              </a:rPr>
              <a:t>Data Processing Pipeline</a:t>
            </a:r>
          </a:p>
        </p:txBody>
      </p:sp>
      <p:sp>
        <p:nvSpPr>
          <p:cNvPr id="29" name="Rounded Rectangle 28"/>
          <p:cNvSpPr/>
          <p:nvPr/>
        </p:nvSpPr>
        <p:spPr>
          <a:xfrm>
            <a:off x="4434839" y="4005072"/>
            <a:ext cx="411480" cy="34747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Inter"/>
              </a:rPr>
              <a:t>12</a:t>
            </a:r>
          </a:p>
        </p:txBody>
      </p:sp>
      <p:sp>
        <p:nvSpPr>
          <p:cNvPr id="30" name="TextBox 29"/>
          <p:cNvSpPr txBox="1"/>
          <p:nvPr/>
        </p:nvSpPr>
        <p:spPr>
          <a:xfrm>
            <a:off x="4937759" y="4005072"/>
            <a:ext cx="3200399" cy="347472"/>
          </a:xfrm>
          <a:prstGeom prst="rect">
            <a:avLst/>
          </a:prstGeom>
          <a:noFill/>
        </p:spPr>
        <p:txBody>
          <a:bodyPr wrap="square"/>
          <a:lstStyle/>
          <a:p>
            <a:pPr algn="l">
              <a:spcBef>
                <a:spcPts val="0"/>
              </a:spcBef>
              <a:spcAft>
                <a:spcPts val="0"/>
              </a:spcAft>
            </a:pPr>
            <a:r>
              <a:rPr sz="1400" b="0">
                <a:solidFill>
                  <a:srgbClr val="111827"/>
                </a:solidFill>
                <a:latin typeface="Inter"/>
              </a:rPr>
              <a:t>Scope &amp; Boundaries</a:t>
            </a:r>
          </a:p>
        </p:txBody>
      </p:sp>
      <p:sp>
        <p:nvSpPr>
          <p:cNvPr id="31" name="Rounded Rectangle 30"/>
          <p:cNvSpPr/>
          <p:nvPr/>
        </p:nvSpPr>
        <p:spPr>
          <a:xfrm>
            <a:off x="8503918" y="1444752"/>
            <a:ext cx="411480" cy="34747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Inter"/>
              </a:rPr>
              <a:t>13</a:t>
            </a:r>
          </a:p>
        </p:txBody>
      </p:sp>
      <p:sp>
        <p:nvSpPr>
          <p:cNvPr id="32" name="TextBox 31"/>
          <p:cNvSpPr txBox="1"/>
          <p:nvPr/>
        </p:nvSpPr>
        <p:spPr>
          <a:xfrm>
            <a:off x="9006838" y="1444752"/>
            <a:ext cx="3200399" cy="347472"/>
          </a:xfrm>
          <a:prstGeom prst="rect">
            <a:avLst/>
          </a:prstGeom>
          <a:noFill/>
        </p:spPr>
        <p:txBody>
          <a:bodyPr wrap="square"/>
          <a:lstStyle/>
          <a:p>
            <a:pPr algn="l">
              <a:spcBef>
                <a:spcPts val="0"/>
              </a:spcBef>
              <a:spcAft>
                <a:spcPts val="0"/>
              </a:spcAft>
            </a:pPr>
            <a:r>
              <a:rPr sz="1400" b="0">
                <a:solidFill>
                  <a:srgbClr val="111827"/>
                </a:solidFill>
                <a:latin typeface="Inter"/>
              </a:rPr>
              <a:t>17-Week Development Plan</a:t>
            </a:r>
          </a:p>
        </p:txBody>
      </p:sp>
      <p:sp>
        <p:nvSpPr>
          <p:cNvPr id="33" name="Rounded Rectangle 32"/>
          <p:cNvSpPr/>
          <p:nvPr/>
        </p:nvSpPr>
        <p:spPr>
          <a:xfrm>
            <a:off x="8503918" y="1956816"/>
            <a:ext cx="411480" cy="34747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Inter"/>
              </a:rPr>
              <a:t>14</a:t>
            </a:r>
          </a:p>
        </p:txBody>
      </p:sp>
      <p:sp>
        <p:nvSpPr>
          <p:cNvPr id="34" name="TextBox 33"/>
          <p:cNvSpPr txBox="1"/>
          <p:nvPr/>
        </p:nvSpPr>
        <p:spPr>
          <a:xfrm>
            <a:off x="9006838" y="1956816"/>
            <a:ext cx="3200399" cy="347472"/>
          </a:xfrm>
          <a:prstGeom prst="rect">
            <a:avLst/>
          </a:prstGeom>
          <a:noFill/>
        </p:spPr>
        <p:txBody>
          <a:bodyPr wrap="square"/>
          <a:lstStyle/>
          <a:p>
            <a:pPr algn="l">
              <a:spcBef>
                <a:spcPts val="0"/>
              </a:spcBef>
              <a:spcAft>
                <a:spcPts val="0"/>
              </a:spcAft>
            </a:pPr>
            <a:r>
              <a:rPr sz="1400" b="0">
                <a:solidFill>
                  <a:srgbClr val="111827"/>
                </a:solidFill>
                <a:latin typeface="Inter"/>
              </a:rPr>
              <a:t>Project Team</a:t>
            </a:r>
          </a:p>
        </p:txBody>
      </p:sp>
      <p:sp>
        <p:nvSpPr>
          <p:cNvPr id="35" name="Rounded Rectangle 34"/>
          <p:cNvSpPr/>
          <p:nvPr/>
        </p:nvSpPr>
        <p:spPr>
          <a:xfrm>
            <a:off x="8503918" y="2468880"/>
            <a:ext cx="411480" cy="34747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Inter"/>
              </a:rPr>
              <a:t>15</a:t>
            </a:r>
          </a:p>
        </p:txBody>
      </p:sp>
      <p:sp>
        <p:nvSpPr>
          <p:cNvPr id="36" name="TextBox 35"/>
          <p:cNvSpPr txBox="1"/>
          <p:nvPr/>
        </p:nvSpPr>
        <p:spPr>
          <a:xfrm>
            <a:off x="9006838" y="2468880"/>
            <a:ext cx="3200399" cy="347472"/>
          </a:xfrm>
          <a:prstGeom prst="rect">
            <a:avLst/>
          </a:prstGeom>
          <a:noFill/>
        </p:spPr>
        <p:txBody>
          <a:bodyPr wrap="square"/>
          <a:lstStyle/>
          <a:p>
            <a:pPr algn="l">
              <a:spcBef>
                <a:spcPts val="0"/>
              </a:spcBef>
              <a:spcAft>
                <a:spcPts val="0"/>
              </a:spcAft>
            </a:pPr>
            <a:r>
              <a:rPr sz="1400" b="0">
                <a:solidFill>
                  <a:srgbClr val="111827"/>
                </a:solidFill>
                <a:latin typeface="Inter"/>
              </a:rPr>
              <a:t>Expected Outcomes</a:t>
            </a:r>
          </a:p>
        </p:txBody>
      </p:sp>
      <p:sp>
        <p:nvSpPr>
          <p:cNvPr id="37" name="Rounded Rectangle 36"/>
          <p:cNvSpPr/>
          <p:nvPr/>
        </p:nvSpPr>
        <p:spPr>
          <a:xfrm>
            <a:off x="8503918" y="2980944"/>
            <a:ext cx="411480" cy="34747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Inter"/>
              </a:rPr>
              <a:t>16</a:t>
            </a:r>
          </a:p>
        </p:txBody>
      </p:sp>
      <p:sp>
        <p:nvSpPr>
          <p:cNvPr id="38" name="TextBox 37"/>
          <p:cNvSpPr txBox="1"/>
          <p:nvPr/>
        </p:nvSpPr>
        <p:spPr>
          <a:xfrm>
            <a:off x="9006838" y="2980944"/>
            <a:ext cx="3200399" cy="347472"/>
          </a:xfrm>
          <a:prstGeom prst="rect">
            <a:avLst/>
          </a:prstGeom>
          <a:noFill/>
        </p:spPr>
        <p:txBody>
          <a:bodyPr wrap="square"/>
          <a:lstStyle/>
          <a:p>
            <a:pPr algn="l">
              <a:spcBef>
                <a:spcPts val="0"/>
              </a:spcBef>
              <a:spcAft>
                <a:spcPts val="0"/>
              </a:spcAft>
            </a:pPr>
            <a:r>
              <a:rPr sz="1400" b="0">
                <a:solidFill>
                  <a:srgbClr val="111827"/>
                </a:solidFill>
                <a:latin typeface="Inter"/>
              </a:rPr>
              <a:t>Comparative Analysis</a:t>
            </a:r>
          </a:p>
        </p:txBody>
      </p:sp>
      <p:sp>
        <p:nvSpPr>
          <p:cNvPr id="39" name="Rounded Rectangle 38"/>
          <p:cNvSpPr/>
          <p:nvPr/>
        </p:nvSpPr>
        <p:spPr>
          <a:xfrm>
            <a:off x="8503918" y="3493008"/>
            <a:ext cx="411480" cy="34747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Inter"/>
              </a:rPr>
              <a:t>17</a:t>
            </a:r>
          </a:p>
        </p:txBody>
      </p:sp>
      <p:sp>
        <p:nvSpPr>
          <p:cNvPr id="40" name="TextBox 39"/>
          <p:cNvSpPr txBox="1"/>
          <p:nvPr/>
        </p:nvSpPr>
        <p:spPr>
          <a:xfrm>
            <a:off x="9006838" y="3493008"/>
            <a:ext cx="3200399" cy="347472"/>
          </a:xfrm>
          <a:prstGeom prst="rect">
            <a:avLst/>
          </a:prstGeom>
          <a:noFill/>
        </p:spPr>
        <p:txBody>
          <a:bodyPr wrap="square"/>
          <a:lstStyle/>
          <a:p>
            <a:pPr algn="l">
              <a:spcBef>
                <a:spcPts val="0"/>
              </a:spcBef>
              <a:spcAft>
                <a:spcPts val="0"/>
              </a:spcAft>
            </a:pPr>
            <a:r>
              <a:rPr sz="1400" b="0">
                <a:solidFill>
                  <a:srgbClr val="111827"/>
                </a:solidFill>
                <a:latin typeface="Inter"/>
              </a:rPr>
              <a:t>References</a:t>
            </a:r>
          </a:p>
        </p:txBody>
      </p:sp>
      <p:sp>
        <p:nvSpPr>
          <p:cNvPr id="41" name="Rounded Rectangle 40"/>
          <p:cNvSpPr/>
          <p:nvPr/>
        </p:nvSpPr>
        <p:spPr>
          <a:xfrm>
            <a:off x="8503918" y="4005072"/>
            <a:ext cx="411480" cy="34747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Inter"/>
              </a:rPr>
              <a:t>18</a:t>
            </a:r>
          </a:p>
        </p:txBody>
      </p:sp>
      <p:sp>
        <p:nvSpPr>
          <p:cNvPr id="42" name="TextBox 41"/>
          <p:cNvSpPr txBox="1"/>
          <p:nvPr/>
        </p:nvSpPr>
        <p:spPr>
          <a:xfrm>
            <a:off x="9006838" y="4005072"/>
            <a:ext cx="3200399" cy="347472"/>
          </a:xfrm>
          <a:prstGeom prst="rect">
            <a:avLst/>
          </a:prstGeom>
          <a:noFill/>
        </p:spPr>
        <p:txBody>
          <a:bodyPr wrap="square"/>
          <a:lstStyle/>
          <a:p>
            <a:pPr algn="l">
              <a:spcBef>
                <a:spcPts val="0"/>
              </a:spcBef>
              <a:spcAft>
                <a:spcPts val="0"/>
              </a:spcAft>
            </a:pPr>
            <a:r>
              <a:rPr sz="1400" b="0">
                <a:solidFill>
                  <a:srgbClr val="111827"/>
                </a:solidFill>
                <a:latin typeface="Inter"/>
              </a:rPr>
              <a:t>Conclusion</a:t>
            </a:r>
          </a:p>
        </p:txBody>
      </p:sp>
      <p:sp>
        <p:nvSpPr>
          <p:cNvPr id="43" name="Rounded Rectangle 42"/>
          <p:cNvSpPr/>
          <p:nvPr/>
        </p:nvSpPr>
        <p:spPr>
          <a:xfrm>
            <a:off x="12572997" y="1444752"/>
            <a:ext cx="411480" cy="34747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Inter"/>
              </a:rPr>
              <a:t>19</a:t>
            </a:r>
          </a:p>
        </p:txBody>
      </p:sp>
      <p:sp>
        <p:nvSpPr>
          <p:cNvPr id="44" name="TextBox 43"/>
          <p:cNvSpPr txBox="1"/>
          <p:nvPr/>
        </p:nvSpPr>
        <p:spPr>
          <a:xfrm>
            <a:off x="13075917" y="1444752"/>
            <a:ext cx="3200399" cy="347472"/>
          </a:xfrm>
          <a:prstGeom prst="rect">
            <a:avLst/>
          </a:prstGeom>
          <a:noFill/>
        </p:spPr>
        <p:txBody>
          <a:bodyPr wrap="square"/>
          <a:lstStyle/>
          <a:p>
            <a:pPr algn="l">
              <a:spcBef>
                <a:spcPts val="0"/>
              </a:spcBef>
              <a:spcAft>
                <a:spcPts val="0"/>
              </a:spcAft>
            </a:pPr>
            <a:r>
              <a:rPr sz="1400" b="0">
                <a:solidFill>
                  <a:srgbClr val="111827"/>
                </a:solidFill>
                <a:latin typeface="Inter"/>
              </a:rPr>
              <a:t>Q&amp;A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AFB"/>
        </a:solidFill>
        <a:effectLst/>
      </p:bgPr>
    </p:bg>
    <p:spTree>
      <p:nvGrpSpPr>
        <p:cNvPr id="1" name=""/>
        <p:cNvGrpSpPr/>
        <p:nvPr/>
      </p:nvGrpSpPr>
      <p:grpSpPr/>
      <p:sp>
        <p:nvSpPr>
          <p:cNvPr id="2" name="Rounded Rectangle 1"/>
          <p:cNvSpPr/>
          <p:nvPr/>
        </p:nvSpPr>
        <p:spPr>
          <a:xfrm>
            <a:off x="0" y="0"/>
            <a:ext cx="12191695" cy="10515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515600" cy="548640"/>
          </a:xfrm>
          <a:prstGeom prst="rect">
            <a:avLst/>
          </a:prstGeom>
          <a:noFill/>
        </p:spPr>
        <p:txBody>
          <a:bodyPr wrap="square"/>
          <a:lstStyle/>
          <a:p>
            <a:pPr algn="l">
              <a:spcBef>
                <a:spcPts val="0"/>
              </a:spcBef>
              <a:spcAft>
                <a:spcPts val="0"/>
              </a:spcAft>
            </a:pPr>
            <a:r>
              <a:rPr sz="3000" b="1">
                <a:solidFill>
                  <a:srgbClr val="FFFFFF"/>
                </a:solidFill>
                <a:latin typeface="Space Grotesk"/>
              </a:rPr>
              <a:t>The Retail Inventory Challenge</a:t>
            </a:r>
          </a:p>
        </p:txBody>
      </p:sp>
      <p:pic>
        <p:nvPicPr>
          <p:cNvPr id="4" name="Picture 3" descr="443732266_1006349624830063_6095867571651137613_n-removebg-preview.png"/>
          <p:cNvPicPr>
            <a:picLocks noChangeAspect="1"/>
          </p:cNvPicPr>
          <p:nvPr/>
        </p:nvPicPr>
        <p:blipFill>
          <a:blip r:embed="rId2"/>
          <a:stretch>
            <a:fillRect/>
          </a:stretch>
        </p:blipFill>
        <p:spPr>
          <a:xfrm>
            <a:off x="11094415" y="137160"/>
            <a:ext cx="868680" cy="868680"/>
          </a:xfrm>
          <a:prstGeom prst="rect">
            <a:avLst/>
          </a:prstGeom>
        </p:spPr>
      </p:pic>
      <p:sp>
        <p:nvSpPr>
          <p:cNvPr id="5" name="Rounded Rectangle 4"/>
          <p:cNvSpPr/>
          <p:nvPr/>
        </p:nvSpPr>
        <p:spPr>
          <a:xfrm>
            <a:off x="0" y="6675120"/>
            <a:ext cx="12191695" cy="18288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0" y="6446520"/>
            <a:ext cx="822960" cy="274320"/>
          </a:xfrm>
          <a:prstGeom prst="rect">
            <a:avLst/>
          </a:prstGeom>
          <a:noFill/>
        </p:spPr>
        <p:txBody>
          <a:bodyPr wrap="square"/>
          <a:lstStyle/>
          <a:p>
            <a:pPr algn="r">
              <a:spcBef>
                <a:spcPts val="0"/>
              </a:spcBef>
              <a:spcAft>
                <a:spcPts val="0"/>
              </a:spcAft>
            </a:pPr>
            <a:r>
              <a:rPr sz="1000" b="0">
                <a:solidFill>
                  <a:srgbClr val="9CA3AF"/>
                </a:solidFill>
                <a:latin typeface="Inter"/>
              </a:rPr>
              <a:t>3 / 21</a:t>
            </a:r>
          </a:p>
        </p:txBody>
      </p:sp>
      <p:sp>
        <p:nvSpPr>
          <p:cNvPr id="7" name="Rounded Rectangle 6"/>
          <p:cNvSpPr/>
          <p:nvPr/>
        </p:nvSpPr>
        <p:spPr>
          <a:xfrm>
            <a:off x="548640" y="1417320"/>
            <a:ext cx="3474720" cy="132588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1417320"/>
            <a:ext cx="3474720" cy="508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581912"/>
            <a:ext cx="3108960" cy="320040"/>
          </a:xfrm>
          <a:prstGeom prst="rect">
            <a:avLst/>
          </a:prstGeom>
          <a:noFill/>
        </p:spPr>
        <p:txBody>
          <a:bodyPr wrap="square"/>
          <a:lstStyle/>
          <a:p>
            <a:pPr algn="l">
              <a:spcBef>
                <a:spcPts val="0"/>
              </a:spcBef>
              <a:spcAft>
                <a:spcPts val="0"/>
              </a:spcAft>
            </a:pPr>
            <a:r>
              <a:rPr sz="1500" b="1">
                <a:solidFill>
                  <a:srgbClr val="2563EB"/>
                </a:solidFill>
                <a:latin typeface="Space Grotesk"/>
              </a:rPr>
              <a:t>Different Demand Patterns</a:t>
            </a:r>
          </a:p>
        </p:txBody>
      </p:sp>
      <p:sp>
        <p:nvSpPr>
          <p:cNvPr id="10" name="TextBox 9"/>
          <p:cNvSpPr txBox="1"/>
          <p:nvPr/>
        </p:nvSpPr>
        <p:spPr>
          <a:xfrm>
            <a:off x="731520" y="1920240"/>
            <a:ext cx="3108960" cy="731520"/>
          </a:xfrm>
          <a:prstGeom prst="rect">
            <a:avLst/>
          </a:prstGeom>
          <a:noFill/>
        </p:spPr>
        <p:txBody>
          <a:bodyPr wrap="square"/>
          <a:lstStyle/>
          <a:p>
            <a:pPr algn="l">
              <a:spcBef>
                <a:spcPts val="0"/>
              </a:spcBef>
              <a:spcAft>
                <a:spcPts val="0"/>
              </a:spcAft>
            </a:pPr>
            <a:r>
              <a:rPr sz="1300" b="0">
                <a:solidFill>
                  <a:srgbClr val="9CA3AF"/>
                </a:solidFill>
                <a:latin typeface="Inter"/>
              </a:rPr>
              <a:t>Each outlet has unique demand behavior</a:t>
            </a:r>
          </a:p>
        </p:txBody>
      </p:sp>
      <p:sp>
        <p:nvSpPr>
          <p:cNvPr id="11" name="Rounded Rectangle 10"/>
          <p:cNvSpPr/>
          <p:nvPr/>
        </p:nvSpPr>
        <p:spPr>
          <a:xfrm>
            <a:off x="4251960" y="1417320"/>
            <a:ext cx="3474720" cy="132588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251960" y="1417320"/>
            <a:ext cx="3474720" cy="508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34840" y="1581912"/>
            <a:ext cx="3108960" cy="320040"/>
          </a:xfrm>
          <a:prstGeom prst="rect">
            <a:avLst/>
          </a:prstGeom>
          <a:noFill/>
        </p:spPr>
        <p:txBody>
          <a:bodyPr wrap="square"/>
          <a:lstStyle/>
          <a:p>
            <a:pPr algn="l">
              <a:spcBef>
                <a:spcPts val="0"/>
              </a:spcBef>
              <a:spcAft>
                <a:spcPts val="0"/>
              </a:spcAft>
            </a:pPr>
            <a:r>
              <a:rPr sz="1500" b="1">
                <a:solidFill>
                  <a:srgbClr val="2563EB"/>
                </a:solidFill>
                <a:latin typeface="Space Grotesk"/>
              </a:rPr>
              <a:t>Manual Forecasting</a:t>
            </a:r>
          </a:p>
        </p:txBody>
      </p:sp>
      <p:sp>
        <p:nvSpPr>
          <p:cNvPr id="14" name="TextBox 13"/>
          <p:cNvSpPr txBox="1"/>
          <p:nvPr/>
        </p:nvSpPr>
        <p:spPr>
          <a:xfrm>
            <a:off x="4434840" y="1920240"/>
            <a:ext cx="3108960" cy="731520"/>
          </a:xfrm>
          <a:prstGeom prst="rect">
            <a:avLst/>
          </a:prstGeom>
          <a:noFill/>
        </p:spPr>
        <p:txBody>
          <a:bodyPr wrap="square"/>
          <a:lstStyle/>
          <a:p>
            <a:pPr algn="l">
              <a:spcBef>
                <a:spcPts val="0"/>
              </a:spcBef>
              <a:spcAft>
                <a:spcPts val="0"/>
              </a:spcAft>
            </a:pPr>
            <a:r>
              <a:rPr sz="1300" b="0">
                <a:solidFill>
                  <a:srgbClr val="9CA3AF"/>
                </a:solidFill>
                <a:latin typeface="Inter"/>
              </a:rPr>
              <a:t>Relies on spreadsheets and averages</a:t>
            </a:r>
          </a:p>
        </p:txBody>
      </p:sp>
      <p:sp>
        <p:nvSpPr>
          <p:cNvPr id="15" name="Rounded Rectangle 14"/>
          <p:cNvSpPr/>
          <p:nvPr/>
        </p:nvSpPr>
        <p:spPr>
          <a:xfrm>
            <a:off x="7955280" y="1417320"/>
            <a:ext cx="3474720" cy="132588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955280" y="1417320"/>
            <a:ext cx="3474720" cy="508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38160" y="1581912"/>
            <a:ext cx="3108960" cy="320040"/>
          </a:xfrm>
          <a:prstGeom prst="rect">
            <a:avLst/>
          </a:prstGeom>
          <a:noFill/>
        </p:spPr>
        <p:txBody>
          <a:bodyPr wrap="square"/>
          <a:lstStyle/>
          <a:p>
            <a:pPr algn="l">
              <a:spcBef>
                <a:spcPts val="0"/>
              </a:spcBef>
              <a:spcAft>
                <a:spcPts val="0"/>
              </a:spcAft>
            </a:pPr>
            <a:r>
              <a:rPr sz="1500" b="1">
                <a:solidFill>
                  <a:srgbClr val="2563EB"/>
                </a:solidFill>
                <a:latin typeface="Space Grotesk"/>
              </a:rPr>
              <a:t>Stockout Risk</a:t>
            </a:r>
          </a:p>
        </p:txBody>
      </p:sp>
      <p:sp>
        <p:nvSpPr>
          <p:cNvPr id="18" name="TextBox 17"/>
          <p:cNvSpPr txBox="1"/>
          <p:nvPr/>
        </p:nvSpPr>
        <p:spPr>
          <a:xfrm>
            <a:off x="8138160" y="1920240"/>
            <a:ext cx="3108960" cy="731520"/>
          </a:xfrm>
          <a:prstGeom prst="rect">
            <a:avLst/>
          </a:prstGeom>
          <a:noFill/>
        </p:spPr>
        <p:txBody>
          <a:bodyPr wrap="square"/>
          <a:lstStyle/>
          <a:p>
            <a:pPr algn="l">
              <a:spcBef>
                <a:spcPts val="0"/>
              </a:spcBef>
              <a:spcAft>
                <a:spcPts val="0"/>
              </a:spcAft>
            </a:pPr>
            <a:r>
              <a:rPr sz="1300" b="0">
                <a:solidFill>
                  <a:srgbClr val="9CA3AF"/>
                </a:solidFill>
                <a:latin typeface="Inter"/>
              </a:rPr>
              <a:t>Lost sales and customer dissatisfaction</a:t>
            </a:r>
          </a:p>
        </p:txBody>
      </p:sp>
      <p:sp>
        <p:nvSpPr>
          <p:cNvPr id="19" name="Rounded Rectangle 18"/>
          <p:cNvSpPr/>
          <p:nvPr/>
        </p:nvSpPr>
        <p:spPr>
          <a:xfrm>
            <a:off x="548640" y="2926080"/>
            <a:ext cx="3474720" cy="132588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48640" y="2926080"/>
            <a:ext cx="3474720" cy="5080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090672"/>
            <a:ext cx="3108960" cy="320040"/>
          </a:xfrm>
          <a:prstGeom prst="rect">
            <a:avLst/>
          </a:prstGeom>
          <a:noFill/>
        </p:spPr>
        <p:txBody>
          <a:bodyPr wrap="square"/>
          <a:lstStyle/>
          <a:p>
            <a:pPr algn="l">
              <a:spcBef>
                <a:spcPts val="0"/>
              </a:spcBef>
              <a:spcAft>
                <a:spcPts val="0"/>
              </a:spcAft>
            </a:pPr>
            <a:r>
              <a:rPr sz="1500" b="1">
                <a:solidFill>
                  <a:srgbClr val="2563EB"/>
                </a:solidFill>
                <a:latin typeface="Space Grotesk"/>
              </a:rPr>
              <a:t>Overstock Costs</a:t>
            </a:r>
          </a:p>
        </p:txBody>
      </p:sp>
      <p:sp>
        <p:nvSpPr>
          <p:cNvPr id="22" name="TextBox 21"/>
          <p:cNvSpPr txBox="1"/>
          <p:nvPr/>
        </p:nvSpPr>
        <p:spPr>
          <a:xfrm>
            <a:off x="731520" y="3429000"/>
            <a:ext cx="3108960" cy="731520"/>
          </a:xfrm>
          <a:prstGeom prst="rect">
            <a:avLst/>
          </a:prstGeom>
          <a:noFill/>
        </p:spPr>
        <p:txBody>
          <a:bodyPr wrap="square"/>
          <a:lstStyle/>
          <a:p>
            <a:pPr algn="l">
              <a:spcBef>
                <a:spcPts val="0"/>
              </a:spcBef>
              <a:spcAft>
                <a:spcPts val="0"/>
              </a:spcAft>
            </a:pPr>
            <a:r>
              <a:rPr sz="1300" b="0">
                <a:solidFill>
                  <a:srgbClr val="9CA3AF"/>
                </a:solidFill>
                <a:latin typeface="Inter"/>
              </a:rPr>
              <a:t>Holding costs and tied-up capital</a:t>
            </a:r>
          </a:p>
        </p:txBody>
      </p:sp>
      <p:sp>
        <p:nvSpPr>
          <p:cNvPr id="23" name="Rounded Rectangle 22"/>
          <p:cNvSpPr/>
          <p:nvPr/>
        </p:nvSpPr>
        <p:spPr>
          <a:xfrm>
            <a:off x="4251960" y="2926080"/>
            <a:ext cx="3474720" cy="132588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251960" y="2926080"/>
            <a:ext cx="3474720" cy="5080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34840" y="3090672"/>
            <a:ext cx="3108960" cy="320040"/>
          </a:xfrm>
          <a:prstGeom prst="rect">
            <a:avLst/>
          </a:prstGeom>
          <a:noFill/>
        </p:spPr>
        <p:txBody>
          <a:bodyPr wrap="square"/>
          <a:lstStyle/>
          <a:p>
            <a:pPr algn="l">
              <a:spcBef>
                <a:spcPts val="0"/>
              </a:spcBef>
              <a:spcAft>
                <a:spcPts val="0"/>
              </a:spcAft>
            </a:pPr>
            <a:r>
              <a:rPr sz="1500" b="1">
                <a:solidFill>
                  <a:srgbClr val="2563EB"/>
                </a:solidFill>
                <a:latin typeface="Space Grotesk"/>
              </a:rPr>
              <a:t>Seasonal Variability</a:t>
            </a:r>
          </a:p>
        </p:txBody>
      </p:sp>
      <p:sp>
        <p:nvSpPr>
          <p:cNvPr id="26" name="TextBox 25"/>
          <p:cNvSpPr txBox="1"/>
          <p:nvPr/>
        </p:nvSpPr>
        <p:spPr>
          <a:xfrm>
            <a:off x="4434840" y="3429000"/>
            <a:ext cx="3108960" cy="731520"/>
          </a:xfrm>
          <a:prstGeom prst="rect">
            <a:avLst/>
          </a:prstGeom>
          <a:noFill/>
        </p:spPr>
        <p:txBody>
          <a:bodyPr wrap="square"/>
          <a:lstStyle/>
          <a:p>
            <a:pPr algn="l">
              <a:spcBef>
                <a:spcPts val="0"/>
              </a:spcBef>
              <a:spcAft>
                <a:spcPts val="0"/>
              </a:spcAft>
            </a:pPr>
            <a:r>
              <a:rPr sz="1300" b="0">
                <a:solidFill>
                  <a:srgbClr val="9CA3AF"/>
                </a:solidFill>
                <a:latin typeface="Inter"/>
              </a:rPr>
              <a:t>Changing demand complicates planning</a:t>
            </a:r>
          </a:p>
        </p:txBody>
      </p:sp>
      <p:sp>
        <p:nvSpPr>
          <p:cNvPr id="27" name="Rounded Rectangle 26"/>
          <p:cNvSpPr/>
          <p:nvPr/>
        </p:nvSpPr>
        <p:spPr>
          <a:xfrm>
            <a:off x="7955280" y="2926080"/>
            <a:ext cx="3474720" cy="132588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955280" y="2926080"/>
            <a:ext cx="3474720" cy="5080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138160" y="3090672"/>
            <a:ext cx="3108960" cy="320040"/>
          </a:xfrm>
          <a:prstGeom prst="rect">
            <a:avLst/>
          </a:prstGeom>
          <a:noFill/>
        </p:spPr>
        <p:txBody>
          <a:bodyPr wrap="square"/>
          <a:lstStyle/>
          <a:p>
            <a:pPr algn="l">
              <a:spcBef>
                <a:spcPts val="0"/>
              </a:spcBef>
              <a:spcAft>
                <a:spcPts val="0"/>
              </a:spcAft>
            </a:pPr>
            <a:r>
              <a:rPr sz="1500" b="1">
                <a:solidFill>
                  <a:srgbClr val="2563EB"/>
                </a:solidFill>
                <a:latin typeface="Space Grotesk"/>
              </a:rPr>
              <a:t>Need for Actionable Insights</a:t>
            </a:r>
          </a:p>
        </p:txBody>
      </p:sp>
      <p:sp>
        <p:nvSpPr>
          <p:cNvPr id="30" name="TextBox 29"/>
          <p:cNvSpPr txBox="1"/>
          <p:nvPr/>
        </p:nvSpPr>
        <p:spPr>
          <a:xfrm>
            <a:off x="8138160" y="3429000"/>
            <a:ext cx="3108960" cy="731520"/>
          </a:xfrm>
          <a:prstGeom prst="rect">
            <a:avLst/>
          </a:prstGeom>
          <a:noFill/>
        </p:spPr>
        <p:txBody>
          <a:bodyPr wrap="square"/>
          <a:lstStyle/>
          <a:p>
            <a:pPr algn="l">
              <a:spcBef>
                <a:spcPts val="0"/>
              </a:spcBef>
              <a:spcAft>
                <a:spcPts val="0"/>
              </a:spcAft>
            </a:pPr>
            <a:r>
              <a:rPr sz="1300" b="0">
                <a:solidFill>
                  <a:srgbClr val="9CA3AF"/>
                </a:solidFill>
                <a:latin typeface="Inter"/>
              </a:rPr>
              <a:t>Managers need decisions, not reports</a:t>
            </a:r>
          </a:p>
        </p:txBody>
      </p:sp>
      <p:sp>
        <p:nvSpPr>
          <p:cNvPr id="31" name="Rounded Rectangle 30"/>
          <p:cNvSpPr/>
          <p:nvPr/>
        </p:nvSpPr>
        <p:spPr>
          <a:xfrm>
            <a:off x="2286000" y="4937760"/>
            <a:ext cx="2011680" cy="640080"/>
          </a:xfrm>
          <a:prstGeom prst="round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Inter"/>
              </a:rPr>
              <a:t>Stockouts</a:t>
            </a:r>
          </a:p>
        </p:txBody>
      </p:sp>
      <p:sp>
        <p:nvSpPr>
          <p:cNvPr id="32" name="Rounded Rectangle 31"/>
          <p:cNvSpPr/>
          <p:nvPr/>
        </p:nvSpPr>
        <p:spPr>
          <a:xfrm>
            <a:off x="5486400" y="4937760"/>
            <a:ext cx="2011680" cy="64008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Inter"/>
              </a:rPr>
              <a:t>Poor Forecasting</a:t>
            </a:r>
          </a:p>
        </p:txBody>
      </p:sp>
      <p:sp>
        <p:nvSpPr>
          <p:cNvPr id="33" name="Rounded Rectangle 32"/>
          <p:cNvSpPr/>
          <p:nvPr/>
        </p:nvSpPr>
        <p:spPr>
          <a:xfrm>
            <a:off x="8686800" y="4937760"/>
            <a:ext cx="2011680" cy="64008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Inter"/>
              </a:rPr>
              <a:t>Overstock</a:t>
            </a:r>
          </a:p>
        </p:txBody>
      </p:sp>
      <p:sp>
        <p:nvSpPr>
          <p:cNvPr id="34" name="TextBox 33"/>
          <p:cNvSpPr txBox="1"/>
          <p:nvPr/>
        </p:nvSpPr>
        <p:spPr>
          <a:xfrm>
            <a:off x="4160520" y="5074920"/>
            <a:ext cx="1097280" cy="365760"/>
          </a:xfrm>
          <a:prstGeom prst="rect">
            <a:avLst/>
          </a:prstGeom>
          <a:noFill/>
        </p:spPr>
        <p:txBody>
          <a:bodyPr wrap="square"/>
          <a:lstStyle/>
          <a:p>
            <a:pPr algn="ctr">
              <a:spcBef>
                <a:spcPts val="0"/>
              </a:spcBef>
              <a:spcAft>
                <a:spcPts val="0"/>
              </a:spcAft>
            </a:pPr>
            <a:r>
              <a:rPr sz="2000" b="1">
                <a:solidFill>
                  <a:srgbClr val="9CA3AF"/>
                </a:solidFill>
                <a:latin typeface="Inter"/>
              </a:rPr>
              <a:t>←→</a:t>
            </a:r>
          </a:p>
        </p:txBody>
      </p:sp>
      <p:sp>
        <p:nvSpPr>
          <p:cNvPr id="35" name="TextBox 34"/>
          <p:cNvSpPr txBox="1"/>
          <p:nvPr/>
        </p:nvSpPr>
        <p:spPr>
          <a:xfrm>
            <a:off x="7360920" y="5074920"/>
            <a:ext cx="1097280" cy="365760"/>
          </a:xfrm>
          <a:prstGeom prst="rect">
            <a:avLst/>
          </a:prstGeom>
          <a:noFill/>
        </p:spPr>
        <p:txBody>
          <a:bodyPr wrap="square"/>
          <a:lstStyle/>
          <a:p>
            <a:pPr algn="ctr">
              <a:spcBef>
                <a:spcPts val="0"/>
              </a:spcBef>
              <a:spcAft>
                <a:spcPts val="0"/>
              </a:spcAft>
            </a:pPr>
            <a:r>
              <a:rPr sz="2000" b="1">
                <a:solidFill>
                  <a:srgbClr val="9CA3AF"/>
                </a:solidFill>
                <a:latin typeface="Inter"/>
              </a:rP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AFB"/>
        </a:solidFill>
        <a:effectLst/>
      </p:bgPr>
    </p:bg>
    <p:spTree>
      <p:nvGrpSpPr>
        <p:cNvPr id="1" name=""/>
        <p:cNvGrpSpPr/>
        <p:nvPr/>
      </p:nvGrpSpPr>
      <p:grpSpPr/>
      <p:sp>
        <p:nvSpPr>
          <p:cNvPr id="2" name="Rounded Rectangle 1"/>
          <p:cNvSpPr/>
          <p:nvPr/>
        </p:nvSpPr>
        <p:spPr>
          <a:xfrm>
            <a:off x="0" y="0"/>
            <a:ext cx="12191695" cy="10515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515600" cy="548640"/>
          </a:xfrm>
          <a:prstGeom prst="rect">
            <a:avLst/>
          </a:prstGeom>
          <a:noFill/>
        </p:spPr>
        <p:txBody>
          <a:bodyPr wrap="square"/>
          <a:lstStyle/>
          <a:p>
            <a:pPr algn="l">
              <a:spcBef>
                <a:spcPts val="0"/>
              </a:spcBef>
              <a:spcAft>
                <a:spcPts val="0"/>
              </a:spcAft>
            </a:pPr>
            <a:r>
              <a:rPr sz="3000" b="1">
                <a:solidFill>
                  <a:srgbClr val="FFFFFF"/>
                </a:solidFill>
                <a:latin typeface="Space Grotesk"/>
              </a:rPr>
              <a:t>Problem Statement</a:t>
            </a:r>
          </a:p>
        </p:txBody>
      </p:sp>
      <p:pic>
        <p:nvPicPr>
          <p:cNvPr id="4" name="Picture 3" descr="443732266_1006349624830063_6095867571651137613_n-removebg-preview.png"/>
          <p:cNvPicPr>
            <a:picLocks noChangeAspect="1"/>
          </p:cNvPicPr>
          <p:nvPr/>
        </p:nvPicPr>
        <p:blipFill>
          <a:blip r:embed="rId2"/>
          <a:stretch>
            <a:fillRect/>
          </a:stretch>
        </p:blipFill>
        <p:spPr>
          <a:xfrm>
            <a:off x="11094415" y="137160"/>
            <a:ext cx="868680" cy="868680"/>
          </a:xfrm>
          <a:prstGeom prst="rect">
            <a:avLst/>
          </a:prstGeom>
        </p:spPr>
      </p:pic>
      <p:sp>
        <p:nvSpPr>
          <p:cNvPr id="5" name="Rounded Rectangle 4"/>
          <p:cNvSpPr/>
          <p:nvPr/>
        </p:nvSpPr>
        <p:spPr>
          <a:xfrm>
            <a:off x="0" y="6675120"/>
            <a:ext cx="12191695" cy="18288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0" y="6446520"/>
            <a:ext cx="822960" cy="274320"/>
          </a:xfrm>
          <a:prstGeom prst="rect">
            <a:avLst/>
          </a:prstGeom>
          <a:noFill/>
        </p:spPr>
        <p:txBody>
          <a:bodyPr wrap="square"/>
          <a:lstStyle/>
          <a:p>
            <a:pPr algn="r">
              <a:spcBef>
                <a:spcPts val="0"/>
              </a:spcBef>
              <a:spcAft>
                <a:spcPts val="0"/>
              </a:spcAft>
            </a:pPr>
            <a:r>
              <a:rPr sz="1000" b="0">
                <a:solidFill>
                  <a:srgbClr val="9CA3AF"/>
                </a:solidFill>
                <a:latin typeface="Inter"/>
              </a:rPr>
              <a:t>4 / 21</a:t>
            </a:r>
          </a:p>
        </p:txBody>
      </p:sp>
      <p:sp>
        <p:nvSpPr>
          <p:cNvPr id="7" name="Rounded Rectangle 6"/>
          <p:cNvSpPr/>
          <p:nvPr/>
        </p:nvSpPr>
        <p:spPr>
          <a:xfrm>
            <a:off x="548640" y="1417320"/>
            <a:ext cx="5303520" cy="420624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527048"/>
            <a:ext cx="5029200" cy="365760"/>
          </a:xfrm>
          <a:prstGeom prst="rect">
            <a:avLst/>
          </a:prstGeom>
          <a:noFill/>
        </p:spPr>
        <p:txBody>
          <a:bodyPr wrap="square"/>
          <a:lstStyle/>
          <a:p>
            <a:pPr algn="l">
              <a:spcBef>
                <a:spcPts val="0"/>
              </a:spcBef>
              <a:spcAft>
                <a:spcPts val="0"/>
              </a:spcAft>
            </a:pPr>
            <a:r>
              <a:rPr sz="1500" b="1">
                <a:solidFill>
                  <a:srgbClr val="2563EB"/>
                </a:solidFill>
                <a:latin typeface="Space Grotesk"/>
              </a:rPr>
              <a:t>  Existing manual and basic inventory practices may not adequately account for:</a:t>
            </a:r>
          </a:p>
        </p:txBody>
      </p:sp>
      <p:sp>
        <p:nvSpPr>
          <p:cNvPr id="9" name="TextBox 8"/>
          <p:cNvSpPr txBox="1"/>
          <p:nvPr/>
        </p:nvSpPr>
        <p:spPr>
          <a:xfrm>
            <a:off x="685800" y="1828800"/>
            <a:ext cx="5029200" cy="3703320"/>
          </a:xfrm>
          <a:prstGeom prst="rect">
            <a:avLst/>
          </a:prstGeom>
          <a:noFill/>
        </p:spPr>
        <p:txBody>
          <a:bodyPr wrap="square"/>
          <a:lstStyle/>
          <a:p>
            <a:pPr algn="l">
              <a:spcAft>
                <a:spcPts val="400"/>
              </a:spcAft>
            </a:pPr>
            <a:r>
              <a:rPr sz="1500" b="0">
                <a:solidFill>
                  <a:srgbClr val="111827"/>
                </a:solidFill>
                <a:latin typeface="Inter"/>
              </a:rPr>
              <a:t>    Product-specific demand patterns</a:t>
            </a:r>
          </a:p>
          <a:p>
            <a:pPr algn="l">
              <a:spcAft>
                <a:spcPts val="400"/>
              </a:spcAft>
            </a:pPr>
            <a:r>
              <a:rPr sz="1500" b="0">
                <a:solidFill>
                  <a:srgbClr val="111827"/>
                </a:solidFill>
                <a:latin typeface="Inter"/>
              </a:rPr>
              <a:t>    Outlet-specific demand differences</a:t>
            </a:r>
          </a:p>
          <a:p>
            <a:pPr algn="l">
              <a:spcAft>
                <a:spcPts val="400"/>
              </a:spcAft>
            </a:pPr>
            <a:r>
              <a:rPr sz="1500" b="0">
                <a:solidFill>
                  <a:srgbClr val="111827"/>
                </a:solidFill>
                <a:latin typeface="Inter"/>
              </a:rPr>
              <a:t>    Trends and seasonality</a:t>
            </a:r>
          </a:p>
          <a:p>
            <a:pPr algn="l">
              <a:spcAft>
                <a:spcPts val="400"/>
              </a:spcAft>
            </a:pPr>
            <a:r>
              <a:rPr sz="1500" b="0">
                <a:solidFill>
                  <a:srgbClr val="111827"/>
                </a:solidFill>
                <a:latin typeface="Inter"/>
              </a:rPr>
              <a:t>    Future stockout risks</a:t>
            </a:r>
          </a:p>
          <a:p>
            <a:pPr algn="l">
              <a:spcAft>
                <a:spcPts val="400"/>
              </a:spcAft>
            </a:pPr>
            <a:r>
              <a:rPr sz="1500" b="0">
                <a:solidFill>
                  <a:srgbClr val="111827"/>
                </a:solidFill>
                <a:latin typeface="Inter"/>
              </a:rPr>
              <a:t>    Overstock conditions</a:t>
            </a:r>
          </a:p>
          <a:p>
            <a:pPr algn="l">
              <a:spcAft>
                <a:spcPts val="400"/>
              </a:spcAft>
            </a:pPr>
            <a:r>
              <a:rPr sz="1500" b="0">
                <a:solidFill>
                  <a:srgbClr val="111827"/>
                </a:solidFill>
                <a:latin typeface="Inter"/>
              </a:rPr>
              <a:t>    Replenishment requirements</a:t>
            </a:r>
          </a:p>
          <a:p>
            <a:pPr algn="l">
              <a:spcAft>
                <a:spcPts val="400"/>
              </a:spcAft>
            </a:pPr>
            <a:r>
              <a:rPr sz="1500" b="0">
                <a:solidFill>
                  <a:srgbClr val="111827"/>
                </a:solidFill>
                <a:latin typeface="Inter"/>
              </a:rPr>
              <a:t>    Opportunities to redistribute inventory</a:t>
            </a:r>
          </a:p>
        </p:txBody>
      </p:sp>
      <p:sp>
        <p:nvSpPr>
          <p:cNvPr id="10" name="Rounded Rectangle 9"/>
          <p:cNvSpPr/>
          <p:nvPr/>
        </p:nvSpPr>
        <p:spPr>
          <a:xfrm>
            <a:off x="6309360" y="1417320"/>
            <a:ext cx="5303520" cy="4206240"/>
          </a:xfrm>
          <a:prstGeom prst="roundRect">
            <a:avLst/>
          </a:prstGeom>
          <a:solidFill>
            <a:srgbClr val="EFF6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645920"/>
            <a:ext cx="4937760" cy="365760"/>
          </a:xfrm>
          <a:prstGeom prst="rect">
            <a:avLst/>
          </a:prstGeom>
          <a:noFill/>
        </p:spPr>
        <p:txBody>
          <a:bodyPr wrap="square"/>
          <a:lstStyle/>
          <a:p>
            <a:pPr algn="l">
              <a:spcBef>
                <a:spcPts val="0"/>
              </a:spcBef>
              <a:spcAft>
                <a:spcPts val="0"/>
              </a:spcAft>
            </a:pPr>
            <a:r>
              <a:rPr sz="1300" b="1">
                <a:solidFill>
                  <a:srgbClr val="2563EB"/>
                </a:solidFill>
                <a:latin typeface="Space Grotesk"/>
              </a:rPr>
              <a:t>CORE PROBLEM</a:t>
            </a:r>
          </a:p>
        </p:txBody>
      </p:sp>
      <p:sp>
        <p:nvSpPr>
          <p:cNvPr id="12" name="Rounded Rectangle 11"/>
          <p:cNvSpPr/>
          <p:nvPr/>
        </p:nvSpPr>
        <p:spPr>
          <a:xfrm>
            <a:off x="6492240" y="2057400"/>
            <a:ext cx="2286000" cy="2540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2286000"/>
            <a:ext cx="4937760" cy="2926080"/>
          </a:xfrm>
          <a:prstGeom prst="rect">
            <a:avLst/>
          </a:prstGeom>
          <a:noFill/>
        </p:spPr>
        <p:txBody>
          <a:bodyPr wrap="square"/>
          <a:lstStyle/>
          <a:p>
            <a:pPr algn="l">
              <a:spcAft>
                <a:spcPts val="1600"/>
              </a:spcAft>
            </a:pPr>
            <a:r>
              <a:rPr sz="1700" b="1">
                <a:solidFill>
                  <a:srgbClr val="111827"/>
                </a:solidFill>
                <a:latin typeface="Inter"/>
              </a:rPr>
              <a:t>How can historical sales and inventory data be transformed into reliable demand forecasts and actionable inventory decisions for multiple retail outlets?</a:t>
            </a:r>
          </a:p>
          <a:p>
            <a:pPr algn="l">
              <a:spcAft>
                <a:spcPts val="800"/>
              </a:spcAft>
            </a:pPr>
            <a:r>
              <a:rPr sz="800" b="0">
                <a:solidFill>
                  <a:srgbClr val="111827"/>
                </a:solidFill>
                <a:latin typeface="Inter"/>
              </a:rPr>
              <a:t/>
            </a:r>
          </a:p>
          <a:p>
            <a:pPr algn="l">
              <a:spcAft>
                <a:spcPts val="800"/>
              </a:spcAft>
            </a:pPr>
            <a:r>
              <a:rPr sz="1400" b="0">
                <a:solidFill>
                  <a:srgbClr val="9CA3AF"/>
                </a:solidFill>
                <a:latin typeface="Inter"/>
              </a:rPr>
              <a:t>The core challenge is not simply inventory tracking. It is the lack of an integrated decision-support process that connects:</a:t>
            </a:r>
          </a:p>
          <a:p>
            <a:pPr algn="l">
              <a:spcAft>
                <a:spcPts val="800"/>
              </a:spcAft>
            </a:pPr>
            <a:r>
              <a:rPr sz="1400" b="1">
                <a:solidFill>
                  <a:srgbClr val="2563EB"/>
                </a:solidFill>
                <a:latin typeface="Inter"/>
              </a:rPr>
              <a:t>    Historical Data → Forecasting → Optimization → Risk Detection → Recommendations</a:t>
            </a:r>
          </a:p>
          <a:p>
            <a:pPr algn="l">
              <a:spcAft>
                <a:spcPts val="400"/>
              </a:spcAft>
            </a:pPr>
            <a:r>
              <a:rPr sz="800" b="0">
                <a:solidFill>
                  <a:srgbClr val="111827"/>
                </a:solidFill>
                <a:latin typeface="Inter"/>
              </a:rPr>
              <a:t/>
            </a:r>
          </a:p>
          <a:p>
            <a:pPr algn="l">
              <a:spcAft>
                <a:spcPts val="0"/>
              </a:spcAft>
            </a:pPr>
            <a:r>
              <a:rPr sz="1400" b="0">
                <a:solidFill>
                  <a:srgbClr val="9CA3AF"/>
                </a:solidFill>
                <a:latin typeface="Inter"/>
              </a:rPr>
              <a:t>…across multiple outlets.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AFB"/>
        </a:solidFill>
        <a:effectLst/>
      </p:bgPr>
    </p:bg>
    <p:spTree>
      <p:nvGrpSpPr>
        <p:cNvPr id="1" name=""/>
        <p:cNvGrpSpPr/>
        <p:nvPr/>
      </p:nvGrpSpPr>
      <p:grpSpPr/>
      <p:sp>
        <p:nvSpPr>
          <p:cNvPr id="2" name="Rounded Rectangle 1"/>
          <p:cNvSpPr/>
          <p:nvPr/>
        </p:nvSpPr>
        <p:spPr>
          <a:xfrm>
            <a:off x="0" y="0"/>
            <a:ext cx="12191695" cy="10515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515600" cy="548640"/>
          </a:xfrm>
          <a:prstGeom prst="rect">
            <a:avLst/>
          </a:prstGeom>
          <a:noFill/>
        </p:spPr>
        <p:txBody>
          <a:bodyPr wrap="square"/>
          <a:lstStyle/>
          <a:p>
            <a:pPr algn="l">
              <a:spcBef>
                <a:spcPts val="0"/>
              </a:spcBef>
              <a:spcAft>
                <a:spcPts val="0"/>
              </a:spcAft>
            </a:pPr>
            <a:r>
              <a:rPr sz="3000" b="1">
                <a:solidFill>
                  <a:srgbClr val="FFFFFF"/>
                </a:solidFill>
                <a:latin typeface="Space Grotesk"/>
              </a:rPr>
              <a:t>Introducing StockMind AI</a:t>
            </a:r>
          </a:p>
        </p:txBody>
      </p:sp>
      <p:sp>
        <p:nvSpPr>
          <p:cNvPr id="4" name="TextBox 3"/>
          <p:cNvSpPr txBox="1"/>
          <p:nvPr/>
        </p:nvSpPr>
        <p:spPr>
          <a:xfrm>
            <a:off x="548640" y="640080"/>
            <a:ext cx="10515600" cy="365760"/>
          </a:xfrm>
          <a:prstGeom prst="rect">
            <a:avLst/>
          </a:prstGeom>
          <a:noFill/>
        </p:spPr>
        <p:txBody>
          <a:bodyPr wrap="square"/>
          <a:lstStyle/>
          <a:p>
            <a:pPr algn="l">
              <a:spcBef>
                <a:spcPts val="0"/>
              </a:spcBef>
              <a:spcAft>
                <a:spcPts val="0"/>
              </a:spcAft>
            </a:pPr>
            <a:r>
              <a:rPr sz="1600" b="0">
                <a:solidFill>
                  <a:srgbClr val="BFDBFE"/>
                </a:solidFill>
                <a:latin typeface="Inter"/>
              </a:rPr>
              <a:t>Web-based Predictive Inventory Intelligence &amp; Decision-Support Platform</a:t>
            </a:r>
          </a:p>
        </p:txBody>
      </p:sp>
      <p:pic>
        <p:nvPicPr>
          <p:cNvPr id="5" name="Picture 4" descr="443732266_1006349624830063_6095867571651137613_n-removebg-preview.png"/>
          <p:cNvPicPr>
            <a:picLocks noChangeAspect="1"/>
          </p:cNvPicPr>
          <p:nvPr/>
        </p:nvPicPr>
        <p:blipFill>
          <a:blip r:embed="rId2"/>
          <a:stretch>
            <a:fillRect/>
          </a:stretch>
        </p:blipFill>
        <p:spPr>
          <a:xfrm>
            <a:off x="11094415" y="137160"/>
            <a:ext cx="868680" cy="868680"/>
          </a:xfrm>
          <a:prstGeom prst="rect">
            <a:avLst/>
          </a:prstGeom>
        </p:spPr>
      </p:pic>
      <p:sp>
        <p:nvSpPr>
          <p:cNvPr id="6" name="Rounded Rectangle 5"/>
          <p:cNvSpPr/>
          <p:nvPr/>
        </p:nvSpPr>
        <p:spPr>
          <a:xfrm>
            <a:off x="0" y="6675120"/>
            <a:ext cx="12191695" cy="18288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247120" y="6446520"/>
            <a:ext cx="822960" cy="274320"/>
          </a:xfrm>
          <a:prstGeom prst="rect">
            <a:avLst/>
          </a:prstGeom>
          <a:noFill/>
        </p:spPr>
        <p:txBody>
          <a:bodyPr wrap="square"/>
          <a:lstStyle/>
          <a:p>
            <a:pPr algn="r">
              <a:spcBef>
                <a:spcPts val="0"/>
              </a:spcBef>
              <a:spcAft>
                <a:spcPts val="0"/>
              </a:spcAft>
            </a:pPr>
            <a:r>
              <a:rPr sz="1000" b="0">
                <a:solidFill>
                  <a:srgbClr val="9CA3AF"/>
                </a:solidFill>
                <a:latin typeface="Inter"/>
              </a:rPr>
              <a:t>5 / 21</a:t>
            </a:r>
          </a:p>
        </p:txBody>
      </p:sp>
      <p:sp>
        <p:nvSpPr>
          <p:cNvPr id="8" name="Rounded Rectangle 7"/>
          <p:cNvSpPr/>
          <p:nvPr/>
        </p:nvSpPr>
        <p:spPr>
          <a:xfrm>
            <a:off x="457200" y="1508760"/>
            <a:ext cx="3291840" cy="8229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Inter"/>
              </a:rPr>
              <a:t>Historical Sales &amp;
Inventory Data</a:t>
            </a:r>
          </a:p>
        </p:txBody>
      </p:sp>
      <p:sp>
        <p:nvSpPr>
          <p:cNvPr id="9" name="TextBox 8"/>
          <p:cNvSpPr txBox="1"/>
          <p:nvPr/>
        </p:nvSpPr>
        <p:spPr>
          <a:xfrm>
            <a:off x="1874520" y="2286000"/>
            <a:ext cx="457200" cy="320040"/>
          </a:xfrm>
          <a:prstGeom prst="rect">
            <a:avLst/>
          </a:prstGeom>
          <a:noFill/>
        </p:spPr>
        <p:txBody>
          <a:bodyPr wrap="square"/>
          <a:lstStyle/>
          <a:p>
            <a:pPr algn="ctr">
              <a:spcBef>
                <a:spcPts val="0"/>
              </a:spcBef>
              <a:spcAft>
                <a:spcPts val="0"/>
              </a:spcAft>
            </a:pPr>
            <a:r>
              <a:rPr sz="1600" b="1">
                <a:solidFill>
                  <a:srgbClr val="2563EB"/>
                </a:solidFill>
                <a:latin typeface="Inter"/>
              </a:rPr>
              <a:t>▼</a:t>
            </a:r>
          </a:p>
        </p:txBody>
      </p:sp>
      <p:sp>
        <p:nvSpPr>
          <p:cNvPr id="10" name="Rounded Rectangle 9"/>
          <p:cNvSpPr/>
          <p:nvPr/>
        </p:nvSpPr>
        <p:spPr>
          <a:xfrm>
            <a:off x="457200" y="2532888"/>
            <a:ext cx="3291840" cy="8229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Inter"/>
              </a:rPr>
              <a:t>Data Validation &amp;
Preprocessing</a:t>
            </a:r>
          </a:p>
        </p:txBody>
      </p:sp>
      <p:sp>
        <p:nvSpPr>
          <p:cNvPr id="11" name="TextBox 10"/>
          <p:cNvSpPr txBox="1"/>
          <p:nvPr/>
        </p:nvSpPr>
        <p:spPr>
          <a:xfrm>
            <a:off x="1874520" y="3310128"/>
            <a:ext cx="457200" cy="320040"/>
          </a:xfrm>
          <a:prstGeom prst="rect">
            <a:avLst/>
          </a:prstGeom>
          <a:noFill/>
        </p:spPr>
        <p:txBody>
          <a:bodyPr wrap="square"/>
          <a:lstStyle/>
          <a:p>
            <a:pPr algn="ctr">
              <a:spcBef>
                <a:spcPts val="0"/>
              </a:spcBef>
              <a:spcAft>
                <a:spcPts val="0"/>
              </a:spcAft>
            </a:pPr>
            <a:r>
              <a:rPr sz="1600" b="1">
                <a:solidFill>
                  <a:srgbClr val="2563EB"/>
                </a:solidFill>
                <a:latin typeface="Inter"/>
              </a:rPr>
              <a:t>▼</a:t>
            </a:r>
          </a:p>
        </p:txBody>
      </p:sp>
      <p:sp>
        <p:nvSpPr>
          <p:cNvPr id="12" name="Rounded Rectangle 11"/>
          <p:cNvSpPr/>
          <p:nvPr/>
        </p:nvSpPr>
        <p:spPr>
          <a:xfrm>
            <a:off x="457200" y="3557016"/>
            <a:ext cx="3291840" cy="82296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Inter"/>
              </a:rPr>
              <a:t>Demand Analysis</a:t>
            </a:r>
          </a:p>
        </p:txBody>
      </p:sp>
      <p:sp>
        <p:nvSpPr>
          <p:cNvPr id="13" name="TextBox 12"/>
          <p:cNvSpPr txBox="1"/>
          <p:nvPr/>
        </p:nvSpPr>
        <p:spPr>
          <a:xfrm>
            <a:off x="1874520" y="4334256"/>
            <a:ext cx="457200" cy="320040"/>
          </a:xfrm>
          <a:prstGeom prst="rect">
            <a:avLst/>
          </a:prstGeom>
          <a:noFill/>
        </p:spPr>
        <p:txBody>
          <a:bodyPr wrap="square"/>
          <a:lstStyle/>
          <a:p>
            <a:pPr algn="ctr">
              <a:spcBef>
                <a:spcPts val="0"/>
              </a:spcBef>
              <a:spcAft>
                <a:spcPts val="0"/>
              </a:spcAft>
            </a:pPr>
            <a:r>
              <a:rPr sz="1600" b="1">
                <a:solidFill>
                  <a:srgbClr val="14B8A6"/>
                </a:solidFill>
                <a:latin typeface="Inter"/>
              </a:rPr>
              <a:t>▼</a:t>
            </a:r>
          </a:p>
        </p:txBody>
      </p:sp>
      <p:sp>
        <p:nvSpPr>
          <p:cNvPr id="14" name="Rounded Rectangle 13"/>
          <p:cNvSpPr/>
          <p:nvPr/>
        </p:nvSpPr>
        <p:spPr>
          <a:xfrm>
            <a:off x="457200" y="4581144"/>
            <a:ext cx="3291840" cy="82296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Inter"/>
              </a:rPr>
              <a:t>Multiple Forecasting
Approaches</a:t>
            </a:r>
          </a:p>
        </p:txBody>
      </p:sp>
      <p:sp>
        <p:nvSpPr>
          <p:cNvPr id="15" name="TextBox 14"/>
          <p:cNvSpPr txBox="1"/>
          <p:nvPr/>
        </p:nvSpPr>
        <p:spPr>
          <a:xfrm>
            <a:off x="3794760" y="2926080"/>
            <a:ext cx="914400" cy="365760"/>
          </a:xfrm>
          <a:prstGeom prst="rect">
            <a:avLst/>
          </a:prstGeom>
          <a:noFill/>
        </p:spPr>
        <p:txBody>
          <a:bodyPr wrap="square"/>
          <a:lstStyle/>
          <a:p>
            <a:pPr algn="ctr">
              <a:spcBef>
                <a:spcPts val="0"/>
              </a:spcBef>
              <a:spcAft>
                <a:spcPts val="0"/>
              </a:spcAft>
            </a:pPr>
            <a:r>
              <a:rPr sz="2800" b="1">
                <a:solidFill>
                  <a:srgbClr val="2563EB"/>
                </a:solidFill>
                <a:latin typeface="Inter"/>
              </a:rPr>
              <a:t>→</a:t>
            </a:r>
          </a:p>
        </p:txBody>
      </p:sp>
      <p:sp>
        <p:nvSpPr>
          <p:cNvPr id="16" name="Rounded Rectangle 15"/>
          <p:cNvSpPr/>
          <p:nvPr/>
        </p:nvSpPr>
        <p:spPr>
          <a:xfrm>
            <a:off x="4846320" y="1508760"/>
            <a:ext cx="3291840" cy="8229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Inter"/>
              </a:rPr>
              <a:t>Forecast Evaluation &amp;
Model Selection</a:t>
            </a:r>
          </a:p>
        </p:txBody>
      </p:sp>
      <p:sp>
        <p:nvSpPr>
          <p:cNvPr id="17" name="TextBox 16"/>
          <p:cNvSpPr txBox="1"/>
          <p:nvPr/>
        </p:nvSpPr>
        <p:spPr>
          <a:xfrm>
            <a:off x="6263640" y="2286000"/>
            <a:ext cx="457200" cy="320040"/>
          </a:xfrm>
          <a:prstGeom prst="rect">
            <a:avLst/>
          </a:prstGeom>
          <a:noFill/>
        </p:spPr>
        <p:txBody>
          <a:bodyPr wrap="square"/>
          <a:lstStyle/>
          <a:p>
            <a:pPr algn="ctr">
              <a:spcBef>
                <a:spcPts val="0"/>
              </a:spcBef>
              <a:spcAft>
                <a:spcPts val="0"/>
              </a:spcAft>
            </a:pPr>
            <a:r>
              <a:rPr sz="1600" b="1">
                <a:solidFill>
                  <a:srgbClr val="2563EB"/>
                </a:solidFill>
                <a:latin typeface="Inter"/>
              </a:rPr>
              <a:t>▼</a:t>
            </a:r>
          </a:p>
        </p:txBody>
      </p:sp>
      <p:sp>
        <p:nvSpPr>
          <p:cNvPr id="18" name="Rounded Rectangle 17"/>
          <p:cNvSpPr/>
          <p:nvPr/>
        </p:nvSpPr>
        <p:spPr>
          <a:xfrm>
            <a:off x="4846320" y="2532888"/>
            <a:ext cx="3291840" cy="82296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Inter"/>
              </a:rPr>
              <a:t>Inventory Optimization</a:t>
            </a:r>
          </a:p>
        </p:txBody>
      </p:sp>
      <p:sp>
        <p:nvSpPr>
          <p:cNvPr id="19" name="TextBox 18"/>
          <p:cNvSpPr txBox="1"/>
          <p:nvPr/>
        </p:nvSpPr>
        <p:spPr>
          <a:xfrm>
            <a:off x="6263640" y="3310128"/>
            <a:ext cx="457200" cy="320040"/>
          </a:xfrm>
          <a:prstGeom prst="rect">
            <a:avLst/>
          </a:prstGeom>
          <a:noFill/>
        </p:spPr>
        <p:txBody>
          <a:bodyPr wrap="square"/>
          <a:lstStyle/>
          <a:p>
            <a:pPr algn="ctr">
              <a:spcBef>
                <a:spcPts val="0"/>
              </a:spcBef>
              <a:spcAft>
                <a:spcPts val="0"/>
              </a:spcAft>
            </a:pPr>
            <a:r>
              <a:rPr sz="1600" b="1">
                <a:solidFill>
                  <a:srgbClr val="14B8A6"/>
                </a:solidFill>
                <a:latin typeface="Inter"/>
              </a:rPr>
              <a:t>▼</a:t>
            </a:r>
          </a:p>
        </p:txBody>
      </p:sp>
      <p:sp>
        <p:nvSpPr>
          <p:cNvPr id="20" name="Rounded Rectangle 19"/>
          <p:cNvSpPr/>
          <p:nvPr/>
        </p:nvSpPr>
        <p:spPr>
          <a:xfrm>
            <a:off x="4846320" y="3557016"/>
            <a:ext cx="3291840" cy="82296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Inter"/>
              </a:rPr>
              <a:t>Risk Detection</a:t>
            </a:r>
          </a:p>
        </p:txBody>
      </p:sp>
      <p:sp>
        <p:nvSpPr>
          <p:cNvPr id="21" name="TextBox 20"/>
          <p:cNvSpPr txBox="1"/>
          <p:nvPr/>
        </p:nvSpPr>
        <p:spPr>
          <a:xfrm>
            <a:off x="6263640" y="4334256"/>
            <a:ext cx="457200" cy="320040"/>
          </a:xfrm>
          <a:prstGeom prst="rect">
            <a:avLst/>
          </a:prstGeom>
          <a:noFill/>
        </p:spPr>
        <p:txBody>
          <a:bodyPr wrap="square"/>
          <a:lstStyle/>
          <a:p>
            <a:pPr algn="ctr">
              <a:spcBef>
                <a:spcPts val="0"/>
              </a:spcBef>
              <a:spcAft>
                <a:spcPts val="0"/>
              </a:spcAft>
            </a:pPr>
            <a:r>
              <a:rPr sz="1600" b="1">
                <a:solidFill>
                  <a:srgbClr val="F59E0B"/>
                </a:solidFill>
                <a:latin typeface="Inter"/>
              </a:rPr>
              <a:t>▼</a:t>
            </a:r>
          </a:p>
        </p:txBody>
      </p:sp>
      <p:sp>
        <p:nvSpPr>
          <p:cNvPr id="22" name="Rounded Rectangle 21"/>
          <p:cNvSpPr/>
          <p:nvPr/>
        </p:nvSpPr>
        <p:spPr>
          <a:xfrm>
            <a:off x="4846320" y="4581144"/>
            <a:ext cx="3291840" cy="82296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Inter"/>
              </a:rPr>
              <a:t>Recommendations &amp;
Transfer Opportunities</a:t>
            </a:r>
          </a:p>
        </p:txBody>
      </p:sp>
      <p:sp>
        <p:nvSpPr>
          <p:cNvPr id="23" name="TextBox 22"/>
          <p:cNvSpPr txBox="1"/>
          <p:nvPr/>
        </p:nvSpPr>
        <p:spPr>
          <a:xfrm>
            <a:off x="6172200" y="5577840"/>
            <a:ext cx="457200" cy="320040"/>
          </a:xfrm>
          <a:prstGeom prst="rect">
            <a:avLst/>
          </a:prstGeom>
          <a:noFill/>
        </p:spPr>
        <p:txBody>
          <a:bodyPr wrap="square"/>
          <a:lstStyle/>
          <a:p>
            <a:pPr algn="ctr">
              <a:spcBef>
                <a:spcPts val="0"/>
              </a:spcBef>
              <a:spcAft>
                <a:spcPts val="0"/>
              </a:spcAft>
            </a:pPr>
            <a:r>
              <a:rPr sz="1600" b="1">
                <a:solidFill>
                  <a:srgbClr val="2563EB"/>
                </a:solidFill>
                <a:latin typeface="Inter"/>
              </a:rPr>
              <a:t>▼</a:t>
            </a:r>
          </a:p>
        </p:txBody>
      </p:sp>
      <p:sp>
        <p:nvSpPr>
          <p:cNvPr id="24" name="Rounded Rectangle 23"/>
          <p:cNvSpPr/>
          <p:nvPr/>
        </p:nvSpPr>
        <p:spPr>
          <a:xfrm>
            <a:off x="4480560" y="5852160"/>
            <a:ext cx="3840480" cy="594360"/>
          </a:xfrm>
          <a:prstGeom prst="round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Inter"/>
              </a:rPr>
              <a:t>Inventory Intelligence Dashboard</a:t>
            </a:r>
          </a:p>
        </p:txBody>
      </p:sp>
      <p:sp>
        <p:nvSpPr>
          <p:cNvPr id="25" name="Rounded Rectangle 24"/>
          <p:cNvSpPr/>
          <p:nvPr/>
        </p:nvSpPr>
        <p:spPr>
          <a:xfrm>
            <a:off x="8686800" y="1508760"/>
            <a:ext cx="3200400" cy="1645920"/>
          </a:xfrm>
          <a:prstGeom prst="roundRect">
            <a:avLst/>
          </a:prstGeom>
          <a:solidFill>
            <a:srgbClr val="ECFDF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23960" y="1691640"/>
            <a:ext cx="2926080" cy="1371600"/>
          </a:xfrm>
          <a:prstGeom prst="rect">
            <a:avLst/>
          </a:prstGeom>
          <a:noFill/>
        </p:spPr>
        <p:txBody>
          <a:bodyPr wrap="square"/>
          <a:lstStyle/>
          <a:p>
            <a:pPr algn="l">
              <a:spcAft>
                <a:spcPts val="800"/>
              </a:spcAft>
            </a:pPr>
            <a:r>
              <a:rPr sz="1400" b="1">
                <a:solidFill>
                  <a:srgbClr val="14B8A6"/>
                </a:solidFill>
                <a:latin typeface="Space Grotesk"/>
              </a:rPr>
              <a:t>Key Idea</a:t>
            </a:r>
          </a:p>
          <a:p>
            <a:pPr algn="l">
              <a:spcAft>
                <a:spcPts val="200"/>
              </a:spcAft>
            </a:pPr>
            <a:r>
              <a:rPr sz="600" b="0">
                <a:solidFill>
                  <a:srgbClr val="111827"/>
                </a:solidFill>
                <a:latin typeface="Inter"/>
              </a:rPr>
              <a:t/>
            </a:r>
          </a:p>
          <a:p>
            <a:pPr algn="l">
              <a:spcAft>
                <a:spcPts val="200"/>
              </a:spcAft>
            </a:pPr>
            <a:r>
              <a:rPr sz="1300" b="0">
                <a:solidFill>
                  <a:srgbClr val="9CA3AF"/>
                </a:solidFill>
                <a:latin typeface="Inter"/>
              </a:rPr>
              <a:t>Descriptive →</a:t>
            </a:r>
          </a:p>
          <a:p>
            <a:pPr algn="l">
              <a:spcAft>
                <a:spcPts val="200"/>
              </a:spcAft>
            </a:pPr>
            <a:r>
              <a:rPr sz="1300" b="1">
                <a:solidFill>
                  <a:srgbClr val="2563EB"/>
                </a:solidFill>
                <a:latin typeface="Inter"/>
              </a:rPr>
              <a:t>Predictive →</a:t>
            </a:r>
          </a:p>
          <a:p>
            <a:pPr algn="l">
              <a:spcAft>
                <a:spcPts val="0"/>
              </a:spcAft>
            </a:pPr>
            <a:r>
              <a:rPr sz="1300" b="1">
                <a:solidFill>
                  <a:srgbClr val="14B8A6"/>
                </a:solidFill>
                <a:latin typeface="Inter"/>
              </a:rPr>
              <a:t>Prescriptive Intelligence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AFB"/>
        </a:solidFill>
        <a:effectLst/>
      </p:bgPr>
    </p:bg>
    <p:spTree>
      <p:nvGrpSpPr>
        <p:cNvPr id="1" name=""/>
        <p:cNvGrpSpPr/>
        <p:nvPr/>
      </p:nvGrpSpPr>
      <p:grpSpPr/>
      <p:sp>
        <p:nvSpPr>
          <p:cNvPr id="2" name="Rounded Rectangle 1"/>
          <p:cNvSpPr/>
          <p:nvPr/>
        </p:nvSpPr>
        <p:spPr>
          <a:xfrm>
            <a:off x="0" y="0"/>
            <a:ext cx="12191695" cy="10515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515600" cy="548640"/>
          </a:xfrm>
          <a:prstGeom prst="rect">
            <a:avLst/>
          </a:prstGeom>
          <a:noFill/>
        </p:spPr>
        <p:txBody>
          <a:bodyPr wrap="square"/>
          <a:lstStyle/>
          <a:p>
            <a:pPr algn="l">
              <a:spcBef>
                <a:spcPts val="0"/>
              </a:spcBef>
              <a:spcAft>
                <a:spcPts val="0"/>
              </a:spcAft>
            </a:pPr>
            <a:r>
              <a:rPr sz="3000" b="1">
                <a:solidFill>
                  <a:srgbClr val="FFFFFF"/>
                </a:solidFill>
                <a:latin typeface="Space Grotesk"/>
              </a:rPr>
              <a:t>Project Objectives</a:t>
            </a:r>
          </a:p>
        </p:txBody>
      </p:sp>
      <p:pic>
        <p:nvPicPr>
          <p:cNvPr id="4" name="Picture 3" descr="443732266_1006349624830063_6095867571651137613_n-removebg-preview.png"/>
          <p:cNvPicPr>
            <a:picLocks noChangeAspect="1"/>
          </p:cNvPicPr>
          <p:nvPr/>
        </p:nvPicPr>
        <p:blipFill>
          <a:blip r:embed="rId2"/>
          <a:stretch>
            <a:fillRect/>
          </a:stretch>
        </p:blipFill>
        <p:spPr>
          <a:xfrm>
            <a:off x="11094415" y="137160"/>
            <a:ext cx="868680" cy="868680"/>
          </a:xfrm>
          <a:prstGeom prst="rect">
            <a:avLst/>
          </a:prstGeom>
        </p:spPr>
      </p:pic>
      <p:sp>
        <p:nvSpPr>
          <p:cNvPr id="5" name="Rounded Rectangle 4"/>
          <p:cNvSpPr/>
          <p:nvPr/>
        </p:nvSpPr>
        <p:spPr>
          <a:xfrm>
            <a:off x="0" y="6675120"/>
            <a:ext cx="12191695" cy="18288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0" y="6446520"/>
            <a:ext cx="822960" cy="274320"/>
          </a:xfrm>
          <a:prstGeom prst="rect">
            <a:avLst/>
          </a:prstGeom>
          <a:noFill/>
        </p:spPr>
        <p:txBody>
          <a:bodyPr wrap="square"/>
          <a:lstStyle/>
          <a:p>
            <a:pPr algn="r">
              <a:spcBef>
                <a:spcPts val="0"/>
              </a:spcBef>
              <a:spcAft>
                <a:spcPts val="0"/>
              </a:spcAft>
            </a:pPr>
            <a:r>
              <a:rPr sz="1000" b="0">
                <a:solidFill>
                  <a:srgbClr val="9CA3AF"/>
                </a:solidFill>
                <a:latin typeface="Inter"/>
              </a:rPr>
              <a:t>6 / 21</a:t>
            </a:r>
          </a:p>
        </p:txBody>
      </p:sp>
      <p:sp>
        <p:nvSpPr>
          <p:cNvPr id="7" name="Oval 6"/>
          <p:cNvSpPr/>
          <p:nvPr/>
        </p:nvSpPr>
        <p:spPr>
          <a:xfrm>
            <a:off x="914400" y="1417320"/>
            <a:ext cx="457200" cy="45720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Inter"/>
              </a:rPr>
              <a:t>1</a:t>
            </a:r>
          </a:p>
        </p:txBody>
      </p:sp>
      <p:sp>
        <p:nvSpPr>
          <p:cNvPr id="8" name="TextBox 7"/>
          <p:cNvSpPr txBox="1"/>
          <p:nvPr/>
        </p:nvSpPr>
        <p:spPr>
          <a:xfrm>
            <a:off x="411480" y="2011680"/>
            <a:ext cx="1508760" cy="685800"/>
          </a:xfrm>
          <a:prstGeom prst="rect">
            <a:avLst/>
          </a:prstGeom>
          <a:noFill/>
        </p:spPr>
        <p:txBody>
          <a:bodyPr wrap="square"/>
          <a:lstStyle/>
          <a:p>
            <a:pPr algn="ctr">
              <a:spcBef>
                <a:spcPts val="0"/>
              </a:spcBef>
              <a:spcAft>
                <a:spcPts val="0"/>
              </a:spcAft>
            </a:pPr>
            <a:r>
              <a:rPr sz="1400" b="1">
                <a:solidFill>
                  <a:srgbClr val="2563EB"/>
                </a:solidFill>
                <a:latin typeface="Space Grotesk"/>
              </a:rPr>
              <a:t>Demand
Forecasting</a:t>
            </a:r>
          </a:p>
        </p:txBody>
      </p:sp>
      <p:sp>
        <p:nvSpPr>
          <p:cNvPr id="9" name="TextBox 8"/>
          <p:cNvSpPr txBox="1"/>
          <p:nvPr/>
        </p:nvSpPr>
        <p:spPr>
          <a:xfrm>
            <a:off x="502920" y="2743200"/>
            <a:ext cx="1325880" cy="1645920"/>
          </a:xfrm>
          <a:prstGeom prst="rect">
            <a:avLst/>
          </a:prstGeom>
          <a:noFill/>
        </p:spPr>
        <p:txBody>
          <a:bodyPr wrap="square"/>
          <a:lstStyle/>
          <a:p>
            <a:pPr algn="ctr">
              <a:spcBef>
                <a:spcPts val="0"/>
              </a:spcBef>
              <a:spcAft>
                <a:spcPts val="0"/>
              </a:spcAft>
            </a:pPr>
            <a:r>
              <a:rPr sz="1100" b="0">
                <a:solidFill>
                  <a:srgbClr val="9CA3AF"/>
                </a:solidFill>
                <a:latin typeface="Inter"/>
              </a:rPr>
              <a:t>Multiple forecasting
approaches for
product-outlet demand</a:t>
            </a:r>
          </a:p>
        </p:txBody>
      </p:sp>
      <p:sp>
        <p:nvSpPr>
          <p:cNvPr id="10" name="Rounded Rectangle 9"/>
          <p:cNvSpPr/>
          <p:nvPr/>
        </p:nvSpPr>
        <p:spPr>
          <a:xfrm>
            <a:off x="777240" y="4572000"/>
            <a:ext cx="777240" cy="381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587752" y="1417320"/>
            <a:ext cx="457200" cy="45720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Inter"/>
              </a:rPr>
              <a:t>2</a:t>
            </a:r>
          </a:p>
        </p:txBody>
      </p:sp>
      <p:sp>
        <p:nvSpPr>
          <p:cNvPr id="12" name="TextBox 11"/>
          <p:cNvSpPr txBox="1"/>
          <p:nvPr/>
        </p:nvSpPr>
        <p:spPr>
          <a:xfrm>
            <a:off x="2084832" y="2011680"/>
            <a:ext cx="1508760" cy="685800"/>
          </a:xfrm>
          <a:prstGeom prst="rect">
            <a:avLst/>
          </a:prstGeom>
          <a:noFill/>
        </p:spPr>
        <p:txBody>
          <a:bodyPr wrap="square"/>
          <a:lstStyle/>
          <a:p>
            <a:pPr algn="ctr">
              <a:spcBef>
                <a:spcPts val="0"/>
              </a:spcBef>
              <a:spcAft>
                <a:spcPts val="0"/>
              </a:spcAft>
            </a:pPr>
            <a:r>
              <a:rPr sz="1400" b="1">
                <a:solidFill>
                  <a:srgbClr val="2563EB"/>
                </a:solidFill>
                <a:latin typeface="Space Grotesk"/>
              </a:rPr>
              <a:t>Forecast
Evaluation</a:t>
            </a:r>
          </a:p>
        </p:txBody>
      </p:sp>
      <p:sp>
        <p:nvSpPr>
          <p:cNvPr id="13" name="TextBox 12"/>
          <p:cNvSpPr txBox="1"/>
          <p:nvPr/>
        </p:nvSpPr>
        <p:spPr>
          <a:xfrm>
            <a:off x="2176272" y="2743200"/>
            <a:ext cx="1325880" cy="1645920"/>
          </a:xfrm>
          <a:prstGeom prst="rect">
            <a:avLst/>
          </a:prstGeom>
          <a:noFill/>
        </p:spPr>
        <p:txBody>
          <a:bodyPr wrap="square"/>
          <a:lstStyle/>
          <a:p>
            <a:pPr algn="ctr">
              <a:spcBef>
                <a:spcPts val="0"/>
              </a:spcBef>
              <a:spcAft>
                <a:spcPts val="0"/>
              </a:spcAft>
            </a:pPr>
            <a:r>
              <a:rPr sz="1100" b="0">
                <a:solidFill>
                  <a:srgbClr val="9CA3AF"/>
                </a:solidFill>
                <a:latin typeface="Inter"/>
              </a:rPr>
              <a:t>Performance metrics
on held-out data:
MAE, RMSE, MAPE</a:t>
            </a:r>
          </a:p>
        </p:txBody>
      </p:sp>
      <p:sp>
        <p:nvSpPr>
          <p:cNvPr id="14" name="Rounded Rectangle 13"/>
          <p:cNvSpPr/>
          <p:nvPr/>
        </p:nvSpPr>
        <p:spPr>
          <a:xfrm>
            <a:off x="2450592" y="4572000"/>
            <a:ext cx="777240" cy="381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261104" y="1417320"/>
            <a:ext cx="457200" cy="457200"/>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Inter"/>
              </a:rPr>
              <a:t>3</a:t>
            </a:r>
          </a:p>
        </p:txBody>
      </p:sp>
      <p:sp>
        <p:nvSpPr>
          <p:cNvPr id="16" name="TextBox 15"/>
          <p:cNvSpPr txBox="1"/>
          <p:nvPr/>
        </p:nvSpPr>
        <p:spPr>
          <a:xfrm>
            <a:off x="3758184" y="2011680"/>
            <a:ext cx="1508760" cy="685800"/>
          </a:xfrm>
          <a:prstGeom prst="rect">
            <a:avLst/>
          </a:prstGeom>
          <a:noFill/>
        </p:spPr>
        <p:txBody>
          <a:bodyPr wrap="square"/>
          <a:lstStyle/>
          <a:p>
            <a:pPr algn="ctr">
              <a:spcBef>
                <a:spcPts val="0"/>
              </a:spcBef>
              <a:spcAft>
                <a:spcPts val="0"/>
              </a:spcAft>
            </a:pPr>
            <a:r>
              <a:rPr sz="1400" b="1">
                <a:solidFill>
                  <a:srgbClr val="14B8A6"/>
                </a:solidFill>
                <a:latin typeface="Space Grotesk"/>
              </a:rPr>
              <a:t>Inventory
Optimization</a:t>
            </a:r>
          </a:p>
        </p:txBody>
      </p:sp>
      <p:sp>
        <p:nvSpPr>
          <p:cNvPr id="17" name="TextBox 16"/>
          <p:cNvSpPr txBox="1"/>
          <p:nvPr/>
        </p:nvSpPr>
        <p:spPr>
          <a:xfrm>
            <a:off x="3849624" y="2743200"/>
            <a:ext cx="1325880" cy="1645920"/>
          </a:xfrm>
          <a:prstGeom prst="rect">
            <a:avLst/>
          </a:prstGeom>
          <a:noFill/>
        </p:spPr>
        <p:txBody>
          <a:bodyPr wrap="square"/>
          <a:lstStyle/>
          <a:p>
            <a:pPr algn="ctr">
              <a:spcBef>
                <a:spcPts val="0"/>
              </a:spcBef>
              <a:spcAft>
                <a:spcPts val="0"/>
              </a:spcAft>
            </a:pPr>
            <a:r>
              <a:rPr sz="1100" b="0">
                <a:solidFill>
                  <a:srgbClr val="9CA3AF"/>
                </a:solidFill>
                <a:latin typeface="Inter"/>
              </a:rPr>
              <a:t>Safety stock, reorder
point, days of stock,
replenishment, EOQ</a:t>
            </a:r>
          </a:p>
        </p:txBody>
      </p:sp>
      <p:sp>
        <p:nvSpPr>
          <p:cNvPr id="18" name="Rounded Rectangle 17"/>
          <p:cNvSpPr/>
          <p:nvPr/>
        </p:nvSpPr>
        <p:spPr>
          <a:xfrm>
            <a:off x="4123944" y="4572000"/>
            <a:ext cx="777240" cy="3810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934456" y="1417320"/>
            <a:ext cx="457200" cy="45720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Inter"/>
              </a:rPr>
              <a:t>4</a:t>
            </a:r>
          </a:p>
        </p:txBody>
      </p:sp>
      <p:sp>
        <p:nvSpPr>
          <p:cNvPr id="20" name="TextBox 19"/>
          <p:cNvSpPr txBox="1"/>
          <p:nvPr/>
        </p:nvSpPr>
        <p:spPr>
          <a:xfrm>
            <a:off x="5431536" y="2011680"/>
            <a:ext cx="1508760" cy="685800"/>
          </a:xfrm>
          <a:prstGeom prst="rect">
            <a:avLst/>
          </a:prstGeom>
          <a:noFill/>
        </p:spPr>
        <p:txBody>
          <a:bodyPr wrap="square"/>
          <a:lstStyle/>
          <a:p>
            <a:pPr algn="ctr">
              <a:spcBef>
                <a:spcPts val="0"/>
              </a:spcBef>
              <a:spcAft>
                <a:spcPts val="0"/>
              </a:spcAft>
            </a:pPr>
            <a:r>
              <a:rPr sz="1400" b="1">
                <a:solidFill>
                  <a:srgbClr val="F59E0B"/>
                </a:solidFill>
                <a:latin typeface="Space Grotesk"/>
              </a:rPr>
              <a:t>Risk
Detection</a:t>
            </a:r>
          </a:p>
        </p:txBody>
      </p:sp>
      <p:sp>
        <p:nvSpPr>
          <p:cNvPr id="21" name="TextBox 20"/>
          <p:cNvSpPr txBox="1"/>
          <p:nvPr/>
        </p:nvSpPr>
        <p:spPr>
          <a:xfrm>
            <a:off x="5522976" y="2743200"/>
            <a:ext cx="1325880" cy="1645920"/>
          </a:xfrm>
          <a:prstGeom prst="rect">
            <a:avLst/>
          </a:prstGeom>
          <a:noFill/>
        </p:spPr>
        <p:txBody>
          <a:bodyPr wrap="square"/>
          <a:lstStyle/>
          <a:p>
            <a:pPr algn="ctr">
              <a:spcBef>
                <a:spcPts val="0"/>
              </a:spcBef>
              <a:spcAft>
                <a:spcPts val="0"/>
              </a:spcAft>
            </a:pPr>
            <a:r>
              <a:rPr sz="1100" b="0">
                <a:solidFill>
                  <a:srgbClr val="9CA3AF"/>
                </a:solidFill>
                <a:latin typeface="Inter"/>
              </a:rPr>
              <a:t>Stockout, low-stock,
and overstock
identification</a:t>
            </a:r>
          </a:p>
        </p:txBody>
      </p:sp>
      <p:sp>
        <p:nvSpPr>
          <p:cNvPr id="22" name="Rounded Rectangle 21"/>
          <p:cNvSpPr/>
          <p:nvPr/>
        </p:nvSpPr>
        <p:spPr>
          <a:xfrm>
            <a:off x="5797296" y="4572000"/>
            <a:ext cx="777240" cy="3810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607808" y="1417320"/>
            <a:ext cx="457200" cy="45720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Inter"/>
              </a:rPr>
              <a:t>5</a:t>
            </a:r>
          </a:p>
        </p:txBody>
      </p:sp>
      <p:sp>
        <p:nvSpPr>
          <p:cNvPr id="24" name="TextBox 23"/>
          <p:cNvSpPr txBox="1"/>
          <p:nvPr/>
        </p:nvSpPr>
        <p:spPr>
          <a:xfrm>
            <a:off x="7104888" y="2011680"/>
            <a:ext cx="1508760" cy="685800"/>
          </a:xfrm>
          <a:prstGeom prst="rect">
            <a:avLst/>
          </a:prstGeom>
          <a:noFill/>
        </p:spPr>
        <p:txBody>
          <a:bodyPr wrap="square"/>
          <a:lstStyle/>
          <a:p>
            <a:pPr algn="ctr">
              <a:spcBef>
                <a:spcPts val="0"/>
              </a:spcBef>
              <a:spcAft>
                <a:spcPts val="0"/>
              </a:spcAft>
            </a:pPr>
            <a:r>
              <a:rPr sz="1400" b="1">
                <a:solidFill>
                  <a:srgbClr val="10B981"/>
                </a:solidFill>
                <a:latin typeface="Space Grotesk"/>
              </a:rPr>
              <a:t>Intelligent
Recommendations</a:t>
            </a:r>
          </a:p>
        </p:txBody>
      </p:sp>
      <p:sp>
        <p:nvSpPr>
          <p:cNvPr id="25" name="TextBox 24"/>
          <p:cNvSpPr txBox="1"/>
          <p:nvPr/>
        </p:nvSpPr>
        <p:spPr>
          <a:xfrm>
            <a:off x="7196328" y="2743200"/>
            <a:ext cx="1325880" cy="1645920"/>
          </a:xfrm>
          <a:prstGeom prst="rect">
            <a:avLst/>
          </a:prstGeom>
          <a:noFill/>
        </p:spPr>
        <p:txBody>
          <a:bodyPr wrap="square"/>
          <a:lstStyle/>
          <a:p>
            <a:pPr algn="ctr">
              <a:spcBef>
                <a:spcPts val="0"/>
              </a:spcBef>
              <a:spcAft>
                <a:spcPts val="0"/>
              </a:spcAft>
            </a:pPr>
            <a:r>
              <a:rPr sz="1100" b="0">
                <a:solidFill>
                  <a:srgbClr val="9CA3AF"/>
                </a:solidFill>
                <a:latin typeface="Inter"/>
              </a:rPr>
              <a:t>Prioritized replenish-
ment and inventory
actions</a:t>
            </a:r>
          </a:p>
        </p:txBody>
      </p:sp>
      <p:sp>
        <p:nvSpPr>
          <p:cNvPr id="26" name="Rounded Rectangle 25"/>
          <p:cNvSpPr/>
          <p:nvPr/>
        </p:nvSpPr>
        <p:spPr>
          <a:xfrm>
            <a:off x="7470648" y="4572000"/>
            <a:ext cx="777240" cy="3810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281160" y="1417320"/>
            <a:ext cx="457200" cy="457200"/>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Inter"/>
              </a:rPr>
              <a:t>6</a:t>
            </a:r>
          </a:p>
        </p:txBody>
      </p:sp>
      <p:sp>
        <p:nvSpPr>
          <p:cNvPr id="28" name="TextBox 27"/>
          <p:cNvSpPr txBox="1"/>
          <p:nvPr/>
        </p:nvSpPr>
        <p:spPr>
          <a:xfrm>
            <a:off x="8778240" y="2011680"/>
            <a:ext cx="1508760" cy="685800"/>
          </a:xfrm>
          <a:prstGeom prst="rect">
            <a:avLst/>
          </a:prstGeom>
          <a:noFill/>
        </p:spPr>
        <p:txBody>
          <a:bodyPr wrap="square"/>
          <a:lstStyle/>
          <a:p>
            <a:pPr algn="ctr">
              <a:spcBef>
                <a:spcPts val="0"/>
              </a:spcBef>
              <a:spcAft>
                <a:spcPts val="0"/>
              </a:spcAft>
            </a:pPr>
            <a:r>
              <a:rPr sz="1400" b="1">
                <a:solidFill>
                  <a:srgbClr val="14B8A6"/>
                </a:solidFill>
                <a:latin typeface="Space Grotesk"/>
              </a:rPr>
              <a:t>Multi-Outlet
Intelligence</a:t>
            </a:r>
          </a:p>
        </p:txBody>
      </p:sp>
      <p:sp>
        <p:nvSpPr>
          <p:cNvPr id="29" name="TextBox 28"/>
          <p:cNvSpPr txBox="1"/>
          <p:nvPr/>
        </p:nvSpPr>
        <p:spPr>
          <a:xfrm>
            <a:off x="8869680" y="2743200"/>
            <a:ext cx="1325880" cy="1645920"/>
          </a:xfrm>
          <a:prstGeom prst="rect">
            <a:avLst/>
          </a:prstGeom>
          <a:noFill/>
        </p:spPr>
        <p:txBody>
          <a:bodyPr wrap="square"/>
          <a:lstStyle/>
          <a:p>
            <a:pPr algn="ctr">
              <a:spcBef>
                <a:spcPts val="0"/>
              </a:spcBef>
              <a:spcAft>
                <a:spcPts val="0"/>
              </a:spcAft>
            </a:pPr>
            <a:r>
              <a:rPr sz="1100" b="0">
                <a:solidFill>
                  <a:srgbClr val="9CA3AF"/>
                </a:solidFill>
                <a:latin typeface="Inter"/>
              </a:rPr>
              <a:t>Transfer opportunities
between outlets
with surplus/shortage</a:t>
            </a:r>
          </a:p>
        </p:txBody>
      </p:sp>
      <p:sp>
        <p:nvSpPr>
          <p:cNvPr id="30" name="Rounded Rectangle 29"/>
          <p:cNvSpPr/>
          <p:nvPr/>
        </p:nvSpPr>
        <p:spPr>
          <a:xfrm>
            <a:off x="9144000" y="4572000"/>
            <a:ext cx="777240" cy="3810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954512" y="1417320"/>
            <a:ext cx="457200" cy="45720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Inter"/>
              </a:rPr>
              <a:t>7</a:t>
            </a:r>
          </a:p>
        </p:txBody>
      </p:sp>
      <p:sp>
        <p:nvSpPr>
          <p:cNvPr id="32" name="TextBox 31"/>
          <p:cNvSpPr txBox="1"/>
          <p:nvPr/>
        </p:nvSpPr>
        <p:spPr>
          <a:xfrm>
            <a:off x="10451592" y="2011680"/>
            <a:ext cx="1508760" cy="685800"/>
          </a:xfrm>
          <a:prstGeom prst="rect">
            <a:avLst/>
          </a:prstGeom>
          <a:noFill/>
        </p:spPr>
        <p:txBody>
          <a:bodyPr wrap="square"/>
          <a:lstStyle/>
          <a:p>
            <a:pPr algn="ctr">
              <a:spcBef>
                <a:spcPts val="0"/>
              </a:spcBef>
              <a:spcAft>
                <a:spcPts val="0"/>
              </a:spcAft>
            </a:pPr>
            <a:r>
              <a:rPr sz="1400" b="1">
                <a:solidFill>
                  <a:srgbClr val="2563EB"/>
                </a:solidFill>
                <a:latin typeface="Space Grotesk"/>
              </a:rPr>
              <a:t>Decision-Support
Dashboard</a:t>
            </a:r>
          </a:p>
        </p:txBody>
      </p:sp>
      <p:sp>
        <p:nvSpPr>
          <p:cNvPr id="33" name="TextBox 32"/>
          <p:cNvSpPr txBox="1"/>
          <p:nvPr/>
        </p:nvSpPr>
        <p:spPr>
          <a:xfrm>
            <a:off x="10543032" y="2743200"/>
            <a:ext cx="1325880" cy="1645920"/>
          </a:xfrm>
          <a:prstGeom prst="rect">
            <a:avLst/>
          </a:prstGeom>
          <a:noFill/>
        </p:spPr>
        <p:txBody>
          <a:bodyPr wrap="square"/>
          <a:lstStyle/>
          <a:p>
            <a:pPr algn="ctr">
              <a:spcBef>
                <a:spcPts val="0"/>
              </a:spcBef>
              <a:spcAft>
                <a:spcPts val="0"/>
              </a:spcAft>
            </a:pPr>
            <a:r>
              <a:rPr sz="1100" b="0">
                <a:solidFill>
                  <a:srgbClr val="9CA3AF"/>
                </a:solidFill>
                <a:latin typeface="Inter"/>
              </a:rPr>
              <a:t>Company, outlet,
and product-level
analytics</a:t>
            </a:r>
          </a:p>
        </p:txBody>
      </p:sp>
      <p:sp>
        <p:nvSpPr>
          <p:cNvPr id="34" name="Rounded Rectangle 33"/>
          <p:cNvSpPr/>
          <p:nvPr/>
        </p:nvSpPr>
        <p:spPr>
          <a:xfrm>
            <a:off x="10817352" y="4572000"/>
            <a:ext cx="777240" cy="381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AFB"/>
        </a:solidFill>
        <a:effectLst/>
      </p:bgPr>
    </p:bg>
    <p:spTree>
      <p:nvGrpSpPr>
        <p:cNvPr id="1" name=""/>
        <p:cNvGrpSpPr/>
        <p:nvPr/>
      </p:nvGrpSpPr>
      <p:grpSpPr/>
      <p:sp>
        <p:nvSpPr>
          <p:cNvPr id="2" name="Rounded Rectangle 1"/>
          <p:cNvSpPr/>
          <p:nvPr/>
        </p:nvSpPr>
        <p:spPr>
          <a:xfrm>
            <a:off x="0" y="0"/>
            <a:ext cx="12191695" cy="10515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515600" cy="548640"/>
          </a:xfrm>
          <a:prstGeom prst="rect">
            <a:avLst/>
          </a:prstGeom>
          <a:noFill/>
        </p:spPr>
        <p:txBody>
          <a:bodyPr wrap="square"/>
          <a:lstStyle/>
          <a:p>
            <a:pPr algn="l">
              <a:spcBef>
                <a:spcPts val="0"/>
              </a:spcBef>
              <a:spcAft>
                <a:spcPts val="0"/>
              </a:spcAft>
            </a:pPr>
            <a:r>
              <a:rPr sz="3000" b="1">
                <a:solidFill>
                  <a:srgbClr val="FFFFFF"/>
                </a:solidFill>
                <a:latin typeface="Space Grotesk"/>
              </a:rPr>
              <a:t>Key Features</a:t>
            </a:r>
          </a:p>
        </p:txBody>
      </p:sp>
      <p:pic>
        <p:nvPicPr>
          <p:cNvPr id="4" name="Picture 3" descr="443732266_1006349624830063_6095867571651137613_n-removebg-preview.png"/>
          <p:cNvPicPr>
            <a:picLocks noChangeAspect="1"/>
          </p:cNvPicPr>
          <p:nvPr/>
        </p:nvPicPr>
        <p:blipFill>
          <a:blip r:embed="rId2"/>
          <a:stretch>
            <a:fillRect/>
          </a:stretch>
        </p:blipFill>
        <p:spPr>
          <a:xfrm>
            <a:off x="11094415" y="137160"/>
            <a:ext cx="868680" cy="868680"/>
          </a:xfrm>
          <a:prstGeom prst="rect">
            <a:avLst/>
          </a:prstGeom>
        </p:spPr>
      </p:pic>
      <p:sp>
        <p:nvSpPr>
          <p:cNvPr id="5" name="Rounded Rectangle 4"/>
          <p:cNvSpPr/>
          <p:nvPr/>
        </p:nvSpPr>
        <p:spPr>
          <a:xfrm>
            <a:off x="0" y="6675120"/>
            <a:ext cx="12191695" cy="18288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0" y="6446520"/>
            <a:ext cx="822960" cy="274320"/>
          </a:xfrm>
          <a:prstGeom prst="rect">
            <a:avLst/>
          </a:prstGeom>
          <a:noFill/>
        </p:spPr>
        <p:txBody>
          <a:bodyPr wrap="square"/>
          <a:lstStyle/>
          <a:p>
            <a:pPr algn="r">
              <a:spcBef>
                <a:spcPts val="0"/>
              </a:spcBef>
              <a:spcAft>
                <a:spcPts val="0"/>
              </a:spcAft>
            </a:pPr>
            <a:r>
              <a:rPr sz="1000" b="0">
                <a:solidFill>
                  <a:srgbClr val="9CA3AF"/>
                </a:solidFill>
                <a:latin typeface="Inter"/>
              </a:rPr>
              <a:t>7 / 21</a:t>
            </a:r>
          </a:p>
        </p:txBody>
      </p:sp>
      <p:sp>
        <p:nvSpPr>
          <p:cNvPr id="7" name="Rounded Rectangle 6"/>
          <p:cNvSpPr/>
          <p:nvPr/>
        </p:nvSpPr>
        <p:spPr>
          <a:xfrm>
            <a:off x="411480" y="1417320"/>
            <a:ext cx="3657600" cy="224028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527048"/>
            <a:ext cx="3383280" cy="365760"/>
          </a:xfrm>
          <a:prstGeom prst="rect">
            <a:avLst/>
          </a:prstGeom>
          <a:noFill/>
        </p:spPr>
        <p:txBody>
          <a:bodyPr wrap="square"/>
          <a:lstStyle/>
          <a:p>
            <a:pPr algn="l">
              <a:spcBef>
                <a:spcPts val="0"/>
              </a:spcBef>
              <a:spcAft>
                <a:spcPts val="0"/>
              </a:spcAft>
            </a:pPr>
            <a:r>
              <a:rPr sz="1400" b="1">
                <a:solidFill>
                  <a:srgbClr val="2563EB"/>
                </a:solidFill>
                <a:latin typeface="Space Grotesk"/>
              </a:rPr>
              <a:t>  Inventory Intelligence
Dashboard</a:t>
            </a:r>
          </a:p>
        </p:txBody>
      </p:sp>
      <p:sp>
        <p:nvSpPr>
          <p:cNvPr id="9" name="TextBox 8"/>
          <p:cNvSpPr txBox="1"/>
          <p:nvPr/>
        </p:nvSpPr>
        <p:spPr>
          <a:xfrm>
            <a:off x="548640" y="1828800"/>
            <a:ext cx="3383280" cy="1737360"/>
          </a:xfrm>
          <a:prstGeom prst="rect">
            <a:avLst/>
          </a:prstGeom>
          <a:noFill/>
        </p:spPr>
        <p:txBody>
          <a:bodyPr wrap="square"/>
          <a:lstStyle/>
          <a:p>
            <a:pPr algn="l">
              <a:spcAft>
                <a:spcPts val="400"/>
              </a:spcAft>
            </a:pPr>
            <a:r>
              <a:rPr sz="1200" b="0">
                <a:solidFill>
                  <a:srgbClr val="111827"/>
                </a:solidFill>
                <a:latin typeface="Inter"/>
              </a:rPr>
              <a:t>    Company-wide inventory KPIs</a:t>
            </a:r>
          </a:p>
          <a:p>
            <a:pPr algn="l">
              <a:spcAft>
                <a:spcPts val="400"/>
              </a:spcAft>
            </a:pPr>
            <a:r>
              <a:rPr sz="1200" b="0">
                <a:solidFill>
                  <a:srgbClr val="111827"/>
                </a:solidFill>
                <a:latin typeface="Inter"/>
              </a:rPr>
              <a:t>    Outlet-level analytics</a:t>
            </a:r>
          </a:p>
          <a:p>
            <a:pPr algn="l">
              <a:spcAft>
                <a:spcPts val="400"/>
              </a:spcAft>
            </a:pPr>
            <a:r>
              <a:rPr sz="1200" b="0">
                <a:solidFill>
                  <a:srgbClr val="111827"/>
                </a:solidFill>
                <a:latin typeface="Inter"/>
              </a:rPr>
              <a:t>    Inventory health indicators</a:t>
            </a:r>
          </a:p>
          <a:p>
            <a:pPr algn="l">
              <a:spcAft>
                <a:spcPts val="400"/>
              </a:spcAft>
            </a:pPr>
            <a:r>
              <a:rPr sz="1200" b="0">
                <a:solidFill>
                  <a:srgbClr val="111827"/>
                </a:solidFill>
                <a:latin typeface="Inter"/>
              </a:rPr>
              <a:t>    Demand and inventory trends</a:t>
            </a:r>
          </a:p>
        </p:txBody>
      </p:sp>
      <p:sp>
        <p:nvSpPr>
          <p:cNvPr id="10" name="Rounded Rectangle 9"/>
          <p:cNvSpPr/>
          <p:nvPr/>
        </p:nvSpPr>
        <p:spPr>
          <a:xfrm>
            <a:off x="4270248" y="1417320"/>
            <a:ext cx="3657600" cy="224028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07408" y="1527048"/>
            <a:ext cx="3383280" cy="365760"/>
          </a:xfrm>
          <a:prstGeom prst="rect">
            <a:avLst/>
          </a:prstGeom>
          <a:noFill/>
        </p:spPr>
        <p:txBody>
          <a:bodyPr wrap="square"/>
          <a:lstStyle/>
          <a:p>
            <a:pPr algn="l">
              <a:spcBef>
                <a:spcPts val="0"/>
              </a:spcBef>
              <a:spcAft>
                <a:spcPts val="0"/>
              </a:spcAft>
            </a:pPr>
            <a:r>
              <a:rPr sz="1400" b="1">
                <a:solidFill>
                  <a:srgbClr val="14B8A6"/>
                </a:solidFill>
                <a:latin typeface="Space Grotesk"/>
              </a:rPr>
              <a:t>  Multi-Model
Forecasting</a:t>
            </a:r>
          </a:p>
        </p:txBody>
      </p:sp>
      <p:sp>
        <p:nvSpPr>
          <p:cNvPr id="12" name="TextBox 11"/>
          <p:cNvSpPr txBox="1"/>
          <p:nvPr/>
        </p:nvSpPr>
        <p:spPr>
          <a:xfrm>
            <a:off x="4407408" y="1828800"/>
            <a:ext cx="3383280" cy="1737360"/>
          </a:xfrm>
          <a:prstGeom prst="rect">
            <a:avLst/>
          </a:prstGeom>
          <a:noFill/>
        </p:spPr>
        <p:txBody>
          <a:bodyPr wrap="square"/>
          <a:lstStyle/>
          <a:p>
            <a:pPr algn="l">
              <a:spcAft>
                <a:spcPts val="400"/>
              </a:spcAft>
            </a:pPr>
            <a:r>
              <a:rPr sz="1200" b="0">
                <a:solidFill>
                  <a:srgbClr val="111827"/>
                </a:solidFill>
                <a:latin typeface="Inter"/>
              </a:rPr>
              <a:t>    Simple Moving Average</a:t>
            </a:r>
          </a:p>
          <a:p>
            <a:pPr algn="l">
              <a:spcAft>
                <a:spcPts val="400"/>
              </a:spcAft>
            </a:pPr>
            <a:r>
              <a:rPr sz="1200" b="0">
                <a:solidFill>
                  <a:srgbClr val="111827"/>
                </a:solidFill>
                <a:latin typeface="Inter"/>
              </a:rPr>
              <a:t>    Holt-Winters</a:t>
            </a:r>
          </a:p>
          <a:p>
            <a:pPr algn="l">
              <a:spcAft>
                <a:spcPts val="400"/>
              </a:spcAft>
            </a:pPr>
            <a:r>
              <a:rPr sz="1200" b="0">
                <a:solidFill>
                  <a:srgbClr val="111827"/>
                </a:solidFill>
                <a:latin typeface="Inter"/>
              </a:rPr>
              <a:t>    ARIMA</a:t>
            </a:r>
          </a:p>
          <a:p>
            <a:pPr algn="l">
              <a:spcAft>
                <a:spcPts val="400"/>
              </a:spcAft>
            </a:pPr>
            <a:r>
              <a:rPr sz="1200" b="0">
                <a:solidFill>
                  <a:srgbClr val="111827"/>
                </a:solidFill>
                <a:latin typeface="Inter"/>
              </a:rPr>
              <a:t>    XGBoost</a:t>
            </a:r>
          </a:p>
        </p:txBody>
      </p:sp>
      <p:sp>
        <p:nvSpPr>
          <p:cNvPr id="13" name="Rounded Rectangle 12"/>
          <p:cNvSpPr/>
          <p:nvPr/>
        </p:nvSpPr>
        <p:spPr>
          <a:xfrm>
            <a:off x="8129016" y="1417320"/>
            <a:ext cx="3657600" cy="224028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66176" y="1527048"/>
            <a:ext cx="3383280" cy="365760"/>
          </a:xfrm>
          <a:prstGeom prst="rect">
            <a:avLst/>
          </a:prstGeom>
          <a:noFill/>
        </p:spPr>
        <p:txBody>
          <a:bodyPr wrap="square"/>
          <a:lstStyle/>
          <a:p>
            <a:pPr algn="l">
              <a:spcBef>
                <a:spcPts val="0"/>
              </a:spcBef>
              <a:spcAft>
                <a:spcPts val="0"/>
              </a:spcAft>
            </a:pPr>
            <a:r>
              <a:rPr sz="1400" b="1">
                <a:solidFill>
                  <a:srgbClr val="2563EB"/>
                </a:solidFill>
                <a:latin typeface="Space Grotesk"/>
              </a:rPr>
              <a:t>  Inventory
Optimization</a:t>
            </a:r>
          </a:p>
        </p:txBody>
      </p:sp>
      <p:sp>
        <p:nvSpPr>
          <p:cNvPr id="15" name="TextBox 14"/>
          <p:cNvSpPr txBox="1"/>
          <p:nvPr/>
        </p:nvSpPr>
        <p:spPr>
          <a:xfrm>
            <a:off x="8266176" y="1828800"/>
            <a:ext cx="3383280" cy="1737360"/>
          </a:xfrm>
          <a:prstGeom prst="rect">
            <a:avLst/>
          </a:prstGeom>
          <a:noFill/>
        </p:spPr>
        <p:txBody>
          <a:bodyPr wrap="square"/>
          <a:lstStyle/>
          <a:p>
            <a:pPr algn="l">
              <a:spcAft>
                <a:spcPts val="400"/>
              </a:spcAft>
            </a:pPr>
            <a:r>
              <a:rPr sz="1200" b="0">
                <a:solidFill>
                  <a:srgbClr val="111827"/>
                </a:solidFill>
                <a:latin typeface="Inter"/>
              </a:rPr>
              <a:t>    Safety stock</a:t>
            </a:r>
          </a:p>
          <a:p>
            <a:pPr algn="l">
              <a:spcAft>
                <a:spcPts val="400"/>
              </a:spcAft>
            </a:pPr>
            <a:r>
              <a:rPr sz="1200" b="0">
                <a:solidFill>
                  <a:srgbClr val="111827"/>
                </a:solidFill>
                <a:latin typeface="Inter"/>
              </a:rPr>
              <a:t>    Reorder point</a:t>
            </a:r>
          </a:p>
          <a:p>
            <a:pPr algn="l">
              <a:spcAft>
                <a:spcPts val="400"/>
              </a:spcAft>
            </a:pPr>
            <a:r>
              <a:rPr sz="1200" b="0">
                <a:solidFill>
                  <a:srgbClr val="111827"/>
                </a:solidFill>
                <a:latin typeface="Inter"/>
              </a:rPr>
              <a:t>    Days of stock</a:t>
            </a:r>
          </a:p>
          <a:p>
            <a:pPr algn="l">
              <a:spcAft>
                <a:spcPts val="400"/>
              </a:spcAft>
            </a:pPr>
            <a:r>
              <a:rPr sz="1200" b="0">
                <a:solidFill>
                  <a:srgbClr val="111827"/>
                </a:solidFill>
                <a:latin typeface="Inter"/>
              </a:rPr>
              <a:t>    Replenishment quantity</a:t>
            </a:r>
          </a:p>
          <a:p>
            <a:pPr algn="l">
              <a:spcAft>
                <a:spcPts val="400"/>
              </a:spcAft>
            </a:pPr>
            <a:r>
              <a:rPr sz="1200" b="0">
                <a:solidFill>
                  <a:srgbClr val="111827"/>
                </a:solidFill>
                <a:latin typeface="Inter"/>
              </a:rPr>
              <a:t>    EOQ where applicable</a:t>
            </a:r>
          </a:p>
        </p:txBody>
      </p:sp>
      <p:sp>
        <p:nvSpPr>
          <p:cNvPr id="16" name="Rounded Rectangle 15"/>
          <p:cNvSpPr/>
          <p:nvPr/>
        </p:nvSpPr>
        <p:spPr>
          <a:xfrm>
            <a:off x="411480" y="3840480"/>
            <a:ext cx="3657600" cy="224028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950208"/>
            <a:ext cx="3383280" cy="365760"/>
          </a:xfrm>
          <a:prstGeom prst="rect">
            <a:avLst/>
          </a:prstGeom>
          <a:noFill/>
        </p:spPr>
        <p:txBody>
          <a:bodyPr wrap="square"/>
          <a:lstStyle/>
          <a:p>
            <a:pPr algn="l">
              <a:spcBef>
                <a:spcPts val="0"/>
              </a:spcBef>
              <a:spcAft>
                <a:spcPts val="0"/>
              </a:spcAft>
            </a:pPr>
            <a:r>
              <a:rPr sz="1400" b="1">
                <a:solidFill>
                  <a:srgbClr val="10B981"/>
                </a:solidFill>
                <a:latin typeface="Space Grotesk"/>
              </a:rPr>
              <a:t>  Intelligent
Recommendations</a:t>
            </a:r>
          </a:p>
        </p:txBody>
      </p:sp>
      <p:sp>
        <p:nvSpPr>
          <p:cNvPr id="18" name="TextBox 17"/>
          <p:cNvSpPr txBox="1"/>
          <p:nvPr/>
        </p:nvSpPr>
        <p:spPr>
          <a:xfrm>
            <a:off x="548640" y="4251960"/>
            <a:ext cx="3383280" cy="1737360"/>
          </a:xfrm>
          <a:prstGeom prst="rect">
            <a:avLst/>
          </a:prstGeom>
          <a:noFill/>
        </p:spPr>
        <p:txBody>
          <a:bodyPr wrap="square"/>
          <a:lstStyle/>
          <a:p>
            <a:pPr algn="l">
              <a:spcAft>
                <a:spcPts val="400"/>
              </a:spcAft>
            </a:pPr>
            <a:r>
              <a:rPr sz="1200" b="0">
                <a:solidFill>
                  <a:srgbClr val="111827"/>
                </a:solidFill>
                <a:latin typeface="Inter"/>
              </a:rPr>
              <a:t>    Stockout prevention</a:t>
            </a:r>
          </a:p>
          <a:p>
            <a:pPr algn="l">
              <a:spcAft>
                <a:spcPts val="400"/>
              </a:spcAft>
            </a:pPr>
            <a:r>
              <a:rPr sz="1200" b="0">
                <a:solidFill>
                  <a:srgbClr val="111827"/>
                </a:solidFill>
                <a:latin typeface="Inter"/>
              </a:rPr>
              <a:t>    Low-stock actions</a:t>
            </a:r>
          </a:p>
          <a:p>
            <a:pPr algn="l">
              <a:spcAft>
                <a:spcPts val="400"/>
              </a:spcAft>
            </a:pPr>
            <a:r>
              <a:rPr sz="1200" b="0">
                <a:solidFill>
                  <a:srgbClr val="111827"/>
                </a:solidFill>
                <a:latin typeface="Inter"/>
              </a:rPr>
              <a:t>    Overstock identification</a:t>
            </a:r>
          </a:p>
          <a:p>
            <a:pPr algn="l">
              <a:spcAft>
                <a:spcPts val="400"/>
              </a:spcAft>
            </a:pPr>
            <a:r>
              <a:rPr sz="1200" b="0">
                <a:solidFill>
                  <a:srgbClr val="111827"/>
                </a:solidFill>
                <a:latin typeface="Inter"/>
              </a:rPr>
              <a:t>    Prioritized recommendations</a:t>
            </a:r>
          </a:p>
        </p:txBody>
      </p:sp>
      <p:sp>
        <p:nvSpPr>
          <p:cNvPr id="19" name="Rounded Rectangle 18"/>
          <p:cNvSpPr/>
          <p:nvPr/>
        </p:nvSpPr>
        <p:spPr>
          <a:xfrm>
            <a:off x="4270248" y="3840480"/>
            <a:ext cx="3657600" cy="224028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07408" y="3950208"/>
            <a:ext cx="3383280" cy="365760"/>
          </a:xfrm>
          <a:prstGeom prst="rect">
            <a:avLst/>
          </a:prstGeom>
          <a:noFill/>
        </p:spPr>
        <p:txBody>
          <a:bodyPr wrap="square"/>
          <a:lstStyle/>
          <a:p>
            <a:pPr algn="l">
              <a:spcBef>
                <a:spcPts val="0"/>
              </a:spcBef>
              <a:spcAft>
                <a:spcPts val="0"/>
              </a:spcAft>
            </a:pPr>
            <a:r>
              <a:rPr sz="1400" b="1">
                <a:solidFill>
                  <a:srgbClr val="F59E0B"/>
                </a:solidFill>
                <a:latin typeface="Space Grotesk"/>
              </a:rPr>
              <a:t>  Multi-Outlet
Transfer Intelligence</a:t>
            </a:r>
          </a:p>
        </p:txBody>
      </p:sp>
      <p:sp>
        <p:nvSpPr>
          <p:cNvPr id="21" name="TextBox 20"/>
          <p:cNvSpPr txBox="1"/>
          <p:nvPr/>
        </p:nvSpPr>
        <p:spPr>
          <a:xfrm>
            <a:off x="4407408" y="4251960"/>
            <a:ext cx="3383280" cy="1737360"/>
          </a:xfrm>
          <a:prstGeom prst="rect">
            <a:avLst/>
          </a:prstGeom>
          <a:noFill/>
        </p:spPr>
        <p:txBody>
          <a:bodyPr wrap="square"/>
          <a:lstStyle/>
          <a:p>
            <a:pPr algn="l">
              <a:spcAft>
                <a:spcPts val="400"/>
              </a:spcAft>
            </a:pPr>
            <a:r>
              <a:rPr sz="1200" b="0">
                <a:solidFill>
                  <a:srgbClr val="111827"/>
                </a:solidFill>
                <a:latin typeface="Inter"/>
              </a:rPr>
              <a:t>    Surplus outlet detection</a:t>
            </a:r>
          </a:p>
          <a:p>
            <a:pPr algn="l">
              <a:spcAft>
                <a:spcPts val="400"/>
              </a:spcAft>
            </a:pPr>
            <a:r>
              <a:rPr sz="1200" b="0">
                <a:solidFill>
                  <a:srgbClr val="111827"/>
                </a:solidFill>
                <a:latin typeface="Inter"/>
              </a:rPr>
              <a:t>    Shortage outlet detection</a:t>
            </a:r>
          </a:p>
          <a:p>
            <a:pPr algn="l">
              <a:spcAft>
                <a:spcPts val="400"/>
              </a:spcAft>
            </a:pPr>
            <a:r>
              <a:rPr sz="1200" b="0">
                <a:solidFill>
                  <a:srgbClr val="111827"/>
                </a:solidFill>
                <a:latin typeface="Inter"/>
              </a:rPr>
              <a:t>    Potential transfer opportunities</a:t>
            </a:r>
          </a:p>
        </p:txBody>
      </p:sp>
      <p:sp>
        <p:nvSpPr>
          <p:cNvPr id="22" name="Rounded Rectangle 21"/>
          <p:cNvSpPr/>
          <p:nvPr/>
        </p:nvSpPr>
        <p:spPr>
          <a:xfrm>
            <a:off x="8129016" y="3840480"/>
            <a:ext cx="3657600" cy="224028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66176" y="3950208"/>
            <a:ext cx="3383280" cy="365760"/>
          </a:xfrm>
          <a:prstGeom prst="rect">
            <a:avLst/>
          </a:prstGeom>
          <a:noFill/>
        </p:spPr>
        <p:txBody>
          <a:bodyPr wrap="square"/>
          <a:lstStyle/>
          <a:p>
            <a:pPr algn="l">
              <a:spcBef>
                <a:spcPts val="0"/>
              </a:spcBef>
              <a:spcAft>
                <a:spcPts val="0"/>
              </a:spcAft>
            </a:pPr>
            <a:r>
              <a:rPr sz="1400" b="1">
                <a:solidFill>
                  <a:srgbClr val="14B8A6"/>
                </a:solidFill>
                <a:latin typeface="Space Grotesk"/>
              </a:rPr>
              <a:t>  Product &amp;
Outlet Views</a:t>
            </a:r>
          </a:p>
        </p:txBody>
      </p:sp>
      <p:sp>
        <p:nvSpPr>
          <p:cNvPr id="24" name="TextBox 23"/>
          <p:cNvSpPr txBox="1"/>
          <p:nvPr/>
        </p:nvSpPr>
        <p:spPr>
          <a:xfrm>
            <a:off x="8266176" y="4251960"/>
            <a:ext cx="3383280" cy="1737360"/>
          </a:xfrm>
          <a:prstGeom prst="rect">
            <a:avLst/>
          </a:prstGeom>
          <a:noFill/>
        </p:spPr>
        <p:txBody>
          <a:bodyPr wrap="square"/>
          <a:lstStyle/>
          <a:p>
            <a:pPr algn="l">
              <a:spcAft>
                <a:spcPts val="400"/>
              </a:spcAft>
            </a:pPr>
            <a:r>
              <a:rPr sz="1200" b="0">
                <a:solidFill>
                  <a:srgbClr val="111827"/>
                </a:solidFill>
                <a:latin typeface="Inter"/>
              </a:rPr>
              <a:t>    Product-level analysis</a:t>
            </a:r>
          </a:p>
          <a:p>
            <a:pPr algn="l">
              <a:spcAft>
                <a:spcPts val="400"/>
              </a:spcAft>
            </a:pPr>
            <a:r>
              <a:rPr sz="1200" b="0">
                <a:solidFill>
                  <a:srgbClr val="111827"/>
                </a:solidFill>
                <a:latin typeface="Inter"/>
              </a:rPr>
              <a:t>    Outlet-level analysis</a:t>
            </a:r>
          </a:p>
          <a:p>
            <a:pPr algn="l">
              <a:spcAft>
                <a:spcPts val="400"/>
              </a:spcAft>
            </a:pPr>
            <a:r>
              <a:rPr sz="1200" b="0">
                <a:solidFill>
                  <a:srgbClr val="111827"/>
                </a:solidFill>
                <a:latin typeface="Inter"/>
              </a:rPr>
              <a:t>    Searchable &amp; filterable data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AFB"/>
        </a:solidFill>
        <a:effectLst/>
      </p:bgPr>
    </p:bg>
    <p:spTree>
      <p:nvGrpSpPr>
        <p:cNvPr id="1" name=""/>
        <p:cNvGrpSpPr/>
        <p:nvPr/>
      </p:nvGrpSpPr>
      <p:grpSpPr/>
      <p:sp>
        <p:nvSpPr>
          <p:cNvPr id="2" name="Rounded Rectangle 1"/>
          <p:cNvSpPr/>
          <p:nvPr/>
        </p:nvSpPr>
        <p:spPr>
          <a:xfrm>
            <a:off x="0" y="0"/>
            <a:ext cx="12191695" cy="10515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515600" cy="548640"/>
          </a:xfrm>
          <a:prstGeom prst="rect">
            <a:avLst/>
          </a:prstGeom>
          <a:noFill/>
        </p:spPr>
        <p:txBody>
          <a:bodyPr wrap="square"/>
          <a:lstStyle/>
          <a:p>
            <a:pPr algn="l">
              <a:spcBef>
                <a:spcPts val="0"/>
              </a:spcBef>
              <a:spcAft>
                <a:spcPts val="0"/>
              </a:spcAft>
            </a:pPr>
            <a:r>
              <a:rPr sz="3000" b="1">
                <a:solidFill>
                  <a:srgbClr val="FFFFFF"/>
                </a:solidFill>
                <a:latin typeface="Space Grotesk"/>
              </a:rPr>
              <a:t>Demand Forecasting Engine</a:t>
            </a:r>
          </a:p>
        </p:txBody>
      </p:sp>
      <p:pic>
        <p:nvPicPr>
          <p:cNvPr id="4" name="Picture 3" descr="443732266_1006349624830063_6095867571651137613_n-removebg-preview.png"/>
          <p:cNvPicPr>
            <a:picLocks noChangeAspect="1"/>
          </p:cNvPicPr>
          <p:nvPr/>
        </p:nvPicPr>
        <p:blipFill>
          <a:blip r:embed="rId2"/>
          <a:stretch>
            <a:fillRect/>
          </a:stretch>
        </p:blipFill>
        <p:spPr>
          <a:xfrm>
            <a:off x="11094415" y="137160"/>
            <a:ext cx="868680" cy="868680"/>
          </a:xfrm>
          <a:prstGeom prst="rect">
            <a:avLst/>
          </a:prstGeom>
        </p:spPr>
      </p:pic>
      <p:sp>
        <p:nvSpPr>
          <p:cNvPr id="5" name="Rounded Rectangle 4"/>
          <p:cNvSpPr/>
          <p:nvPr/>
        </p:nvSpPr>
        <p:spPr>
          <a:xfrm>
            <a:off x="0" y="6675120"/>
            <a:ext cx="12191695" cy="18288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0" y="6446520"/>
            <a:ext cx="822960" cy="274320"/>
          </a:xfrm>
          <a:prstGeom prst="rect">
            <a:avLst/>
          </a:prstGeom>
          <a:noFill/>
        </p:spPr>
        <p:txBody>
          <a:bodyPr wrap="square"/>
          <a:lstStyle/>
          <a:p>
            <a:pPr algn="r">
              <a:spcBef>
                <a:spcPts val="0"/>
              </a:spcBef>
              <a:spcAft>
                <a:spcPts val="0"/>
              </a:spcAft>
            </a:pPr>
            <a:r>
              <a:rPr sz="1000" b="0">
                <a:solidFill>
                  <a:srgbClr val="9CA3AF"/>
                </a:solidFill>
                <a:latin typeface="Inter"/>
              </a:rPr>
              <a:t>8 / 21</a:t>
            </a:r>
          </a:p>
        </p:txBody>
      </p:sp>
      <p:sp>
        <p:nvSpPr>
          <p:cNvPr id="7" name="Rounded Rectangle 6"/>
          <p:cNvSpPr/>
          <p:nvPr/>
        </p:nvSpPr>
        <p:spPr>
          <a:xfrm>
            <a:off x="457200" y="1554480"/>
            <a:ext cx="2560320" cy="1828800"/>
          </a:xfrm>
          <a:prstGeom prst="roundRect">
            <a:avLst/>
          </a:prstGeom>
          <a:solidFill>
            <a:srgbClr val="FFFF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57200" y="1554480"/>
            <a:ext cx="2560320" cy="635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691640"/>
            <a:ext cx="2286000" cy="320040"/>
          </a:xfrm>
          <a:prstGeom prst="rect">
            <a:avLst/>
          </a:prstGeom>
          <a:noFill/>
        </p:spPr>
        <p:txBody>
          <a:bodyPr wrap="square"/>
          <a:lstStyle/>
          <a:p>
            <a:pPr algn="ctr">
              <a:spcBef>
                <a:spcPts val="0"/>
              </a:spcBef>
              <a:spcAft>
                <a:spcPts val="0"/>
              </a:spcAft>
            </a:pPr>
            <a:r>
              <a:rPr sz="1800" b="1">
                <a:solidFill>
                  <a:srgbClr val="2563EB"/>
                </a:solidFill>
                <a:latin typeface="Space Grotesk"/>
              </a:rPr>
              <a:t>SMA</a:t>
            </a:r>
          </a:p>
        </p:txBody>
      </p:sp>
      <p:sp>
        <p:nvSpPr>
          <p:cNvPr id="10" name="TextBox 9"/>
          <p:cNvSpPr txBox="1"/>
          <p:nvPr/>
        </p:nvSpPr>
        <p:spPr>
          <a:xfrm>
            <a:off x="594360" y="2057400"/>
            <a:ext cx="2286000" cy="548640"/>
          </a:xfrm>
          <a:prstGeom prst="rect">
            <a:avLst/>
          </a:prstGeom>
          <a:noFill/>
        </p:spPr>
        <p:txBody>
          <a:bodyPr wrap="square"/>
          <a:lstStyle/>
          <a:p>
            <a:pPr algn="ctr">
              <a:spcBef>
                <a:spcPts val="0"/>
              </a:spcBef>
              <a:spcAft>
                <a:spcPts val="0"/>
              </a:spcAft>
            </a:pPr>
            <a:r>
              <a:rPr sz="1200" b="1">
                <a:solidFill>
                  <a:srgbClr val="111827"/>
                </a:solidFill>
                <a:latin typeface="Inter"/>
              </a:rPr>
              <a:t>Simple Moving
Average</a:t>
            </a:r>
          </a:p>
        </p:txBody>
      </p:sp>
      <p:sp>
        <p:nvSpPr>
          <p:cNvPr id="11" name="TextBox 10"/>
          <p:cNvSpPr txBox="1"/>
          <p:nvPr/>
        </p:nvSpPr>
        <p:spPr>
          <a:xfrm>
            <a:off x="594360" y="2651760"/>
            <a:ext cx="2286000" cy="640080"/>
          </a:xfrm>
          <a:prstGeom prst="rect">
            <a:avLst/>
          </a:prstGeom>
          <a:noFill/>
        </p:spPr>
        <p:txBody>
          <a:bodyPr wrap="square"/>
          <a:lstStyle/>
          <a:p>
            <a:pPr algn="ctr">
              <a:spcBef>
                <a:spcPts val="0"/>
              </a:spcBef>
              <a:spcAft>
                <a:spcPts val="0"/>
              </a:spcAft>
            </a:pPr>
            <a:r>
              <a:rPr sz="1100" b="0">
                <a:solidFill>
                  <a:srgbClr val="9CA3AF"/>
                </a:solidFill>
                <a:latin typeface="Inter"/>
              </a:rPr>
              <a:t>Recent historical
demand estimation</a:t>
            </a:r>
          </a:p>
        </p:txBody>
      </p:sp>
      <p:sp>
        <p:nvSpPr>
          <p:cNvPr id="12" name="Rounded Rectangle 11"/>
          <p:cNvSpPr/>
          <p:nvPr/>
        </p:nvSpPr>
        <p:spPr>
          <a:xfrm>
            <a:off x="3337560" y="1554480"/>
            <a:ext cx="2560320" cy="1828800"/>
          </a:xfrm>
          <a:prstGeom prst="roundRect">
            <a:avLst/>
          </a:prstGeom>
          <a:solidFill>
            <a:srgbClr val="FFFF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37560" y="1554480"/>
            <a:ext cx="2560320" cy="635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74720" y="1691640"/>
            <a:ext cx="2286000" cy="320040"/>
          </a:xfrm>
          <a:prstGeom prst="rect">
            <a:avLst/>
          </a:prstGeom>
          <a:noFill/>
        </p:spPr>
        <p:txBody>
          <a:bodyPr wrap="square"/>
          <a:lstStyle/>
          <a:p>
            <a:pPr algn="ctr">
              <a:spcBef>
                <a:spcPts val="0"/>
              </a:spcBef>
              <a:spcAft>
                <a:spcPts val="0"/>
              </a:spcAft>
            </a:pPr>
            <a:r>
              <a:rPr sz="1800" b="1">
                <a:solidFill>
                  <a:srgbClr val="2563EB"/>
                </a:solidFill>
                <a:latin typeface="Space Grotesk"/>
              </a:rPr>
              <a:t>Holt-Winters</a:t>
            </a:r>
          </a:p>
        </p:txBody>
      </p:sp>
      <p:sp>
        <p:nvSpPr>
          <p:cNvPr id="15" name="TextBox 14"/>
          <p:cNvSpPr txBox="1"/>
          <p:nvPr/>
        </p:nvSpPr>
        <p:spPr>
          <a:xfrm>
            <a:off x="3474720" y="2057400"/>
            <a:ext cx="2286000" cy="548640"/>
          </a:xfrm>
          <a:prstGeom prst="rect">
            <a:avLst/>
          </a:prstGeom>
          <a:noFill/>
        </p:spPr>
        <p:txBody>
          <a:bodyPr wrap="square"/>
          <a:lstStyle/>
          <a:p>
            <a:pPr algn="ctr">
              <a:spcBef>
                <a:spcPts val="0"/>
              </a:spcBef>
              <a:spcAft>
                <a:spcPts val="0"/>
              </a:spcAft>
            </a:pPr>
            <a:r>
              <a:rPr sz="1200" b="1">
                <a:solidFill>
                  <a:srgbClr val="111827"/>
                </a:solidFill>
                <a:latin typeface="Inter"/>
              </a:rPr>
              <a:t>Level + Trend
+ Seasonality</a:t>
            </a:r>
          </a:p>
        </p:txBody>
      </p:sp>
      <p:sp>
        <p:nvSpPr>
          <p:cNvPr id="16" name="TextBox 15"/>
          <p:cNvSpPr txBox="1"/>
          <p:nvPr/>
        </p:nvSpPr>
        <p:spPr>
          <a:xfrm>
            <a:off x="3474720" y="2651760"/>
            <a:ext cx="2286000" cy="640080"/>
          </a:xfrm>
          <a:prstGeom prst="rect">
            <a:avLst/>
          </a:prstGeom>
          <a:noFill/>
        </p:spPr>
        <p:txBody>
          <a:bodyPr wrap="square"/>
          <a:lstStyle/>
          <a:p>
            <a:pPr algn="ctr">
              <a:spcBef>
                <a:spcPts val="0"/>
              </a:spcBef>
              <a:spcAft>
                <a:spcPts val="0"/>
              </a:spcAft>
            </a:pPr>
            <a:r>
              <a:rPr sz="1100" b="0">
                <a:solidFill>
                  <a:srgbClr val="9CA3AF"/>
                </a:solidFill>
                <a:latin typeface="Inter"/>
              </a:rPr>
              <a:t>Captures seasonal
patterns</a:t>
            </a:r>
          </a:p>
        </p:txBody>
      </p:sp>
      <p:sp>
        <p:nvSpPr>
          <p:cNvPr id="17" name="Rounded Rectangle 16"/>
          <p:cNvSpPr/>
          <p:nvPr/>
        </p:nvSpPr>
        <p:spPr>
          <a:xfrm>
            <a:off x="6217920" y="1554480"/>
            <a:ext cx="2560320" cy="1828800"/>
          </a:xfrm>
          <a:prstGeom prst="roundRect">
            <a:avLst/>
          </a:prstGeom>
          <a:solidFill>
            <a:srgbClr val="FFFFFF"/>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217920" y="1554480"/>
            <a:ext cx="2560320" cy="6350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80" y="1691640"/>
            <a:ext cx="2286000" cy="320040"/>
          </a:xfrm>
          <a:prstGeom prst="rect">
            <a:avLst/>
          </a:prstGeom>
          <a:noFill/>
        </p:spPr>
        <p:txBody>
          <a:bodyPr wrap="square"/>
          <a:lstStyle/>
          <a:p>
            <a:pPr algn="ctr">
              <a:spcBef>
                <a:spcPts val="0"/>
              </a:spcBef>
              <a:spcAft>
                <a:spcPts val="0"/>
              </a:spcAft>
            </a:pPr>
            <a:r>
              <a:rPr sz="1800" b="1">
                <a:solidFill>
                  <a:srgbClr val="14B8A6"/>
                </a:solidFill>
                <a:latin typeface="Space Grotesk"/>
              </a:rPr>
              <a:t>ARIMA</a:t>
            </a:r>
          </a:p>
        </p:txBody>
      </p:sp>
      <p:sp>
        <p:nvSpPr>
          <p:cNvPr id="20" name="TextBox 19"/>
          <p:cNvSpPr txBox="1"/>
          <p:nvPr/>
        </p:nvSpPr>
        <p:spPr>
          <a:xfrm>
            <a:off x="6355080" y="2057400"/>
            <a:ext cx="2286000" cy="548640"/>
          </a:xfrm>
          <a:prstGeom prst="rect">
            <a:avLst/>
          </a:prstGeom>
          <a:noFill/>
        </p:spPr>
        <p:txBody>
          <a:bodyPr wrap="square"/>
          <a:lstStyle/>
          <a:p>
            <a:pPr algn="ctr">
              <a:spcBef>
                <a:spcPts val="0"/>
              </a:spcBef>
              <a:spcAft>
                <a:spcPts val="0"/>
              </a:spcAft>
            </a:pPr>
            <a:r>
              <a:rPr sz="1200" b="1">
                <a:solidFill>
                  <a:srgbClr val="111827"/>
                </a:solidFill>
                <a:latin typeface="Inter"/>
              </a:rPr>
              <a:t>Autoregressive +
Moving Average</a:t>
            </a:r>
          </a:p>
        </p:txBody>
      </p:sp>
      <p:sp>
        <p:nvSpPr>
          <p:cNvPr id="21" name="TextBox 20"/>
          <p:cNvSpPr txBox="1"/>
          <p:nvPr/>
        </p:nvSpPr>
        <p:spPr>
          <a:xfrm>
            <a:off x="6355080" y="2651760"/>
            <a:ext cx="2286000" cy="640080"/>
          </a:xfrm>
          <a:prstGeom prst="rect">
            <a:avLst/>
          </a:prstGeom>
          <a:noFill/>
        </p:spPr>
        <p:txBody>
          <a:bodyPr wrap="square"/>
          <a:lstStyle/>
          <a:p>
            <a:pPr algn="ctr">
              <a:spcBef>
                <a:spcPts val="0"/>
              </a:spcBef>
              <a:spcAft>
                <a:spcPts val="0"/>
              </a:spcAft>
            </a:pPr>
            <a:r>
              <a:rPr sz="1100" b="0">
                <a:solidFill>
                  <a:srgbClr val="9CA3AF"/>
                </a:solidFill>
                <a:latin typeface="Inter"/>
              </a:rPr>
              <a:t>Time-series
dependency modeling</a:t>
            </a:r>
          </a:p>
        </p:txBody>
      </p:sp>
      <p:sp>
        <p:nvSpPr>
          <p:cNvPr id="22" name="Rounded Rectangle 21"/>
          <p:cNvSpPr/>
          <p:nvPr/>
        </p:nvSpPr>
        <p:spPr>
          <a:xfrm>
            <a:off x="9098280" y="1554480"/>
            <a:ext cx="2560320" cy="1828800"/>
          </a:xfrm>
          <a:prstGeom prst="roundRect">
            <a:avLst/>
          </a:prstGeom>
          <a:solidFill>
            <a:srgbClr val="FFFFFF"/>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098280" y="1554480"/>
            <a:ext cx="2560320" cy="6350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35440" y="1691640"/>
            <a:ext cx="2286000" cy="320040"/>
          </a:xfrm>
          <a:prstGeom prst="rect">
            <a:avLst/>
          </a:prstGeom>
          <a:noFill/>
        </p:spPr>
        <p:txBody>
          <a:bodyPr wrap="square"/>
          <a:lstStyle/>
          <a:p>
            <a:pPr algn="ctr">
              <a:spcBef>
                <a:spcPts val="0"/>
              </a:spcBef>
              <a:spcAft>
                <a:spcPts val="0"/>
              </a:spcAft>
            </a:pPr>
            <a:r>
              <a:rPr sz="1800" b="1">
                <a:solidFill>
                  <a:srgbClr val="14B8A6"/>
                </a:solidFill>
                <a:latin typeface="Space Grotesk"/>
              </a:rPr>
              <a:t>XGBoost</a:t>
            </a:r>
          </a:p>
        </p:txBody>
      </p:sp>
      <p:sp>
        <p:nvSpPr>
          <p:cNvPr id="25" name="TextBox 24"/>
          <p:cNvSpPr txBox="1"/>
          <p:nvPr/>
        </p:nvSpPr>
        <p:spPr>
          <a:xfrm>
            <a:off x="9235440" y="2057400"/>
            <a:ext cx="2286000" cy="548640"/>
          </a:xfrm>
          <a:prstGeom prst="rect">
            <a:avLst/>
          </a:prstGeom>
          <a:noFill/>
        </p:spPr>
        <p:txBody>
          <a:bodyPr wrap="square"/>
          <a:lstStyle/>
          <a:p>
            <a:pPr algn="ctr">
              <a:spcBef>
                <a:spcPts val="0"/>
              </a:spcBef>
              <a:spcAft>
                <a:spcPts val="0"/>
              </a:spcAft>
            </a:pPr>
            <a:r>
              <a:rPr sz="1200" b="1">
                <a:solidFill>
                  <a:srgbClr val="111827"/>
                </a:solidFill>
                <a:latin typeface="Inter"/>
              </a:rPr>
              <a:t>Gradient Boosted
Trees</a:t>
            </a:r>
          </a:p>
        </p:txBody>
      </p:sp>
      <p:sp>
        <p:nvSpPr>
          <p:cNvPr id="26" name="TextBox 25"/>
          <p:cNvSpPr txBox="1"/>
          <p:nvPr/>
        </p:nvSpPr>
        <p:spPr>
          <a:xfrm>
            <a:off x="9235440" y="2651760"/>
            <a:ext cx="2286000" cy="640080"/>
          </a:xfrm>
          <a:prstGeom prst="rect">
            <a:avLst/>
          </a:prstGeom>
          <a:noFill/>
        </p:spPr>
        <p:txBody>
          <a:bodyPr wrap="square"/>
          <a:lstStyle/>
          <a:p>
            <a:pPr algn="ctr">
              <a:spcBef>
                <a:spcPts val="0"/>
              </a:spcBef>
              <a:spcAft>
                <a:spcPts val="0"/>
              </a:spcAft>
            </a:pPr>
            <a:r>
              <a:rPr sz="1100" b="0">
                <a:solidFill>
                  <a:srgbClr val="9CA3AF"/>
                </a:solidFill>
                <a:latin typeface="Inter"/>
              </a:rPr>
              <a:t>Nonlinear feature-
based modeling</a:t>
            </a:r>
          </a:p>
        </p:txBody>
      </p:sp>
      <p:sp>
        <p:nvSpPr>
          <p:cNvPr id="27" name="TextBox 26"/>
          <p:cNvSpPr txBox="1"/>
          <p:nvPr/>
        </p:nvSpPr>
        <p:spPr>
          <a:xfrm>
            <a:off x="1600200" y="3474720"/>
            <a:ext cx="274320" cy="274320"/>
          </a:xfrm>
          <a:prstGeom prst="rect">
            <a:avLst/>
          </a:prstGeom>
          <a:noFill/>
        </p:spPr>
        <p:txBody>
          <a:bodyPr wrap="square"/>
          <a:lstStyle/>
          <a:p>
            <a:pPr algn="ctr">
              <a:spcBef>
                <a:spcPts val="0"/>
              </a:spcBef>
              <a:spcAft>
                <a:spcPts val="0"/>
              </a:spcAft>
            </a:pPr>
            <a:r>
              <a:rPr sz="1600" b="1">
                <a:solidFill>
                  <a:srgbClr val="2563EB"/>
                </a:solidFill>
                <a:latin typeface="Inter"/>
              </a:rPr>
              <a:t>▼</a:t>
            </a:r>
          </a:p>
        </p:txBody>
      </p:sp>
      <p:sp>
        <p:nvSpPr>
          <p:cNvPr id="28" name="TextBox 27"/>
          <p:cNvSpPr txBox="1"/>
          <p:nvPr/>
        </p:nvSpPr>
        <p:spPr>
          <a:xfrm>
            <a:off x="4480560" y="3474720"/>
            <a:ext cx="274320" cy="274320"/>
          </a:xfrm>
          <a:prstGeom prst="rect">
            <a:avLst/>
          </a:prstGeom>
          <a:noFill/>
        </p:spPr>
        <p:txBody>
          <a:bodyPr wrap="square"/>
          <a:lstStyle/>
          <a:p>
            <a:pPr algn="ctr">
              <a:spcBef>
                <a:spcPts val="0"/>
              </a:spcBef>
              <a:spcAft>
                <a:spcPts val="0"/>
              </a:spcAft>
            </a:pPr>
            <a:r>
              <a:rPr sz="1600" b="1">
                <a:solidFill>
                  <a:srgbClr val="2563EB"/>
                </a:solidFill>
                <a:latin typeface="Inter"/>
              </a:rPr>
              <a:t>▼</a:t>
            </a:r>
          </a:p>
        </p:txBody>
      </p:sp>
      <p:sp>
        <p:nvSpPr>
          <p:cNvPr id="29" name="TextBox 28"/>
          <p:cNvSpPr txBox="1"/>
          <p:nvPr/>
        </p:nvSpPr>
        <p:spPr>
          <a:xfrm>
            <a:off x="7360920" y="3474720"/>
            <a:ext cx="274320" cy="274320"/>
          </a:xfrm>
          <a:prstGeom prst="rect">
            <a:avLst/>
          </a:prstGeom>
          <a:noFill/>
        </p:spPr>
        <p:txBody>
          <a:bodyPr wrap="square"/>
          <a:lstStyle/>
          <a:p>
            <a:pPr algn="ctr">
              <a:spcBef>
                <a:spcPts val="0"/>
              </a:spcBef>
              <a:spcAft>
                <a:spcPts val="0"/>
              </a:spcAft>
            </a:pPr>
            <a:r>
              <a:rPr sz="1600" b="1">
                <a:solidFill>
                  <a:srgbClr val="2563EB"/>
                </a:solidFill>
                <a:latin typeface="Inter"/>
              </a:rPr>
              <a:t>▼</a:t>
            </a:r>
          </a:p>
        </p:txBody>
      </p:sp>
      <p:sp>
        <p:nvSpPr>
          <p:cNvPr id="30" name="TextBox 29"/>
          <p:cNvSpPr txBox="1"/>
          <p:nvPr/>
        </p:nvSpPr>
        <p:spPr>
          <a:xfrm>
            <a:off x="10241280" y="3474720"/>
            <a:ext cx="274320" cy="274320"/>
          </a:xfrm>
          <a:prstGeom prst="rect">
            <a:avLst/>
          </a:prstGeom>
          <a:noFill/>
        </p:spPr>
        <p:txBody>
          <a:bodyPr wrap="square"/>
          <a:lstStyle/>
          <a:p>
            <a:pPr algn="ctr">
              <a:spcBef>
                <a:spcPts val="0"/>
              </a:spcBef>
              <a:spcAft>
                <a:spcPts val="0"/>
              </a:spcAft>
            </a:pPr>
            <a:r>
              <a:rPr sz="1600" b="1">
                <a:solidFill>
                  <a:srgbClr val="2563EB"/>
                </a:solidFill>
                <a:latin typeface="Inter"/>
              </a:rPr>
              <a:t>▼</a:t>
            </a:r>
          </a:p>
        </p:txBody>
      </p:sp>
      <p:sp>
        <p:nvSpPr>
          <p:cNvPr id="31" name="Rounded Rectangle 30"/>
          <p:cNvSpPr/>
          <p:nvPr/>
        </p:nvSpPr>
        <p:spPr>
          <a:xfrm>
            <a:off x="1828800" y="3931920"/>
            <a:ext cx="8503920" cy="1097280"/>
          </a:xfrm>
          <a:prstGeom prst="roundRect">
            <a:avLst/>
          </a:prstGeom>
          <a:solidFill>
            <a:srgbClr val="EFF6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011680" y="4041648"/>
            <a:ext cx="8229600" cy="914400"/>
          </a:xfrm>
          <a:prstGeom prst="rect">
            <a:avLst/>
          </a:prstGeom>
          <a:noFill/>
        </p:spPr>
        <p:txBody>
          <a:bodyPr wrap="square"/>
          <a:lstStyle/>
          <a:p>
            <a:pPr algn="ctr">
              <a:spcAft>
                <a:spcPts val="800"/>
              </a:spcAft>
            </a:pPr>
            <a:r>
              <a:rPr sz="1600" b="1">
                <a:solidFill>
                  <a:srgbClr val="2563EB"/>
                </a:solidFill>
                <a:latin typeface="Space Grotesk"/>
              </a:rPr>
              <a:t>Forecast Evaluation (Held-Out Data)</a:t>
            </a:r>
          </a:p>
          <a:p>
            <a:pPr algn="ctr">
              <a:spcAft>
                <a:spcPts val="400"/>
              </a:spcAft>
            </a:pPr>
            <a:r>
              <a:rPr sz="1400" b="0">
                <a:solidFill>
                  <a:srgbClr val="111827"/>
                </a:solidFill>
                <a:latin typeface="Inter"/>
              </a:rPr>
              <a:t>MAE    |    RMSE    |    MAPE     →    Model Performance Comparison</a:t>
            </a:r>
          </a:p>
          <a:p>
            <a:pPr algn="ctr">
              <a:spcAft>
                <a:spcPts val="0"/>
              </a:spcAft>
            </a:pPr>
            <a:r>
              <a:rPr sz="1200" b="0">
                <a:solidFill>
                  <a:srgbClr val="9CA3AF"/>
                </a:solidFill>
                <a:latin typeface="Inter"/>
              </a:rPr>
              <a:t>Model performance determined from observed data — not assumed superiority.</a:t>
            </a:r>
          </a:p>
        </p:txBody>
      </p:sp>
      <p:sp>
        <p:nvSpPr>
          <p:cNvPr id="33" name="Rounded Rectangle 32"/>
          <p:cNvSpPr/>
          <p:nvPr/>
        </p:nvSpPr>
        <p:spPr>
          <a:xfrm>
            <a:off x="274320" y="1298448"/>
            <a:ext cx="5669280"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74320" y="1298448"/>
            <a:ext cx="5669280" cy="256032"/>
          </a:xfrm>
          <a:prstGeom prst="rect">
            <a:avLst/>
          </a:prstGeom>
          <a:noFill/>
        </p:spPr>
        <p:txBody>
          <a:bodyPr wrap="square"/>
          <a:lstStyle/>
          <a:p>
            <a:pPr algn="ctr">
              <a:spcBef>
                <a:spcPts val="0"/>
              </a:spcBef>
              <a:spcAft>
                <a:spcPts val="0"/>
              </a:spcAft>
            </a:pPr>
            <a:r>
              <a:rPr sz="1100" b="1">
                <a:solidFill>
                  <a:srgbClr val="FFFFFF"/>
                </a:solidFill>
                <a:latin typeface="Inter"/>
              </a:rPr>
              <a:t>Statistical Approaches</a:t>
            </a:r>
          </a:p>
        </p:txBody>
      </p:sp>
      <p:sp>
        <p:nvSpPr>
          <p:cNvPr id="35" name="Rounded Rectangle 34"/>
          <p:cNvSpPr/>
          <p:nvPr/>
        </p:nvSpPr>
        <p:spPr>
          <a:xfrm>
            <a:off x="6263640" y="1298448"/>
            <a:ext cx="3200400" cy="256032"/>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63640" y="1298448"/>
            <a:ext cx="3200400" cy="256032"/>
          </a:xfrm>
          <a:prstGeom prst="rect">
            <a:avLst/>
          </a:prstGeom>
          <a:noFill/>
        </p:spPr>
        <p:txBody>
          <a:bodyPr wrap="square"/>
          <a:lstStyle/>
          <a:p>
            <a:pPr algn="ctr">
              <a:spcBef>
                <a:spcPts val="0"/>
              </a:spcBef>
              <a:spcAft>
                <a:spcPts val="0"/>
              </a:spcAft>
            </a:pPr>
            <a:r>
              <a:rPr sz="1100" b="1">
                <a:solidFill>
                  <a:srgbClr val="FFFFFF"/>
                </a:solidFill>
                <a:latin typeface="Inter"/>
              </a:rPr>
              <a:t>Machine Learning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AFB"/>
        </a:solidFill>
        <a:effectLst/>
      </p:bgPr>
    </p:bg>
    <p:spTree>
      <p:nvGrpSpPr>
        <p:cNvPr id="1" name=""/>
        <p:cNvGrpSpPr/>
        <p:nvPr/>
      </p:nvGrpSpPr>
      <p:grpSpPr/>
      <p:sp>
        <p:nvSpPr>
          <p:cNvPr id="2" name="Rounded Rectangle 1"/>
          <p:cNvSpPr/>
          <p:nvPr/>
        </p:nvSpPr>
        <p:spPr>
          <a:xfrm>
            <a:off x="0" y="0"/>
            <a:ext cx="12191695" cy="10515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515600" cy="548640"/>
          </a:xfrm>
          <a:prstGeom prst="rect">
            <a:avLst/>
          </a:prstGeom>
          <a:noFill/>
        </p:spPr>
        <p:txBody>
          <a:bodyPr wrap="square"/>
          <a:lstStyle/>
          <a:p>
            <a:pPr algn="l">
              <a:spcBef>
                <a:spcPts val="0"/>
              </a:spcBef>
              <a:spcAft>
                <a:spcPts val="0"/>
              </a:spcAft>
            </a:pPr>
            <a:r>
              <a:rPr sz="3000" b="1">
                <a:solidFill>
                  <a:srgbClr val="FFFFFF"/>
                </a:solidFill>
                <a:latin typeface="Space Grotesk"/>
              </a:rPr>
              <a:t>From Forecasts to Decisions</a:t>
            </a:r>
          </a:p>
        </p:txBody>
      </p:sp>
      <p:sp>
        <p:nvSpPr>
          <p:cNvPr id="4" name="TextBox 3"/>
          <p:cNvSpPr txBox="1"/>
          <p:nvPr/>
        </p:nvSpPr>
        <p:spPr>
          <a:xfrm>
            <a:off x="548640" y="640080"/>
            <a:ext cx="10515600" cy="365760"/>
          </a:xfrm>
          <a:prstGeom prst="rect">
            <a:avLst/>
          </a:prstGeom>
          <a:noFill/>
        </p:spPr>
        <p:txBody>
          <a:bodyPr wrap="square"/>
          <a:lstStyle/>
          <a:p>
            <a:pPr algn="l">
              <a:spcBef>
                <a:spcPts val="0"/>
              </a:spcBef>
              <a:spcAft>
                <a:spcPts val="0"/>
              </a:spcAft>
            </a:pPr>
            <a:r>
              <a:rPr sz="1600" b="0">
                <a:solidFill>
                  <a:srgbClr val="BFDBFE"/>
                </a:solidFill>
                <a:latin typeface="Inter"/>
              </a:rPr>
              <a:t>Inventory Optimization &amp; Recommendation Engine</a:t>
            </a:r>
          </a:p>
        </p:txBody>
      </p:sp>
      <p:pic>
        <p:nvPicPr>
          <p:cNvPr id="5" name="Picture 4" descr="443732266_1006349624830063_6095867571651137613_n-removebg-preview.png"/>
          <p:cNvPicPr>
            <a:picLocks noChangeAspect="1"/>
          </p:cNvPicPr>
          <p:nvPr/>
        </p:nvPicPr>
        <p:blipFill>
          <a:blip r:embed="rId2"/>
          <a:stretch>
            <a:fillRect/>
          </a:stretch>
        </p:blipFill>
        <p:spPr>
          <a:xfrm>
            <a:off x="11094415" y="137160"/>
            <a:ext cx="868680" cy="868680"/>
          </a:xfrm>
          <a:prstGeom prst="rect">
            <a:avLst/>
          </a:prstGeom>
        </p:spPr>
      </p:pic>
      <p:sp>
        <p:nvSpPr>
          <p:cNvPr id="6" name="Rounded Rectangle 5"/>
          <p:cNvSpPr/>
          <p:nvPr/>
        </p:nvSpPr>
        <p:spPr>
          <a:xfrm>
            <a:off x="0" y="6675120"/>
            <a:ext cx="12191695" cy="18288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247120" y="6446520"/>
            <a:ext cx="822960" cy="274320"/>
          </a:xfrm>
          <a:prstGeom prst="rect">
            <a:avLst/>
          </a:prstGeom>
          <a:noFill/>
        </p:spPr>
        <p:txBody>
          <a:bodyPr wrap="square"/>
          <a:lstStyle/>
          <a:p>
            <a:pPr algn="r">
              <a:spcBef>
                <a:spcPts val="0"/>
              </a:spcBef>
              <a:spcAft>
                <a:spcPts val="0"/>
              </a:spcAft>
            </a:pPr>
            <a:r>
              <a:rPr sz="1000" b="0">
                <a:solidFill>
                  <a:srgbClr val="9CA3AF"/>
                </a:solidFill>
                <a:latin typeface="Inter"/>
              </a:rPr>
              <a:t>9 / 21</a:t>
            </a:r>
          </a:p>
        </p:txBody>
      </p:sp>
      <p:sp>
        <p:nvSpPr>
          <p:cNvPr id="8" name="Rounded Rectangle 7"/>
          <p:cNvSpPr/>
          <p:nvPr/>
        </p:nvSpPr>
        <p:spPr>
          <a:xfrm>
            <a:off x="731520" y="1508760"/>
            <a:ext cx="3200400" cy="54864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Inter"/>
              </a:rPr>
              <a:t>Average Demand</a:t>
            </a:r>
          </a:p>
        </p:txBody>
      </p:sp>
      <p:sp>
        <p:nvSpPr>
          <p:cNvPr id="9" name="TextBox 8"/>
          <p:cNvSpPr txBox="1"/>
          <p:nvPr/>
        </p:nvSpPr>
        <p:spPr>
          <a:xfrm>
            <a:off x="2148840" y="2011680"/>
            <a:ext cx="365760" cy="256032"/>
          </a:xfrm>
          <a:prstGeom prst="rect">
            <a:avLst/>
          </a:prstGeom>
          <a:noFill/>
        </p:spPr>
        <p:txBody>
          <a:bodyPr wrap="square"/>
          <a:lstStyle/>
          <a:p>
            <a:pPr algn="ctr">
              <a:spcBef>
                <a:spcPts val="0"/>
              </a:spcBef>
              <a:spcAft>
                <a:spcPts val="0"/>
              </a:spcAft>
            </a:pPr>
            <a:r>
              <a:rPr sz="1300" b="1">
                <a:solidFill>
                  <a:srgbClr val="2563EB"/>
                </a:solidFill>
                <a:latin typeface="Inter"/>
              </a:rPr>
              <a:t>▼</a:t>
            </a:r>
          </a:p>
        </p:txBody>
      </p:sp>
      <p:sp>
        <p:nvSpPr>
          <p:cNvPr id="10" name="Rounded Rectangle 9"/>
          <p:cNvSpPr/>
          <p:nvPr/>
        </p:nvSpPr>
        <p:spPr>
          <a:xfrm>
            <a:off x="731520" y="2167128"/>
            <a:ext cx="3200400" cy="54864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Inter"/>
              </a:rPr>
              <a:t>Sales Velocity</a:t>
            </a:r>
          </a:p>
        </p:txBody>
      </p:sp>
      <p:sp>
        <p:nvSpPr>
          <p:cNvPr id="11" name="TextBox 10"/>
          <p:cNvSpPr txBox="1"/>
          <p:nvPr/>
        </p:nvSpPr>
        <p:spPr>
          <a:xfrm>
            <a:off x="2148840" y="2670048"/>
            <a:ext cx="365760" cy="256032"/>
          </a:xfrm>
          <a:prstGeom prst="rect">
            <a:avLst/>
          </a:prstGeom>
          <a:noFill/>
        </p:spPr>
        <p:txBody>
          <a:bodyPr wrap="square"/>
          <a:lstStyle/>
          <a:p>
            <a:pPr algn="ctr">
              <a:spcBef>
                <a:spcPts val="0"/>
              </a:spcBef>
              <a:spcAft>
                <a:spcPts val="0"/>
              </a:spcAft>
            </a:pPr>
            <a:r>
              <a:rPr sz="1300" b="1">
                <a:solidFill>
                  <a:srgbClr val="2563EB"/>
                </a:solidFill>
                <a:latin typeface="Inter"/>
              </a:rPr>
              <a:t>▼</a:t>
            </a:r>
          </a:p>
        </p:txBody>
      </p:sp>
      <p:sp>
        <p:nvSpPr>
          <p:cNvPr id="12" name="Rounded Rectangle 11"/>
          <p:cNvSpPr/>
          <p:nvPr/>
        </p:nvSpPr>
        <p:spPr>
          <a:xfrm>
            <a:off x="731520" y="2825496"/>
            <a:ext cx="3200400" cy="54864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Inter"/>
              </a:rPr>
              <a:t>Safety Stock</a:t>
            </a:r>
          </a:p>
        </p:txBody>
      </p:sp>
      <p:sp>
        <p:nvSpPr>
          <p:cNvPr id="13" name="TextBox 12"/>
          <p:cNvSpPr txBox="1"/>
          <p:nvPr/>
        </p:nvSpPr>
        <p:spPr>
          <a:xfrm>
            <a:off x="2148840" y="3328416"/>
            <a:ext cx="365760" cy="256032"/>
          </a:xfrm>
          <a:prstGeom prst="rect">
            <a:avLst/>
          </a:prstGeom>
          <a:noFill/>
        </p:spPr>
        <p:txBody>
          <a:bodyPr wrap="square"/>
          <a:lstStyle/>
          <a:p>
            <a:pPr algn="ctr">
              <a:spcBef>
                <a:spcPts val="0"/>
              </a:spcBef>
              <a:spcAft>
                <a:spcPts val="0"/>
              </a:spcAft>
            </a:pPr>
            <a:r>
              <a:rPr sz="1300" b="1">
                <a:solidFill>
                  <a:srgbClr val="14B8A6"/>
                </a:solidFill>
                <a:latin typeface="Inter"/>
              </a:rPr>
              <a:t>▼</a:t>
            </a:r>
          </a:p>
        </p:txBody>
      </p:sp>
      <p:sp>
        <p:nvSpPr>
          <p:cNvPr id="14" name="Rounded Rectangle 13"/>
          <p:cNvSpPr/>
          <p:nvPr/>
        </p:nvSpPr>
        <p:spPr>
          <a:xfrm>
            <a:off x="731520" y="3483864"/>
            <a:ext cx="3200400" cy="54864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Inter"/>
              </a:rPr>
              <a:t>Reorder Point</a:t>
            </a:r>
          </a:p>
        </p:txBody>
      </p:sp>
      <p:sp>
        <p:nvSpPr>
          <p:cNvPr id="15" name="TextBox 14"/>
          <p:cNvSpPr txBox="1"/>
          <p:nvPr/>
        </p:nvSpPr>
        <p:spPr>
          <a:xfrm>
            <a:off x="2148840" y="3986784"/>
            <a:ext cx="365760" cy="256032"/>
          </a:xfrm>
          <a:prstGeom prst="rect">
            <a:avLst/>
          </a:prstGeom>
          <a:noFill/>
        </p:spPr>
        <p:txBody>
          <a:bodyPr wrap="square"/>
          <a:lstStyle/>
          <a:p>
            <a:pPr algn="ctr">
              <a:spcBef>
                <a:spcPts val="0"/>
              </a:spcBef>
              <a:spcAft>
                <a:spcPts val="0"/>
              </a:spcAft>
            </a:pPr>
            <a:r>
              <a:rPr sz="1300" b="1">
                <a:solidFill>
                  <a:srgbClr val="14B8A6"/>
                </a:solidFill>
                <a:latin typeface="Inter"/>
              </a:rPr>
              <a:t>▼</a:t>
            </a:r>
          </a:p>
        </p:txBody>
      </p:sp>
      <p:sp>
        <p:nvSpPr>
          <p:cNvPr id="16" name="Rounded Rectangle 15"/>
          <p:cNvSpPr/>
          <p:nvPr/>
        </p:nvSpPr>
        <p:spPr>
          <a:xfrm>
            <a:off x="731520" y="4142232"/>
            <a:ext cx="3200400" cy="54864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Inter"/>
              </a:rPr>
              <a:t>Days of Stock Remaining</a:t>
            </a:r>
          </a:p>
        </p:txBody>
      </p:sp>
      <p:sp>
        <p:nvSpPr>
          <p:cNvPr id="17" name="TextBox 16"/>
          <p:cNvSpPr txBox="1"/>
          <p:nvPr/>
        </p:nvSpPr>
        <p:spPr>
          <a:xfrm>
            <a:off x="2148840" y="4645152"/>
            <a:ext cx="365760" cy="256032"/>
          </a:xfrm>
          <a:prstGeom prst="rect">
            <a:avLst/>
          </a:prstGeom>
          <a:noFill/>
        </p:spPr>
        <p:txBody>
          <a:bodyPr wrap="square"/>
          <a:lstStyle/>
          <a:p>
            <a:pPr algn="ctr">
              <a:spcBef>
                <a:spcPts val="0"/>
              </a:spcBef>
              <a:spcAft>
                <a:spcPts val="0"/>
              </a:spcAft>
            </a:pPr>
            <a:r>
              <a:rPr sz="1300" b="1">
                <a:solidFill>
                  <a:srgbClr val="F59E0B"/>
                </a:solidFill>
                <a:latin typeface="Inter"/>
              </a:rPr>
              <a:t>▼</a:t>
            </a:r>
          </a:p>
        </p:txBody>
      </p:sp>
      <p:sp>
        <p:nvSpPr>
          <p:cNvPr id="18" name="Rounded Rectangle 17"/>
          <p:cNvSpPr/>
          <p:nvPr/>
        </p:nvSpPr>
        <p:spPr>
          <a:xfrm>
            <a:off x="731520" y="4800600"/>
            <a:ext cx="3200400" cy="54864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Inter"/>
              </a:rPr>
              <a:t>Recommended Replenishment</a:t>
            </a:r>
          </a:p>
        </p:txBody>
      </p:sp>
      <p:sp>
        <p:nvSpPr>
          <p:cNvPr id="19" name="Rounded Rectangle 18"/>
          <p:cNvSpPr/>
          <p:nvPr/>
        </p:nvSpPr>
        <p:spPr>
          <a:xfrm>
            <a:off x="4572000" y="1508760"/>
            <a:ext cx="3474720" cy="256032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09160" y="1618488"/>
            <a:ext cx="3200400" cy="365760"/>
          </a:xfrm>
          <a:prstGeom prst="rect">
            <a:avLst/>
          </a:prstGeom>
          <a:noFill/>
        </p:spPr>
        <p:txBody>
          <a:bodyPr wrap="square"/>
          <a:lstStyle/>
          <a:p>
            <a:pPr algn="l">
              <a:spcBef>
                <a:spcPts val="0"/>
              </a:spcBef>
              <a:spcAft>
                <a:spcPts val="0"/>
              </a:spcAft>
            </a:pPr>
            <a:r>
              <a:rPr sz="1500" b="1">
                <a:solidFill>
                  <a:srgbClr val="F59E0B"/>
                </a:solidFill>
                <a:latin typeface="Space Grotesk"/>
              </a:rPr>
              <a:t>  Risk Detection</a:t>
            </a:r>
          </a:p>
        </p:txBody>
      </p:sp>
      <p:sp>
        <p:nvSpPr>
          <p:cNvPr id="21" name="TextBox 20"/>
          <p:cNvSpPr txBox="1"/>
          <p:nvPr/>
        </p:nvSpPr>
        <p:spPr>
          <a:xfrm>
            <a:off x="4709160" y="1920240"/>
            <a:ext cx="3200400" cy="2057400"/>
          </a:xfrm>
          <a:prstGeom prst="rect">
            <a:avLst/>
          </a:prstGeom>
          <a:noFill/>
        </p:spPr>
        <p:txBody>
          <a:bodyPr wrap="square"/>
          <a:lstStyle/>
          <a:p>
            <a:pPr algn="l">
              <a:spcAft>
                <a:spcPts val="400"/>
              </a:spcAft>
            </a:pPr>
            <a:r>
              <a:rPr sz="1300" b="0">
                <a:solidFill>
                  <a:srgbClr val="111827"/>
                </a:solidFill>
                <a:latin typeface="Inter"/>
              </a:rPr>
              <a:t>    Forecasted Demand &gt; Available Stock</a:t>
            </a:r>
          </a:p>
          <a:p>
            <a:pPr algn="l">
              <a:spcAft>
                <a:spcPts val="400"/>
              </a:spcAft>
            </a:pPr>
            <a:r>
              <a:rPr sz="1300" b="0">
                <a:solidFill>
                  <a:srgbClr val="111827"/>
                </a:solidFill>
                <a:latin typeface="Inter"/>
              </a:rPr>
              <a:t>       →  Potential Stockout</a:t>
            </a:r>
          </a:p>
          <a:p>
            <a:pPr algn="l">
              <a:spcAft>
                <a:spcPts val="400"/>
              </a:spcAft>
            </a:pPr>
            <a:r>
              <a:rPr sz="1300" b="0">
                <a:solidFill>
                  <a:srgbClr val="111827"/>
                </a:solidFill>
                <a:latin typeface="Inter"/>
              </a:rPr>
              <a:t>    Current Stock &gt; Required Level</a:t>
            </a:r>
          </a:p>
          <a:p>
            <a:pPr algn="l">
              <a:spcAft>
                <a:spcPts val="400"/>
              </a:spcAft>
            </a:pPr>
            <a:r>
              <a:rPr sz="1300" b="0">
                <a:solidFill>
                  <a:srgbClr val="111827"/>
                </a:solidFill>
                <a:latin typeface="Inter"/>
              </a:rPr>
              <a:t>       →  Potential Overstock</a:t>
            </a:r>
          </a:p>
        </p:txBody>
      </p:sp>
      <p:sp>
        <p:nvSpPr>
          <p:cNvPr id="22" name="Rounded Rectangle 21"/>
          <p:cNvSpPr/>
          <p:nvPr/>
        </p:nvSpPr>
        <p:spPr>
          <a:xfrm>
            <a:off x="8412480" y="1508760"/>
            <a:ext cx="3474720" cy="256032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49640" y="1618488"/>
            <a:ext cx="3200400" cy="365760"/>
          </a:xfrm>
          <a:prstGeom prst="rect">
            <a:avLst/>
          </a:prstGeom>
          <a:noFill/>
        </p:spPr>
        <p:txBody>
          <a:bodyPr wrap="square"/>
          <a:lstStyle/>
          <a:p>
            <a:pPr algn="l">
              <a:spcBef>
                <a:spcPts val="0"/>
              </a:spcBef>
              <a:spcAft>
                <a:spcPts val="0"/>
              </a:spcAft>
            </a:pPr>
            <a:r>
              <a:rPr sz="1500" b="1">
                <a:solidFill>
                  <a:srgbClr val="EF4444"/>
                </a:solidFill>
                <a:latin typeface="Space Grotesk"/>
              </a:rPr>
              <a:t>  Recommendation Priority</a:t>
            </a:r>
          </a:p>
        </p:txBody>
      </p:sp>
      <p:sp>
        <p:nvSpPr>
          <p:cNvPr id="24" name="TextBox 23"/>
          <p:cNvSpPr txBox="1"/>
          <p:nvPr/>
        </p:nvSpPr>
        <p:spPr>
          <a:xfrm>
            <a:off x="8549640" y="1920240"/>
            <a:ext cx="3200400" cy="2057400"/>
          </a:xfrm>
          <a:prstGeom prst="rect">
            <a:avLst/>
          </a:prstGeom>
          <a:noFill/>
        </p:spPr>
        <p:txBody>
          <a:bodyPr wrap="square"/>
          <a:lstStyle/>
          <a:p>
            <a:pPr algn="l">
              <a:spcAft>
                <a:spcPts val="400"/>
              </a:spcAft>
            </a:pPr>
            <a:r>
              <a:rPr sz="1300" b="0">
                <a:solidFill>
                  <a:srgbClr val="111827"/>
                </a:solidFill>
                <a:latin typeface="Inter"/>
              </a:rPr>
              <a:t>    Critical — Expected stockout very soon</a:t>
            </a:r>
          </a:p>
          <a:p>
            <a:pPr algn="l">
              <a:spcAft>
                <a:spcPts val="400"/>
              </a:spcAft>
            </a:pPr>
            <a:r>
              <a:rPr sz="1300" b="0">
                <a:solidFill>
                  <a:srgbClr val="111827"/>
                </a:solidFill>
                <a:latin typeface="Inter"/>
              </a:rPr>
              <a:t>    High — Near-term stockout risk</a:t>
            </a:r>
          </a:p>
          <a:p>
            <a:pPr algn="l">
              <a:spcAft>
                <a:spcPts val="400"/>
              </a:spcAft>
            </a:pPr>
            <a:r>
              <a:rPr sz="1300" b="0">
                <a:solidFill>
                  <a:srgbClr val="111827"/>
                </a:solidFill>
                <a:latin typeface="Inter"/>
              </a:rPr>
              <a:t>    Medium — Below reorder point</a:t>
            </a:r>
          </a:p>
          <a:p>
            <a:pPr algn="l">
              <a:spcAft>
                <a:spcPts val="400"/>
              </a:spcAft>
            </a:pPr>
            <a:r>
              <a:rPr sz="1300" b="0">
                <a:solidFill>
                  <a:srgbClr val="111827"/>
                </a:solidFill>
                <a:latin typeface="Inter"/>
              </a:rPr>
              <a:t>    Low — Optimization / transfer</a:t>
            </a:r>
          </a:p>
        </p:txBody>
      </p:sp>
      <p:sp>
        <p:nvSpPr>
          <p:cNvPr id="25" name="Rounded Rectangle 24"/>
          <p:cNvSpPr/>
          <p:nvPr/>
        </p:nvSpPr>
        <p:spPr>
          <a:xfrm>
            <a:off x="4572000" y="4297680"/>
            <a:ext cx="7315200" cy="457200"/>
          </a:xfrm>
          <a:prstGeom prst="roundRect">
            <a:avLst/>
          </a:prstGeom>
          <a:solidFill>
            <a:srgbClr val="ECFDF5"/>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709160" y="4343400"/>
            <a:ext cx="7040880" cy="365760"/>
          </a:xfrm>
          <a:prstGeom prst="rect">
            <a:avLst/>
          </a:prstGeom>
          <a:noFill/>
        </p:spPr>
        <p:txBody>
          <a:bodyPr wrap="square"/>
          <a:lstStyle/>
          <a:p>
            <a:pPr algn="l">
              <a:spcBef>
                <a:spcPts val="0"/>
              </a:spcBef>
              <a:spcAft>
                <a:spcPts val="0"/>
              </a:spcAft>
            </a:pPr>
            <a:r>
              <a:rPr sz="1200" b="0">
                <a:solidFill>
                  <a:srgbClr val="14B8A6"/>
                </a:solidFill>
                <a:latin typeface="Inter"/>
              </a:rPr>
              <a:t>* Thresholds are configurable/adaptable to the project context.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AFB"/>
        </a:solidFill>
        <a:effectLst/>
      </p:bgPr>
    </p:bg>
    <p:spTree>
      <p:nvGrpSpPr>
        <p:cNvPr id="1" name=""/>
        <p:cNvGrpSpPr/>
        <p:nvPr/>
      </p:nvGrpSpPr>
      <p:grpSpPr/>
      <p:sp>
        <p:nvSpPr>
          <p:cNvPr id="2" name="Rounded Rectangle 1"/>
          <p:cNvSpPr/>
          <p:nvPr/>
        </p:nvSpPr>
        <p:spPr>
          <a:xfrm>
            <a:off x="0" y="0"/>
            <a:ext cx="12191695" cy="10515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515600" cy="548640"/>
          </a:xfrm>
          <a:prstGeom prst="rect">
            <a:avLst/>
          </a:prstGeom>
          <a:noFill/>
        </p:spPr>
        <p:txBody>
          <a:bodyPr wrap="square"/>
          <a:lstStyle/>
          <a:p>
            <a:pPr algn="l">
              <a:spcBef>
                <a:spcPts val="0"/>
              </a:spcBef>
              <a:spcAft>
                <a:spcPts val="0"/>
              </a:spcAft>
            </a:pPr>
            <a:r>
              <a:rPr sz="3000" b="1">
                <a:solidFill>
                  <a:srgbClr val="FFFFFF"/>
                </a:solidFill>
                <a:latin typeface="Space Grotesk"/>
              </a:rPr>
              <a:t>Intelligent Inventory Redistribution</a:t>
            </a:r>
          </a:p>
        </p:txBody>
      </p:sp>
      <p:sp>
        <p:nvSpPr>
          <p:cNvPr id="4" name="TextBox 3"/>
          <p:cNvSpPr txBox="1"/>
          <p:nvPr/>
        </p:nvSpPr>
        <p:spPr>
          <a:xfrm>
            <a:off x="548640" y="640080"/>
            <a:ext cx="10515600" cy="365760"/>
          </a:xfrm>
          <a:prstGeom prst="rect">
            <a:avLst/>
          </a:prstGeom>
          <a:noFill/>
        </p:spPr>
        <p:txBody>
          <a:bodyPr wrap="square"/>
          <a:lstStyle/>
          <a:p>
            <a:pPr algn="l">
              <a:spcBef>
                <a:spcPts val="0"/>
              </a:spcBef>
              <a:spcAft>
                <a:spcPts val="0"/>
              </a:spcAft>
            </a:pPr>
            <a:r>
              <a:rPr sz="1600" b="0">
                <a:solidFill>
                  <a:srgbClr val="BFDBFE"/>
                </a:solidFill>
                <a:latin typeface="Inter"/>
              </a:rPr>
              <a:t>Multi-Outlet Transfer Intelligence</a:t>
            </a:r>
          </a:p>
        </p:txBody>
      </p:sp>
      <p:pic>
        <p:nvPicPr>
          <p:cNvPr id="5" name="Picture 4" descr="443732266_1006349624830063_6095867571651137613_n-removebg-preview.png"/>
          <p:cNvPicPr>
            <a:picLocks noChangeAspect="1"/>
          </p:cNvPicPr>
          <p:nvPr/>
        </p:nvPicPr>
        <p:blipFill>
          <a:blip r:embed="rId2"/>
          <a:stretch>
            <a:fillRect/>
          </a:stretch>
        </p:blipFill>
        <p:spPr>
          <a:xfrm>
            <a:off x="11094415" y="137160"/>
            <a:ext cx="868680" cy="868680"/>
          </a:xfrm>
          <a:prstGeom prst="rect">
            <a:avLst/>
          </a:prstGeom>
        </p:spPr>
      </p:pic>
      <p:sp>
        <p:nvSpPr>
          <p:cNvPr id="6" name="Rounded Rectangle 5"/>
          <p:cNvSpPr/>
          <p:nvPr/>
        </p:nvSpPr>
        <p:spPr>
          <a:xfrm>
            <a:off x="0" y="6675120"/>
            <a:ext cx="12191695" cy="18288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247120" y="6446520"/>
            <a:ext cx="822960" cy="274320"/>
          </a:xfrm>
          <a:prstGeom prst="rect">
            <a:avLst/>
          </a:prstGeom>
          <a:noFill/>
        </p:spPr>
        <p:txBody>
          <a:bodyPr wrap="square"/>
          <a:lstStyle/>
          <a:p>
            <a:pPr algn="r">
              <a:spcBef>
                <a:spcPts val="0"/>
              </a:spcBef>
              <a:spcAft>
                <a:spcPts val="0"/>
              </a:spcAft>
            </a:pPr>
            <a:r>
              <a:rPr sz="1000" b="0">
                <a:solidFill>
                  <a:srgbClr val="9CA3AF"/>
                </a:solidFill>
                <a:latin typeface="Inter"/>
              </a:rPr>
              <a:t>10 / 21</a:t>
            </a:r>
          </a:p>
        </p:txBody>
      </p:sp>
      <p:sp>
        <p:nvSpPr>
          <p:cNvPr id="8" name="Rounded Rectangle 7"/>
          <p:cNvSpPr/>
          <p:nvPr/>
        </p:nvSpPr>
        <p:spPr>
          <a:xfrm>
            <a:off x="457200" y="1645920"/>
            <a:ext cx="3200400" cy="2743200"/>
          </a:xfrm>
          <a:prstGeom prst="roundRect">
            <a:avLst/>
          </a:prstGeom>
          <a:solidFill>
            <a:srgbClr val="FFFFFF"/>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57200" y="1645920"/>
            <a:ext cx="3200400" cy="6350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828800"/>
            <a:ext cx="2834640" cy="2468880"/>
          </a:xfrm>
          <a:prstGeom prst="rect">
            <a:avLst/>
          </a:prstGeom>
          <a:noFill/>
        </p:spPr>
        <p:txBody>
          <a:bodyPr wrap="square"/>
          <a:lstStyle/>
          <a:p>
            <a:pPr algn="ctr">
              <a:spcAft>
                <a:spcPts val="800"/>
              </a:spcAft>
            </a:pPr>
            <a:r>
              <a:rPr sz="2000" b="1">
                <a:solidFill>
                  <a:srgbClr val="10B981"/>
                </a:solidFill>
                <a:latin typeface="Space Grotesk"/>
              </a:rPr>
              <a:t>Outlet A</a:t>
            </a:r>
          </a:p>
          <a:p>
            <a:pPr algn="ctr">
              <a:spcAft>
                <a:spcPts val="1000"/>
              </a:spcAft>
            </a:pPr>
            <a:r>
              <a:rPr sz="1300" b="0">
                <a:solidFill>
                  <a:srgbClr val="10B981"/>
                </a:solidFill>
                <a:latin typeface="Inter"/>
              </a:rPr>
              <a:t>Potential Surplus</a:t>
            </a:r>
          </a:p>
          <a:p>
            <a:pPr algn="l">
              <a:spcAft>
                <a:spcPts val="400"/>
              </a:spcAft>
            </a:pPr>
            <a:r>
              <a:rPr sz="1400" b="1">
                <a:solidFill>
                  <a:srgbClr val="111827"/>
                </a:solidFill>
                <a:latin typeface="Inter"/>
              </a:rPr>
              <a:t>High Inventory</a:t>
            </a:r>
          </a:p>
          <a:p>
            <a:pPr algn="l">
              <a:spcAft>
                <a:spcPts val="800"/>
              </a:spcAft>
            </a:pPr>
            <a:r>
              <a:rPr sz="1400" b="0">
                <a:solidFill>
                  <a:srgbClr val="9CA3AF"/>
                </a:solidFill>
                <a:latin typeface="Inter"/>
              </a:rPr>
              <a:t>Low Forecasted Demand</a:t>
            </a:r>
          </a:p>
          <a:p>
            <a:pPr algn="l">
              <a:spcAft>
                <a:spcPts val="200"/>
              </a:spcAft>
            </a:pPr>
            <a:r>
              <a:rPr sz="600" b="0">
                <a:solidFill>
                  <a:srgbClr val="111827"/>
                </a:solidFill>
                <a:latin typeface="Inter"/>
              </a:rPr>
              <a:t/>
            </a:r>
          </a:p>
          <a:p>
            <a:pPr algn="ctr">
              <a:spcAft>
                <a:spcPts val="0"/>
              </a:spcAft>
            </a:pPr>
            <a:r>
              <a:rPr sz="1200" b="0">
                <a:solidFill>
                  <a:srgbClr val="9CA3AF"/>
                </a:solidFill>
                <a:latin typeface="Inter"/>
              </a:rPr>
              <a:t>Excess stock available
for redistribution</a:t>
            </a:r>
          </a:p>
        </p:txBody>
      </p:sp>
      <p:sp>
        <p:nvSpPr>
          <p:cNvPr id="11" name="Rounded Rectangle 10"/>
          <p:cNvSpPr/>
          <p:nvPr/>
        </p:nvSpPr>
        <p:spPr>
          <a:xfrm>
            <a:off x="4389120" y="1645920"/>
            <a:ext cx="3200400" cy="274320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1920240"/>
            <a:ext cx="2834640" cy="2286000"/>
          </a:xfrm>
          <a:prstGeom prst="rect">
            <a:avLst/>
          </a:prstGeom>
          <a:noFill/>
        </p:spPr>
        <p:txBody>
          <a:bodyPr wrap="square"/>
          <a:lstStyle/>
          <a:p>
            <a:pPr algn="ctr">
              <a:spcAft>
                <a:spcPts val="1000"/>
              </a:spcAft>
            </a:pPr>
            <a:r>
              <a:rPr sz="2200" b="1">
                <a:solidFill>
                  <a:srgbClr val="FFFFFF"/>
                </a:solidFill>
                <a:latin typeface="Space Grotesk"/>
              </a:rPr>
              <a:t>StockMind AI</a:t>
            </a:r>
          </a:p>
          <a:p>
            <a:pPr algn="ctr">
              <a:spcAft>
                <a:spcPts val="1200"/>
              </a:spcAft>
            </a:pPr>
            <a:r>
              <a:rPr sz="1300" b="0">
                <a:solidFill>
                  <a:srgbClr val="BFDBFE"/>
                </a:solidFill>
                <a:latin typeface="Inter"/>
              </a:rPr>
              <a:t>Cross-Outlet Analysis</a:t>
            </a:r>
          </a:p>
          <a:p>
            <a:pPr algn="l">
              <a:spcAft>
                <a:spcPts val="300"/>
              </a:spcAft>
            </a:pPr>
            <a:r>
              <a:rPr sz="1200" b="0">
                <a:solidFill>
                  <a:srgbClr val="FFFFFF"/>
                </a:solidFill>
                <a:latin typeface="Inter"/>
              </a:rPr>
              <a:t>Compares inventory levels</a:t>
            </a:r>
          </a:p>
          <a:p>
            <a:pPr algn="l">
              <a:spcAft>
                <a:spcPts val="800"/>
              </a:spcAft>
            </a:pPr>
            <a:r>
              <a:rPr sz="1200" b="0">
                <a:solidFill>
                  <a:srgbClr val="FFFFFF"/>
                </a:solidFill>
                <a:latin typeface="Inter"/>
              </a:rPr>
              <a:t>vs. predicted demand</a:t>
            </a:r>
          </a:p>
          <a:p>
            <a:pPr algn="l">
              <a:spcAft>
                <a:spcPts val="200"/>
              </a:spcAft>
            </a:pPr>
            <a:r>
              <a:rPr sz="600" b="0">
                <a:solidFill>
                  <a:srgbClr val="FFFFFF"/>
                </a:solidFill>
                <a:latin typeface="Inter"/>
              </a:rPr>
              <a:t/>
            </a:r>
          </a:p>
          <a:p>
            <a:pPr algn="ctr">
              <a:spcAft>
                <a:spcPts val="200"/>
              </a:spcAft>
            </a:pPr>
            <a:r>
              <a:rPr sz="1200" b="1">
                <a:solidFill>
                  <a:srgbClr val="14B8A6"/>
                </a:solidFill>
                <a:latin typeface="Inter"/>
              </a:rPr>
              <a:t>Identifies matching</a:t>
            </a:r>
          </a:p>
          <a:p>
            <a:pPr algn="ctr">
              <a:spcAft>
                <a:spcPts val="0"/>
              </a:spcAft>
            </a:pPr>
            <a:r>
              <a:rPr sz="1200" b="1">
                <a:solidFill>
                  <a:srgbClr val="14B8A6"/>
                </a:solidFill>
                <a:latin typeface="Inter"/>
              </a:rPr>
              <a:t>surplus &amp; shortage pairs</a:t>
            </a:r>
          </a:p>
        </p:txBody>
      </p:sp>
      <p:sp>
        <p:nvSpPr>
          <p:cNvPr id="13" name="Rounded Rectangle 12"/>
          <p:cNvSpPr/>
          <p:nvPr/>
        </p:nvSpPr>
        <p:spPr>
          <a:xfrm>
            <a:off x="8321040" y="1645920"/>
            <a:ext cx="3200400" cy="2743200"/>
          </a:xfrm>
          <a:prstGeom prst="roundRect">
            <a:avLst/>
          </a:prstGeom>
          <a:solidFill>
            <a:srgbClr val="FFFFFF"/>
          </a:solidFill>
          <a:ln w="254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321040" y="1645920"/>
            <a:ext cx="3200400" cy="63500"/>
          </a:xfrm>
          <a:prstGeom prst="round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0" y="1828800"/>
            <a:ext cx="2834640" cy="2468880"/>
          </a:xfrm>
          <a:prstGeom prst="rect">
            <a:avLst/>
          </a:prstGeom>
          <a:noFill/>
        </p:spPr>
        <p:txBody>
          <a:bodyPr wrap="square"/>
          <a:lstStyle/>
          <a:p>
            <a:pPr algn="ctr">
              <a:spcAft>
                <a:spcPts val="800"/>
              </a:spcAft>
            </a:pPr>
            <a:r>
              <a:rPr sz="2000" b="1">
                <a:solidFill>
                  <a:srgbClr val="EF4444"/>
                </a:solidFill>
                <a:latin typeface="Space Grotesk"/>
              </a:rPr>
              <a:t>Outlet B</a:t>
            </a:r>
          </a:p>
          <a:p>
            <a:pPr algn="ctr">
              <a:spcAft>
                <a:spcPts val="1000"/>
              </a:spcAft>
            </a:pPr>
            <a:r>
              <a:rPr sz="1300" b="0">
                <a:solidFill>
                  <a:srgbClr val="EF4444"/>
                </a:solidFill>
                <a:latin typeface="Inter"/>
              </a:rPr>
              <a:t>Potential Shortage</a:t>
            </a:r>
          </a:p>
          <a:p>
            <a:pPr algn="l">
              <a:spcAft>
                <a:spcPts val="400"/>
              </a:spcAft>
            </a:pPr>
            <a:r>
              <a:rPr sz="1400" b="1">
                <a:solidFill>
                  <a:srgbClr val="111827"/>
                </a:solidFill>
                <a:latin typeface="Inter"/>
              </a:rPr>
              <a:t>Low Inventory</a:t>
            </a:r>
          </a:p>
          <a:p>
            <a:pPr algn="l">
              <a:spcAft>
                <a:spcPts val="800"/>
              </a:spcAft>
            </a:pPr>
            <a:r>
              <a:rPr sz="1400" b="0">
                <a:solidFill>
                  <a:srgbClr val="9CA3AF"/>
                </a:solidFill>
                <a:latin typeface="Inter"/>
              </a:rPr>
              <a:t>High Forecasted Demand</a:t>
            </a:r>
          </a:p>
          <a:p>
            <a:pPr algn="l">
              <a:spcAft>
                <a:spcPts val="200"/>
              </a:spcAft>
            </a:pPr>
            <a:r>
              <a:rPr sz="600" b="0">
                <a:solidFill>
                  <a:srgbClr val="111827"/>
                </a:solidFill>
                <a:latin typeface="Inter"/>
              </a:rPr>
              <a:t/>
            </a:r>
          </a:p>
          <a:p>
            <a:pPr algn="ctr">
              <a:spcAft>
                <a:spcPts val="0"/>
              </a:spcAft>
            </a:pPr>
            <a:r>
              <a:rPr sz="1200" b="0">
                <a:solidFill>
                  <a:srgbClr val="9CA3AF"/>
                </a:solidFill>
                <a:latin typeface="Inter"/>
              </a:rPr>
              <a:t>Needs stock replenishment
before next cycle</a:t>
            </a:r>
          </a:p>
        </p:txBody>
      </p:sp>
      <p:sp>
        <p:nvSpPr>
          <p:cNvPr id="16" name="TextBox 15"/>
          <p:cNvSpPr txBox="1"/>
          <p:nvPr/>
        </p:nvSpPr>
        <p:spPr>
          <a:xfrm>
            <a:off x="3566160" y="2743200"/>
            <a:ext cx="914400" cy="365760"/>
          </a:xfrm>
          <a:prstGeom prst="rect">
            <a:avLst/>
          </a:prstGeom>
          <a:noFill/>
        </p:spPr>
        <p:txBody>
          <a:bodyPr wrap="square"/>
          <a:lstStyle/>
          <a:p>
            <a:pPr algn="ctr">
              <a:spcBef>
                <a:spcPts val="0"/>
              </a:spcBef>
              <a:spcAft>
                <a:spcPts val="0"/>
              </a:spcAft>
            </a:pPr>
            <a:r>
              <a:rPr sz="2600" b="1">
                <a:solidFill>
                  <a:srgbClr val="10B981"/>
                </a:solidFill>
                <a:latin typeface="Inter"/>
              </a:rPr>
              <a:t>→</a:t>
            </a:r>
          </a:p>
        </p:txBody>
      </p:sp>
      <p:sp>
        <p:nvSpPr>
          <p:cNvPr id="17" name="TextBox 16"/>
          <p:cNvSpPr txBox="1"/>
          <p:nvPr/>
        </p:nvSpPr>
        <p:spPr>
          <a:xfrm>
            <a:off x="7589520" y="2743200"/>
            <a:ext cx="914400" cy="365760"/>
          </a:xfrm>
          <a:prstGeom prst="rect">
            <a:avLst/>
          </a:prstGeom>
          <a:noFill/>
        </p:spPr>
        <p:txBody>
          <a:bodyPr wrap="square"/>
          <a:lstStyle/>
          <a:p>
            <a:pPr algn="ctr">
              <a:spcBef>
                <a:spcPts val="0"/>
              </a:spcBef>
              <a:spcAft>
                <a:spcPts val="0"/>
              </a:spcAft>
            </a:pPr>
            <a:r>
              <a:rPr sz="2600" b="1">
                <a:solidFill>
                  <a:srgbClr val="EF4444"/>
                </a:solidFill>
                <a:latin typeface="Inter"/>
              </a:rPr>
              <a:t>→</a:t>
            </a:r>
          </a:p>
        </p:txBody>
      </p:sp>
      <p:sp>
        <p:nvSpPr>
          <p:cNvPr id="18" name="Rounded Rectangle 17"/>
          <p:cNvSpPr/>
          <p:nvPr/>
        </p:nvSpPr>
        <p:spPr>
          <a:xfrm>
            <a:off x="457200" y="4754880"/>
            <a:ext cx="11247120" cy="1371600"/>
          </a:xfrm>
          <a:prstGeom prst="roundRect">
            <a:avLst/>
          </a:prstGeom>
          <a:solidFill>
            <a:srgbClr val="EFF6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4864608"/>
            <a:ext cx="10881360" cy="1188720"/>
          </a:xfrm>
          <a:prstGeom prst="rect">
            <a:avLst/>
          </a:prstGeom>
          <a:noFill/>
        </p:spPr>
        <p:txBody>
          <a:bodyPr wrap="square"/>
          <a:lstStyle/>
          <a:p>
            <a:pPr algn="l">
              <a:spcAft>
                <a:spcPts val="600"/>
              </a:spcAft>
            </a:pPr>
            <a:r>
              <a:rPr sz="1500" b="1">
                <a:solidFill>
                  <a:srgbClr val="2563EB"/>
                </a:solidFill>
                <a:latin typeface="Space Grotesk"/>
              </a:rPr>
              <a:t>System Recommendation</a:t>
            </a:r>
          </a:p>
          <a:p>
            <a:pPr algn="l">
              <a:spcAft>
                <a:spcPts val="600"/>
              </a:spcAft>
            </a:pPr>
            <a:r>
              <a:rPr sz="1400" b="1">
                <a:solidFill>
                  <a:srgbClr val="111827"/>
                </a:solidFill>
                <a:latin typeface="Inter"/>
              </a:rPr>
              <a:t>Consider transferring Product X from Outlet A → Outlet B</a:t>
            </a:r>
          </a:p>
          <a:p>
            <a:pPr algn="l">
              <a:spcAft>
                <a:spcPts val="400"/>
              </a:spcAft>
            </a:pPr>
            <a:r>
              <a:rPr sz="1100" b="0">
                <a:solidFill>
                  <a:srgbClr val="9CA3AF"/>
                </a:solidFill>
                <a:latin typeface="Inter"/>
              </a:rPr>
              <a:t>Displays: Product  |  Source Outlet  |  Destination Outlet  |  Current Inventory  |  Forecasted Demand  |  Suggested Quantity  |  Reasoning</a:t>
            </a:r>
          </a:p>
          <a:p>
            <a:pPr algn="l">
              <a:spcAft>
                <a:spcPts val="0"/>
              </a:spcAft>
            </a:pPr>
            <a:r>
              <a:rPr sz="1100" b="1">
                <a:solidFill>
                  <a:srgbClr val="F59E0B"/>
                </a:solidFill>
                <a:latin typeface="Inter"/>
              </a:rPr>
              <a:t>StockMind AI provides recommendations only — it does not execute physical transfers or purchase orders.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9FAFB"/>
        </a:solidFill>
        <a:effectLst/>
      </p:bgPr>
    </p:bg>
    <p:spTree>
      <p:nvGrpSpPr>
        <p:cNvPr id="1" name=""/>
        <p:cNvGrpSpPr/>
        <p:nvPr/>
      </p:nvGrpSpPr>
      <p:grpSpPr/>
      <p:sp>
        <p:nvSpPr>
          <p:cNvPr id="2" name="Rounded Rectangle 1"/>
          <p:cNvSpPr/>
          <p:nvPr/>
        </p:nvSpPr>
        <p:spPr>
          <a:xfrm>
            <a:off x="0" y="0"/>
            <a:ext cx="12191695" cy="10515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515600" cy="548640"/>
          </a:xfrm>
          <a:prstGeom prst="rect">
            <a:avLst/>
          </a:prstGeom>
          <a:noFill/>
        </p:spPr>
        <p:txBody>
          <a:bodyPr wrap="square"/>
          <a:lstStyle/>
          <a:p>
            <a:pPr algn="l">
              <a:spcBef>
                <a:spcPts val="0"/>
              </a:spcBef>
              <a:spcAft>
                <a:spcPts val="0"/>
              </a:spcAft>
            </a:pPr>
            <a:r>
              <a:rPr sz="3000" b="1">
                <a:solidFill>
                  <a:srgbClr val="FFFFFF"/>
                </a:solidFill>
                <a:latin typeface="Space Grotesk"/>
              </a:rPr>
              <a:t>Layered System Architecture</a:t>
            </a:r>
          </a:p>
        </p:txBody>
      </p:sp>
      <p:pic>
        <p:nvPicPr>
          <p:cNvPr id="4" name="Picture 3" descr="443732266_1006349624830063_6095867571651137613_n-removebg-preview.png"/>
          <p:cNvPicPr>
            <a:picLocks noChangeAspect="1"/>
          </p:cNvPicPr>
          <p:nvPr/>
        </p:nvPicPr>
        <p:blipFill>
          <a:blip r:embed="rId2"/>
          <a:stretch>
            <a:fillRect/>
          </a:stretch>
        </p:blipFill>
        <p:spPr>
          <a:xfrm>
            <a:off x="11094415" y="137160"/>
            <a:ext cx="868680" cy="868680"/>
          </a:xfrm>
          <a:prstGeom prst="rect">
            <a:avLst/>
          </a:prstGeom>
        </p:spPr>
      </p:pic>
      <p:sp>
        <p:nvSpPr>
          <p:cNvPr id="5" name="Rounded Rectangle 4"/>
          <p:cNvSpPr/>
          <p:nvPr/>
        </p:nvSpPr>
        <p:spPr>
          <a:xfrm>
            <a:off x="0" y="6675120"/>
            <a:ext cx="12191695" cy="18288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0" y="6446520"/>
            <a:ext cx="822960" cy="274320"/>
          </a:xfrm>
          <a:prstGeom prst="rect">
            <a:avLst/>
          </a:prstGeom>
          <a:noFill/>
        </p:spPr>
        <p:txBody>
          <a:bodyPr wrap="square"/>
          <a:lstStyle/>
          <a:p>
            <a:pPr algn="r">
              <a:spcBef>
                <a:spcPts val="0"/>
              </a:spcBef>
              <a:spcAft>
                <a:spcPts val="0"/>
              </a:spcAft>
            </a:pPr>
            <a:r>
              <a:rPr sz="1000" b="0">
                <a:solidFill>
                  <a:srgbClr val="9CA3AF"/>
                </a:solidFill>
                <a:latin typeface="Inter"/>
              </a:rPr>
              <a:t>11 / 21</a:t>
            </a:r>
          </a:p>
        </p:txBody>
      </p:sp>
      <p:sp>
        <p:nvSpPr>
          <p:cNvPr id="7" name="Rounded Rectangle 6"/>
          <p:cNvSpPr/>
          <p:nvPr/>
        </p:nvSpPr>
        <p:spPr>
          <a:xfrm>
            <a:off x="822960" y="1371600"/>
            <a:ext cx="10515600" cy="5029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1">
                <a:solidFill>
                  <a:srgbClr val="FFFFFF"/>
                </a:solidFill>
                <a:latin typeface="Space Grotesk"/>
              </a:rPr>
              <a:t>  1. Data Management &amp; Validation</a:t>
            </a:r>
            <a:r>
              <a:rPr sz="1100" b="0">
                <a:solidFill>
                  <a:srgbClr val="BFDBFE"/>
                </a:solidFill>
                <a:latin typeface="Inter"/>
              </a:rPr>
              <a:t>    —  Historical sales and inventory data</a:t>
            </a:r>
          </a:p>
        </p:txBody>
      </p:sp>
      <p:sp>
        <p:nvSpPr>
          <p:cNvPr id="8" name="TextBox 7"/>
          <p:cNvSpPr txBox="1"/>
          <p:nvPr/>
        </p:nvSpPr>
        <p:spPr>
          <a:xfrm>
            <a:off x="5943600" y="1856232"/>
            <a:ext cx="274320" cy="201168"/>
          </a:xfrm>
          <a:prstGeom prst="rect">
            <a:avLst/>
          </a:prstGeom>
          <a:noFill/>
        </p:spPr>
        <p:txBody>
          <a:bodyPr wrap="square"/>
          <a:lstStyle/>
          <a:p>
            <a:pPr algn="ctr">
              <a:spcBef>
                <a:spcPts val="0"/>
              </a:spcBef>
              <a:spcAft>
                <a:spcPts val="0"/>
              </a:spcAft>
            </a:pPr>
            <a:r>
              <a:rPr sz="1000" b="1">
                <a:solidFill>
                  <a:srgbClr val="2563EB"/>
                </a:solidFill>
                <a:latin typeface="Inter"/>
              </a:rPr>
              <a:t>▼</a:t>
            </a:r>
          </a:p>
        </p:txBody>
      </p:sp>
      <p:sp>
        <p:nvSpPr>
          <p:cNvPr id="9" name="Rounded Rectangle 8"/>
          <p:cNvSpPr/>
          <p:nvPr/>
        </p:nvSpPr>
        <p:spPr>
          <a:xfrm>
            <a:off x="822960" y="1947672"/>
            <a:ext cx="10515600" cy="5029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1">
                <a:solidFill>
                  <a:srgbClr val="FFFFFF"/>
                </a:solidFill>
                <a:latin typeface="Space Grotesk"/>
              </a:rPr>
              <a:t>  2. Data Preprocessing &amp; Feature Preparation</a:t>
            </a:r>
            <a:r>
              <a:rPr sz="1100" b="0">
                <a:solidFill>
                  <a:srgbClr val="BFDBFE"/>
                </a:solidFill>
                <a:latin typeface="Inter"/>
              </a:rPr>
              <a:t>    —  Cleaning, aggregation, time series, features</a:t>
            </a:r>
          </a:p>
        </p:txBody>
      </p:sp>
      <p:sp>
        <p:nvSpPr>
          <p:cNvPr id="10" name="TextBox 9"/>
          <p:cNvSpPr txBox="1"/>
          <p:nvPr/>
        </p:nvSpPr>
        <p:spPr>
          <a:xfrm>
            <a:off x="5943600" y="2432304"/>
            <a:ext cx="274320" cy="201168"/>
          </a:xfrm>
          <a:prstGeom prst="rect">
            <a:avLst/>
          </a:prstGeom>
          <a:noFill/>
        </p:spPr>
        <p:txBody>
          <a:bodyPr wrap="square"/>
          <a:lstStyle/>
          <a:p>
            <a:pPr algn="ctr">
              <a:spcBef>
                <a:spcPts val="0"/>
              </a:spcBef>
              <a:spcAft>
                <a:spcPts val="0"/>
              </a:spcAft>
            </a:pPr>
            <a:r>
              <a:rPr sz="1000" b="1">
                <a:solidFill>
                  <a:srgbClr val="2563EB"/>
                </a:solidFill>
                <a:latin typeface="Inter"/>
              </a:rPr>
              <a:t>▼</a:t>
            </a:r>
          </a:p>
        </p:txBody>
      </p:sp>
      <p:sp>
        <p:nvSpPr>
          <p:cNvPr id="11" name="Rounded Rectangle 10"/>
          <p:cNvSpPr/>
          <p:nvPr/>
        </p:nvSpPr>
        <p:spPr>
          <a:xfrm>
            <a:off x="822960" y="2523744"/>
            <a:ext cx="10515600" cy="50292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1">
                <a:solidFill>
                  <a:srgbClr val="FFFFFF"/>
                </a:solidFill>
                <a:latin typeface="Space Grotesk"/>
              </a:rPr>
              <a:t>  3. Demand Forecasting Layer</a:t>
            </a:r>
            <a:r>
              <a:rPr sz="1100" b="0">
                <a:solidFill>
                  <a:srgbClr val="BFDBFE"/>
                </a:solidFill>
                <a:latin typeface="Inter"/>
              </a:rPr>
              <a:t>    —  SMA  |  Holt-Winters  |  ARIMA  |  XGBoost</a:t>
            </a:r>
          </a:p>
        </p:txBody>
      </p:sp>
      <p:sp>
        <p:nvSpPr>
          <p:cNvPr id="12" name="TextBox 11"/>
          <p:cNvSpPr txBox="1"/>
          <p:nvPr/>
        </p:nvSpPr>
        <p:spPr>
          <a:xfrm>
            <a:off x="5943600" y="3008376"/>
            <a:ext cx="274320" cy="201168"/>
          </a:xfrm>
          <a:prstGeom prst="rect">
            <a:avLst/>
          </a:prstGeom>
          <a:noFill/>
        </p:spPr>
        <p:txBody>
          <a:bodyPr wrap="square"/>
          <a:lstStyle/>
          <a:p>
            <a:pPr algn="ctr">
              <a:spcBef>
                <a:spcPts val="0"/>
              </a:spcBef>
              <a:spcAft>
                <a:spcPts val="0"/>
              </a:spcAft>
            </a:pPr>
            <a:r>
              <a:rPr sz="1000" b="1">
                <a:solidFill>
                  <a:srgbClr val="14B8A6"/>
                </a:solidFill>
                <a:latin typeface="Inter"/>
              </a:rPr>
              <a:t>▼</a:t>
            </a:r>
          </a:p>
        </p:txBody>
      </p:sp>
      <p:sp>
        <p:nvSpPr>
          <p:cNvPr id="13" name="Rounded Rectangle 12"/>
          <p:cNvSpPr/>
          <p:nvPr/>
        </p:nvSpPr>
        <p:spPr>
          <a:xfrm>
            <a:off x="822960" y="3099816"/>
            <a:ext cx="10515600" cy="50292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1">
                <a:solidFill>
                  <a:srgbClr val="FFFFFF"/>
                </a:solidFill>
                <a:latin typeface="Space Grotesk"/>
              </a:rPr>
              <a:t>  4. Forecast Evaluation</a:t>
            </a:r>
            <a:r>
              <a:rPr sz="1100" b="0">
                <a:solidFill>
                  <a:srgbClr val="BFDBFE"/>
                </a:solidFill>
                <a:latin typeface="Inter"/>
              </a:rPr>
              <a:t>    —  MAE  |  RMSE  |  MAPE</a:t>
            </a:r>
          </a:p>
        </p:txBody>
      </p:sp>
      <p:sp>
        <p:nvSpPr>
          <p:cNvPr id="14" name="TextBox 13"/>
          <p:cNvSpPr txBox="1"/>
          <p:nvPr/>
        </p:nvSpPr>
        <p:spPr>
          <a:xfrm>
            <a:off x="5943600" y="3584448"/>
            <a:ext cx="274320" cy="201168"/>
          </a:xfrm>
          <a:prstGeom prst="rect">
            <a:avLst/>
          </a:prstGeom>
          <a:noFill/>
        </p:spPr>
        <p:txBody>
          <a:bodyPr wrap="square"/>
          <a:lstStyle/>
          <a:p>
            <a:pPr algn="ctr">
              <a:spcBef>
                <a:spcPts val="0"/>
              </a:spcBef>
              <a:spcAft>
                <a:spcPts val="0"/>
              </a:spcAft>
            </a:pPr>
            <a:r>
              <a:rPr sz="1000" b="1">
                <a:solidFill>
                  <a:srgbClr val="14B8A6"/>
                </a:solidFill>
                <a:latin typeface="Inter"/>
              </a:rPr>
              <a:t>▼</a:t>
            </a:r>
          </a:p>
        </p:txBody>
      </p:sp>
      <p:sp>
        <p:nvSpPr>
          <p:cNvPr id="15" name="Rounded Rectangle 14"/>
          <p:cNvSpPr/>
          <p:nvPr/>
        </p:nvSpPr>
        <p:spPr>
          <a:xfrm>
            <a:off x="822960" y="3675888"/>
            <a:ext cx="10515600" cy="5029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1">
                <a:solidFill>
                  <a:srgbClr val="FFFFFF"/>
                </a:solidFill>
                <a:latin typeface="Space Grotesk"/>
              </a:rPr>
              <a:t>  5. Inventory Optimization</a:t>
            </a:r>
            <a:r>
              <a:rPr sz="1100" b="0">
                <a:solidFill>
                  <a:srgbClr val="BFDBFE"/>
                </a:solidFill>
                <a:latin typeface="Inter"/>
              </a:rPr>
              <a:t>    —  Safety Stock  |  Reorder Point  |  Days of Stock  |  Replenishment  |  EOQ</a:t>
            </a:r>
          </a:p>
        </p:txBody>
      </p:sp>
      <p:sp>
        <p:nvSpPr>
          <p:cNvPr id="16" name="TextBox 15"/>
          <p:cNvSpPr txBox="1"/>
          <p:nvPr/>
        </p:nvSpPr>
        <p:spPr>
          <a:xfrm>
            <a:off x="5943600" y="4160520"/>
            <a:ext cx="274320" cy="201168"/>
          </a:xfrm>
          <a:prstGeom prst="rect">
            <a:avLst/>
          </a:prstGeom>
          <a:noFill/>
        </p:spPr>
        <p:txBody>
          <a:bodyPr wrap="square"/>
          <a:lstStyle/>
          <a:p>
            <a:pPr algn="ctr">
              <a:spcBef>
                <a:spcPts val="0"/>
              </a:spcBef>
              <a:spcAft>
                <a:spcPts val="0"/>
              </a:spcAft>
            </a:pPr>
            <a:r>
              <a:rPr sz="1000" b="1">
                <a:solidFill>
                  <a:srgbClr val="2563EB"/>
                </a:solidFill>
                <a:latin typeface="Inter"/>
              </a:rPr>
              <a:t>▼</a:t>
            </a:r>
          </a:p>
        </p:txBody>
      </p:sp>
      <p:sp>
        <p:nvSpPr>
          <p:cNvPr id="17" name="Rounded Rectangle 16"/>
          <p:cNvSpPr/>
          <p:nvPr/>
        </p:nvSpPr>
        <p:spPr>
          <a:xfrm>
            <a:off x="822960" y="4251960"/>
            <a:ext cx="10515600" cy="50292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1">
                <a:solidFill>
                  <a:srgbClr val="FFFFFF"/>
                </a:solidFill>
                <a:latin typeface="Space Grotesk"/>
              </a:rPr>
              <a:t>  6. Risk &amp; Recommendation Engine</a:t>
            </a:r>
            <a:r>
              <a:rPr sz="1100" b="0">
                <a:solidFill>
                  <a:srgbClr val="BFDBFE"/>
                </a:solidFill>
                <a:latin typeface="Inter"/>
              </a:rPr>
              <a:t>    —  Stockout  |  Overstock  |  Priorities  |  Transfers</a:t>
            </a:r>
          </a:p>
        </p:txBody>
      </p:sp>
      <p:sp>
        <p:nvSpPr>
          <p:cNvPr id="18" name="TextBox 17"/>
          <p:cNvSpPr txBox="1"/>
          <p:nvPr/>
        </p:nvSpPr>
        <p:spPr>
          <a:xfrm>
            <a:off x="5943600" y="4736592"/>
            <a:ext cx="274320" cy="201168"/>
          </a:xfrm>
          <a:prstGeom prst="rect">
            <a:avLst/>
          </a:prstGeom>
          <a:noFill/>
        </p:spPr>
        <p:txBody>
          <a:bodyPr wrap="square"/>
          <a:lstStyle/>
          <a:p>
            <a:pPr algn="ctr">
              <a:spcBef>
                <a:spcPts val="0"/>
              </a:spcBef>
              <a:spcAft>
                <a:spcPts val="0"/>
              </a:spcAft>
            </a:pPr>
            <a:r>
              <a:rPr sz="1000" b="1">
                <a:solidFill>
                  <a:srgbClr val="F59E0B"/>
                </a:solidFill>
                <a:latin typeface="Inter"/>
              </a:rPr>
              <a:t>▼</a:t>
            </a:r>
          </a:p>
        </p:txBody>
      </p:sp>
      <p:sp>
        <p:nvSpPr>
          <p:cNvPr id="19" name="Rounded Rectangle 18"/>
          <p:cNvSpPr/>
          <p:nvPr/>
        </p:nvSpPr>
        <p:spPr>
          <a:xfrm>
            <a:off x="822960" y="4828032"/>
            <a:ext cx="10515600" cy="5029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1">
                <a:solidFill>
                  <a:srgbClr val="FFFFFF"/>
                </a:solidFill>
                <a:latin typeface="Space Grotesk"/>
              </a:rPr>
              <a:t>  7. Backend API</a:t>
            </a:r>
            <a:r>
              <a:rPr sz="1100" b="0">
                <a:solidFill>
                  <a:srgbClr val="BFDBFE"/>
                </a:solidFill>
                <a:latin typeface="Inter"/>
              </a:rPr>
              <a:t>    —  FastAPI  |  REST  |  Pydantic</a:t>
            </a:r>
          </a:p>
        </p:txBody>
      </p:sp>
      <p:sp>
        <p:nvSpPr>
          <p:cNvPr id="20" name="TextBox 19"/>
          <p:cNvSpPr txBox="1"/>
          <p:nvPr/>
        </p:nvSpPr>
        <p:spPr>
          <a:xfrm>
            <a:off x="5943600" y="5312664"/>
            <a:ext cx="274320" cy="201168"/>
          </a:xfrm>
          <a:prstGeom prst="rect">
            <a:avLst/>
          </a:prstGeom>
          <a:noFill/>
        </p:spPr>
        <p:txBody>
          <a:bodyPr wrap="square"/>
          <a:lstStyle/>
          <a:p>
            <a:pPr algn="ctr">
              <a:spcBef>
                <a:spcPts val="0"/>
              </a:spcBef>
              <a:spcAft>
                <a:spcPts val="0"/>
              </a:spcAft>
            </a:pPr>
            <a:r>
              <a:rPr sz="1000" b="1">
                <a:solidFill>
                  <a:srgbClr val="2563EB"/>
                </a:solidFill>
                <a:latin typeface="Inter"/>
              </a:rPr>
              <a:t>▼</a:t>
            </a:r>
          </a:p>
        </p:txBody>
      </p:sp>
      <p:sp>
        <p:nvSpPr>
          <p:cNvPr id="21" name="Rounded Rectangle 20"/>
          <p:cNvSpPr/>
          <p:nvPr/>
        </p:nvSpPr>
        <p:spPr>
          <a:xfrm>
            <a:off x="822960" y="5404104"/>
            <a:ext cx="10515600" cy="50292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1">
                <a:solidFill>
                  <a:srgbClr val="FFFFFF"/>
                </a:solidFill>
                <a:latin typeface="Space Grotesk"/>
              </a:rPr>
              <a:t>  8. Frontend Presentation</a:t>
            </a:r>
            <a:r>
              <a:rPr sz="1100" b="0">
                <a:solidFill>
                  <a:srgbClr val="BFDBFE"/>
                </a:solidFill>
                <a:latin typeface="Inter"/>
              </a:rPr>
              <a:t>    —  React  |  TypeScript  |  TailwindCSS</a:t>
            </a:r>
          </a:p>
        </p:txBody>
      </p:sp>
      <p:sp>
        <p:nvSpPr>
          <p:cNvPr id="22" name="TextBox 21"/>
          <p:cNvSpPr txBox="1"/>
          <p:nvPr/>
        </p:nvSpPr>
        <p:spPr>
          <a:xfrm>
            <a:off x="5943600" y="5888736"/>
            <a:ext cx="274320" cy="201168"/>
          </a:xfrm>
          <a:prstGeom prst="rect">
            <a:avLst/>
          </a:prstGeom>
          <a:noFill/>
        </p:spPr>
        <p:txBody>
          <a:bodyPr wrap="square"/>
          <a:lstStyle/>
          <a:p>
            <a:pPr algn="ctr">
              <a:spcBef>
                <a:spcPts val="0"/>
              </a:spcBef>
              <a:spcAft>
                <a:spcPts val="0"/>
              </a:spcAft>
            </a:pPr>
            <a:r>
              <a:rPr sz="1000" b="1">
                <a:solidFill>
                  <a:srgbClr val="14B8A6"/>
                </a:solidFill>
                <a:latin typeface="Inter"/>
              </a:rPr>
              <a:t>▼</a:t>
            </a:r>
          </a:p>
        </p:txBody>
      </p:sp>
      <p:sp>
        <p:nvSpPr>
          <p:cNvPr id="23" name="Rounded Rectangle 22"/>
          <p:cNvSpPr/>
          <p:nvPr/>
        </p:nvSpPr>
        <p:spPr>
          <a:xfrm>
            <a:off x="822960" y="5980176"/>
            <a:ext cx="10515600" cy="502920"/>
          </a:xfrm>
          <a:prstGeom prst="round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1">
                <a:solidFill>
                  <a:srgbClr val="FFFFFF"/>
                </a:solidFill>
                <a:latin typeface="Space Grotesk"/>
              </a:rPr>
              <a:t>  9. Inventory Intelligence Dashboard</a:t>
            </a:r>
            <a:r>
              <a:rPr sz="1100" b="0">
                <a:solidFill>
                  <a:srgbClr val="BFDBFE"/>
                </a:solidFill>
                <a:latin typeface="Inter"/>
              </a:rPr>
              <a:t>    —  Interactive analytics &amp; decision support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9FAFB"/>
        </a:solidFill>
        <a:effectLst/>
      </p:bgPr>
    </p:bg>
    <p:spTree>
      <p:nvGrpSpPr>
        <p:cNvPr id="1" name=""/>
        <p:cNvGrpSpPr/>
        <p:nvPr/>
      </p:nvGrpSpPr>
      <p:grpSpPr/>
      <p:sp>
        <p:nvSpPr>
          <p:cNvPr id="2" name="Rounded Rectangle 1"/>
          <p:cNvSpPr/>
          <p:nvPr/>
        </p:nvSpPr>
        <p:spPr>
          <a:xfrm>
            <a:off x="0" y="0"/>
            <a:ext cx="12191695" cy="10515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515600" cy="548640"/>
          </a:xfrm>
          <a:prstGeom prst="rect">
            <a:avLst/>
          </a:prstGeom>
          <a:noFill/>
        </p:spPr>
        <p:txBody>
          <a:bodyPr wrap="square"/>
          <a:lstStyle/>
          <a:p>
            <a:pPr algn="l">
              <a:spcBef>
                <a:spcPts val="0"/>
              </a:spcBef>
              <a:spcAft>
                <a:spcPts val="0"/>
              </a:spcAft>
            </a:pPr>
            <a:r>
              <a:rPr sz="3000" b="1">
                <a:solidFill>
                  <a:srgbClr val="FFFFFF"/>
                </a:solidFill>
                <a:latin typeface="Space Grotesk"/>
              </a:rPr>
              <a:t>Technology Stack</a:t>
            </a:r>
          </a:p>
        </p:txBody>
      </p:sp>
      <p:pic>
        <p:nvPicPr>
          <p:cNvPr id="4" name="Picture 3" descr="443732266_1006349624830063_6095867571651137613_n-removebg-preview.png"/>
          <p:cNvPicPr>
            <a:picLocks noChangeAspect="1"/>
          </p:cNvPicPr>
          <p:nvPr/>
        </p:nvPicPr>
        <p:blipFill>
          <a:blip r:embed="rId2"/>
          <a:stretch>
            <a:fillRect/>
          </a:stretch>
        </p:blipFill>
        <p:spPr>
          <a:xfrm>
            <a:off x="11094415" y="137160"/>
            <a:ext cx="868680" cy="868680"/>
          </a:xfrm>
          <a:prstGeom prst="rect">
            <a:avLst/>
          </a:prstGeom>
        </p:spPr>
      </p:pic>
      <p:sp>
        <p:nvSpPr>
          <p:cNvPr id="5" name="Rounded Rectangle 4"/>
          <p:cNvSpPr/>
          <p:nvPr/>
        </p:nvSpPr>
        <p:spPr>
          <a:xfrm>
            <a:off x="0" y="6675120"/>
            <a:ext cx="12191695" cy="18288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0" y="6446520"/>
            <a:ext cx="822960" cy="274320"/>
          </a:xfrm>
          <a:prstGeom prst="rect">
            <a:avLst/>
          </a:prstGeom>
          <a:noFill/>
        </p:spPr>
        <p:txBody>
          <a:bodyPr wrap="square"/>
          <a:lstStyle/>
          <a:p>
            <a:pPr algn="r">
              <a:spcBef>
                <a:spcPts val="0"/>
              </a:spcBef>
              <a:spcAft>
                <a:spcPts val="0"/>
              </a:spcAft>
            </a:pPr>
            <a:r>
              <a:rPr sz="1000" b="0">
                <a:solidFill>
                  <a:srgbClr val="9CA3AF"/>
                </a:solidFill>
                <a:latin typeface="Inter"/>
              </a:rPr>
              <a:t>12 / 21</a:t>
            </a:r>
          </a:p>
        </p:txBody>
      </p:sp>
      <p:sp>
        <p:nvSpPr>
          <p:cNvPr id="7" name="Rounded Rectangle 6"/>
          <p:cNvSpPr/>
          <p:nvPr/>
        </p:nvSpPr>
        <p:spPr>
          <a:xfrm>
            <a:off x="548640" y="1417320"/>
            <a:ext cx="1828800" cy="47548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sz="1300" b="1">
                <a:solidFill>
                  <a:srgbClr val="FFFFFF"/>
                </a:solidFill>
                <a:latin typeface="Space Grotesk"/>
              </a:rPr>
              <a:t>  Frontend</a:t>
            </a:r>
          </a:p>
        </p:txBody>
      </p:sp>
      <p:sp>
        <p:nvSpPr>
          <p:cNvPr id="8" name="Rounded Rectangle 7"/>
          <p:cNvSpPr/>
          <p:nvPr/>
        </p:nvSpPr>
        <p:spPr>
          <a:xfrm>
            <a:off x="2423159" y="1417320"/>
            <a:ext cx="3611880" cy="475488"/>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300" b="0">
                <a:solidFill>
                  <a:srgbClr val="111827"/>
                </a:solidFill>
                <a:latin typeface="Inter"/>
              </a:rPr>
              <a:t>  React, TypeScript, Vite, TailwindCSS</a:t>
            </a:r>
          </a:p>
        </p:txBody>
      </p:sp>
      <p:sp>
        <p:nvSpPr>
          <p:cNvPr id="9" name="Rounded Rectangle 8"/>
          <p:cNvSpPr/>
          <p:nvPr/>
        </p:nvSpPr>
        <p:spPr>
          <a:xfrm>
            <a:off x="548640" y="1947672"/>
            <a:ext cx="1828800" cy="47548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sz="1300" b="1">
                <a:solidFill>
                  <a:srgbClr val="FFFFFF"/>
                </a:solidFill>
                <a:latin typeface="Space Grotesk"/>
              </a:rPr>
              <a:t>  Visualization</a:t>
            </a:r>
          </a:p>
        </p:txBody>
      </p:sp>
      <p:sp>
        <p:nvSpPr>
          <p:cNvPr id="10" name="Rounded Rectangle 9"/>
          <p:cNvSpPr/>
          <p:nvPr/>
        </p:nvSpPr>
        <p:spPr>
          <a:xfrm>
            <a:off x="2423159" y="1947672"/>
            <a:ext cx="3611880" cy="475488"/>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300" b="0">
                <a:solidFill>
                  <a:srgbClr val="111827"/>
                </a:solidFill>
                <a:latin typeface="Inter"/>
              </a:rPr>
              <a:t>  React-compatible charting library</a:t>
            </a:r>
          </a:p>
        </p:txBody>
      </p:sp>
      <p:sp>
        <p:nvSpPr>
          <p:cNvPr id="11" name="Rounded Rectangle 10"/>
          <p:cNvSpPr/>
          <p:nvPr/>
        </p:nvSpPr>
        <p:spPr>
          <a:xfrm>
            <a:off x="548640" y="2478024"/>
            <a:ext cx="1828800" cy="475488"/>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sz="1300" b="1">
                <a:solidFill>
                  <a:srgbClr val="FFFFFF"/>
                </a:solidFill>
                <a:latin typeface="Space Grotesk"/>
              </a:rPr>
              <a:t>  Backend</a:t>
            </a:r>
          </a:p>
        </p:txBody>
      </p:sp>
      <p:sp>
        <p:nvSpPr>
          <p:cNvPr id="12" name="Rounded Rectangle 11"/>
          <p:cNvSpPr/>
          <p:nvPr/>
        </p:nvSpPr>
        <p:spPr>
          <a:xfrm>
            <a:off x="2423159" y="2478024"/>
            <a:ext cx="3611880" cy="475488"/>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300" b="0">
                <a:solidFill>
                  <a:srgbClr val="111827"/>
                </a:solidFill>
                <a:latin typeface="Inter"/>
              </a:rPr>
              <a:t>  Python, FastAPI, REST APIs</a:t>
            </a:r>
          </a:p>
        </p:txBody>
      </p:sp>
      <p:sp>
        <p:nvSpPr>
          <p:cNvPr id="13" name="Rounded Rectangle 12"/>
          <p:cNvSpPr/>
          <p:nvPr/>
        </p:nvSpPr>
        <p:spPr>
          <a:xfrm>
            <a:off x="548640" y="3008376"/>
            <a:ext cx="1828800" cy="475488"/>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sz="1300" b="1">
                <a:solidFill>
                  <a:srgbClr val="FFFFFF"/>
                </a:solidFill>
                <a:latin typeface="Space Grotesk"/>
              </a:rPr>
              <a:t>  Validation</a:t>
            </a:r>
          </a:p>
        </p:txBody>
      </p:sp>
      <p:sp>
        <p:nvSpPr>
          <p:cNvPr id="14" name="Rounded Rectangle 13"/>
          <p:cNvSpPr/>
          <p:nvPr/>
        </p:nvSpPr>
        <p:spPr>
          <a:xfrm>
            <a:off x="2423159" y="3008376"/>
            <a:ext cx="3611880" cy="475488"/>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300" b="0">
                <a:solidFill>
                  <a:srgbClr val="111827"/>
                </a:solidFill>
                <a:latin typeface="Inter"/>
              </a:rPr>
              <a:t>  Pydantic</a:t>
            </a:r>
          </a:p>
        </p:txBody>
      </p:sp>
      <p:sp>
        <p:nvSpPr>
          <p:cNvPr id="15" name="Rounded Rectangle 14"/>
          <p:cNvSpPr/>
          <p:nvPr/>
        </p:nvSpPr>
        <p:spPr>
          <a:xfrm>
            <a:off x="548640" y="3538728"/>
            <a:ext cx="1828800" cy="47548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sz="1300" b="1">
                <a:solidFill>
                  <a:srgbClr val="FFFFFF"/>
                </a:solidFill>
                <a:latin typeface="Space Grotesk"/>
              </a:rPr>
              <a:t>  Data Processing</a:t>
            </a:r>
          </a:p>
        </p:txBody>
      </p:sp>
      <p:sp>
        <p:nvSpPr>
          <p:cNvPr id="16" name="Rounded Rectangle 15"/>
          <p:cNvSpPr/>
          <p:nvPr/>
        </p:nvSpPr>
        <p:spPr>
          <a:xfrm>
            <a:off x="2423159" y="3538728"/>
            <a:ext cx="3611880" cy="475488"/>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300" b="0">
                <a:solidFill>
                  <a:srgbClr val="111827"/>
                </a:solidFill>
                <a:latin typeface="Inter"/>
              </a:rPr>
              <a:t>  pandas, NumPy</a:t>
            </a:r>
          </a:p>
        </p:txBody>
      </p:sp>
      <p:sp>
        <p:nvSpPr>
          <p:cNvPr id="17" name="Rounded Rectangle 16"/>
          <p:cNvSpPr/>
          <p:nvPr/>
        </p:nvSpPr>
        <p:spPr>
          <a:xfrm>
            <a:off x="548640" y="4069080"/>
            <a:ext cx="1828800" cy="47548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sz="1300" b="1">
                <a:solidFill>
                  <a:srgbClr val="FFFFFF"/>
                </a:solidFill>
                <a:latin typeface="Space Grotesk"/>
              </a:rPr>
              <a:t>  Statistical Forecasting</a:t>
            </a:r>
          </a:p>
        </p:txBody>
      </p:sp>
      <p:sp>
        <p:nvSpPr>
          <p:cNvPr id="18" name="Rounded Rectangle 17"/>
          <p:cNvSpPr/>
          <p:nvPr/>
        </p:nvSpPr>
        <p:spPr>
          <a:xfrm>
            <a:off x="2423159" y="4069080"/>
            <a:ext cx="3611880" cy="475488"/>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300" b="0">
                <a:solidFill>
                  <a:srgbClr val="111827"/>
                </a:solidFill>
                <a:latin typeface="Inter"/>
              </a:rPr>
              <a:t>  statsmodels</a:t>
            </a:r>
          </a:p>
        </p:txBody>
      </p:sp>
      <p:sp>
        <p:nvSpPr>
          <p:cNvPr id="19" name="Rounded Rectangle 18"/>
          <p:cNvSpPr/>
          <p:nvPr/>
        </p:nvSpPr>
        <p:spPr>
          <a:xfrm>
            <a:off x="6309360" y="1417320"/>
            <a:ext cx="1828800" cy="475488"/>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sz="1300" b="1">
                <a:solidFill>
                  <a:srgbClr val="FFFFFF"/>
                </a:solidFill>
                <a:latin typeface="Space Grotesk"/>
              </a:rPr>
              <a:t>  Machine Learning</a:t>
            </a:r>
          </a:p>
        </p:txBody>
      </p:sp>
      <p:sp>
        <p:nvSpPr>
          <p:cNvPr id="20" name="Rounded Rectangle 19"/>
          <p:cNvSpPr/>
          <p:nvPr/>
        </p:nvSpPr>
        <p:spPr>
          <a:xfrm>
            <a:off x="8183879" y="1417320"/>
            <a:ext cx="3611880" cy="475488"/>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300" b="0">
                <a:solidFill>
                  <a:srgbClr val="111827"/>
                </a:solidFill>
                <a:latin typeface="Inter"/>
              </a:rPr>
              <a:t>  scikit-learn, XGBoost</a:t>
            </a:r>
          </a:p>
        </p:txBody>
      </p:sp>
      <p:sp>
        <p:nvSpPr>
          <p:cNvPr id="21" name="Rounded Rectangle 20"/>
          <p:cNvSpPr/>
          <p:nvPr/>
        </p:nvSpPr>
        <p:spPr>
          <a:xfrm>
            <a:off x="6309360" y="1947672"/>
            <a:ext cx="1828800" cy="475488"/>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sz="1300" b="1">
                <a:solidFill>
                  <a:srgbClr val="FFFFFF"/>
                </a:solidFill>
                <a:latin typeface="Space Grotesk"/>
              </a:rPr>
              <a:t>  Database</a:t>
            </a:r>
          </a:p>
        </p:txBody>
      </p:sp>
      <p:sp>
        <p:nvSpPr>
          <p:cNvPr id="22" name="Rounded Rectangle 21"/>
          <p:cNvSpPr/>
          <p:nvPr/>
        </p:nvSpPr>
        <p:spPr>
          <a:xfrm>
            <a:off x="8183879" y="1947672"/>
            <a:ext cx="3611880" cy="475488"/>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300" b="0">
                <a:solidFill>
                  <a:srgbClr val="111827"/>
                </a:solidFill>
                <a:latin typeface="Inter"/>
              </a:rPr>
              <a:t>  Relational / structured storage</a:t>
            </a:r>
          </a:p>
        </p:txBody>
      </p:sp>
      <p:sp>
        <p:nvSpPr>
          <p:cNvPr id="23" name="Rounded Rectangle 22"/>
          <p:cNvSpPr/>
          <p:nvPr/>
        </p:nvSpPr>
        <p:spPr>
          <a:xfrm>
            <a:off x="6309360" y="2478024"/>
            <a:ext cx="1828800" cy="47548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sz="1300" b="1">
                <a:solidFill>
                  <a:srgbClr val="FFFFFF"/>
                </a:solidFill>
                <a:latin typeface="Space Grotesk"/>
              </a:rPr>
              <a:t>  Development</a:t>
            </a:r>
          </a:p>
        </p:txBody>
      </p:sp>
      <p:sp>
        <p:nvSpPr>
          <p:cNvPr id="24" name="Rounded Rectangle 23"/>
          <p:cNvSpPr/>
          <p:nvPr/>
        </p:nvSpPr>
        <p:spPr>
          <a:xfrm>
            <a:off x="8183879" y="2478024"/>
            <a:ext cx="3611880" cy="475488"/>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300" b="0">
                <a:solidFill>
                  <a:srgbClr val="111827"/>
                </a:solidFill>
                <a:latin typeface="Inter"/>
              </a:rPr>
              <a:t>  VS Code, Git, GitHub</a:t>
            </a:r>
          </a:p>
        </p:txBody>
      </p:sp>
      <p:sp>
        <p:nvSpPr>
          <p:cNvPr id="25" name="Rounded Rectangle 24"/>
          <p:cNvSpPr/>
          <p:nvPr/>
        </p:nvSpPr>
        <p:spPr>
          <a:xfrm>
            <a:off x="6309360" y="3008376"/>
            <a:ext cx="1828800" cy="47548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sz="1300" b="1">
                <a:solidFill>
                  <a:srgbClr val="FFFFFF"/>
                </a:solidFill>
                <a:latin typeface="Space Grotesk"/>
              </a:rPr>
              <a:t>  API Testing</a:t>
            </a:r>
          </a:p>
        </p:txBody>
      </p:sp>
      <p:sp>
        <p:nvSpPr>
          <p:cNvPr id="26" name="Rounded Rectangle 25"/>
          <p:cNvSpPr/>
          <p:nvPr/>
        </p:nvSpPr>
        <p:spPr>
          <a:xfrm>
            <a:off x="8183879" y="3008376"/>
            <a:ext cx="3611880" cy="475488"/>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300" b="0">
                <a:solidFill>
                  <a:srgbClr val="111827"/>
                </a:solidFill>
                <a:latin typeface="Inter"/>
              </a:rPr>
              <a:t>  Postman / equivalent</a:t>
            </a:r>
          </a:p>
        </p:txBody>
      </p:sp>
      <p:sp>
        <p:nvSpPr>
          <p:cNvPr id="27" name="Rounded Rectangle 26"/>
          <p:cNvSpPr/>
          <p:nvPr/>
        </p:nvSpPr>
        <p:spPr>
          <a:xfrm>
            <a:off x="6309360" y="3538728"/>
            <a:ext cx="1828800" cy="475488"/>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sz="1300" b="1">
                <a:solidFill>
                  <a:srgbClr val="FFFFFF"/>
                </a:solidFill>
                <a:latin typeface="Space Grotesk"/>
              </a:rPr>
              <a:t>  Deployment</a:t>
            </a:r>
          </a:p>
        </p:txBody>
      </p:sp>
      <p:sp>
        <p:nvSpPr>
          <p:cNvPr id="28" name="Rounded Rectangle 27"/>
          <p:cNvSpPr/>
          <p:nvPr/>
        </p:nvSpPr>
        <p:spPr>
          <a:xfrm>
            <a:off x="8183879" y="3538728"/>
            <a:ext cx="3611880" cy="475488"/>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300" b="0">
                <a:solidFill>
                  <a:srgbClr val="111827"/>
                </a:solidFill>
                <a:latin typeface="Inter"/>
              </a:rPr>
              <a:t>  Suitable cloud/server environment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9FAFB"/>
        </a:solidFill>
        <a:effectLst/>
      </p:bgPr>
    </p:bg>
    <p:spTree>
      <p:nvGrpSpPr>
        <p:cNvPr id="1" name=""/>
        <p:cNvGrpSpPr/>
        <p:nvPr/>
      </p:nvGrpSpPr>
      <p:grpSpPr/>
      <p:sp>
        <p:nvSpPr>
          <p:cNvPr id="2" name="Rounded Rectangle 1"/>
          <p:cNvSpPr/>
          <p:nvPr/>
        </p:nvSpPr>
        <p:spPr>
          <a:xfrm>
            <a:off x="0" y="0"/>
            <a:ext cx="12191695" cy="10515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515600" cy="548640"/>
          </a:xfrm>
          <a:prstGeom prst="rect">
            <a:avLst/>
          </a:prstGeom>
          <a:noFill/>
        </p:spPr>
        <p:txBody>
          <a:bodyPr wrap="square"/>
          <a:lstStyle/>
          <a:p>
            <a:pPr algn="l">
              <a:spcBef>
                <a:spcPts val="0"/>
              </a:spcBef>
              <a:spcAft>
                <a:spcPts val="0"/>
              </a:spcAft>
            </a:pPr>
            <a:r>
              <a:rPr sz="3000" b="1">
                <a:solidFill>
                  <a:srgbClr val="FFFFFF"/>
                </a:solidFill>
                <a:latin typeface="Space Grotesk"/>
              </a:rPr>
              <a:t>Data Processing Pipeline</a:t>
            </a:r>
          </a:p>
        </p:txBody>
      </p:sp>
      <p:pic>
        <p:nvPicPr>
          <p:cNvPr id="4" name="Picture 3" descr="443732266_1006349624830063_6095867571651137613_n-removebg-preview.png"/>
          <p:cNvPicPr>
            <a:picLocks noChangeAspect="1"/>
          </p:cNvPicPr>
          <p:nvPr/>
        </p:nvPicPr>
        <p:blipFill>
          <a:blip r:embed="rId2"/>
          <a:stretch>
            <a:fillRect/>
          </a:stretch>
        </p:blipFill>
        <p:spPr>
          <a:xfrm>
            <a:off x="11094415" y="137160"/>
            <a:ext cx="868680" cy="868680"/>
          </a:xfrm>
          <a:prstGeom prst="rect">
            <a:avLst/>
          </a:prstGeom>
        </p:spPr>
      </p:pic>
      <p:sp>
        <p:nvSpPr>
          <p:cNvPr id="5" name="Rounded Rectangle 4"/>
          <p:cNvSpPr/>
          <p:nvPr/>
        </p:nvSpPr>
        <p:spPr>
          <a:xfrm>
            <a:off x="0" y="6675120"/>
            <a:ext cx="12191695" cy="18288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0" y="6446520"/>
            <a:ext cx="822960" cy="274320"/>
          </a:xfrm>
          <a:prstGeom prst="rect">
            <a:avLst/>
          </a:prstGeom>
          <a:noFill/>
        </p:spPr>
        <p:txBody>
          <a:bodyPr wrap="square"/>
          <a:lstStyle/>
          <a:p>
            <a:pPr algn="r">
              <a:spcBef>
                <a:spcPts val="0"/>
              </a:spcBef>
              <a:spcAft>
                <a:spcPts val="0"/>
              </a:spcAft>
            </a:pPr>
            <a:r>
              <a:rPr sz="1000" b="0">
                <a:solidFill>
                  <a:srgbClr val="9CA3AF"/>
                </a:solidFill>
                <a:latin typeface="Inter"/>
              </a:rPr>
              <a:t>13 / 21</a:t>
            </a:r>
          </a:p>
        </p:txBody>
      </p:sp>
      <p:sp>
        <p:nvSpPr>
          <p:cNvPr id="7" name="Rounded Rectangle 6"/>
          <p:cNvSpPr/>
          <p:nvPr/>
        </p:nvSpPr>
        <p:spPr>
          <a:xfrm>
            <a:off x="502920" y="1417320"/>
            <a:ext cx="2011680" cy="2926080"/>
          </a:xfrm>
          <a:prstGeom prst="roundRect">
            <a:avLst/>
          </a:prstGeom>
          <a:solidFill>
            <a:srgbClr val="FFFF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1417320"/>
            <a:ext cx="2011680" cy="635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07592" y="1600200"/>
            <a:ext cx="402336" cy="402336"/>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Inter"/>
              </a:rPr>
              <a:t>1</a:t>
            </a:r>
          </a:p>
        </p:txBody>
      </p:sp>
      <p:sp>
        <p:nvSpPr>
          <p:cNvPr id="10" name="TextBox 9"/>
          <p:cNvSpPr txBox="1"/>
          <p:nvPr/>
        </p:nvSpPr>
        <p:spPr>
          <a:xfrm>
            <a:off x="594360" y="2103120"/>
            <a:ext cx="1828800" cy="365760"/>
          </a:xfrm>
          <a:prstGeom prst="rect">
            <a:avLst/>
          </a:prstGeom>
          <a:noFill/>
        </p:spPr>
        <p:txBody>
          <a:bodyPr wrap="square"/>
          <a:lstStyle/>
          <a:p>
            <a:pPr algn="ctr">
              <a:spcBef>
                <a:spcPts val="0"/>
              </a:spcBef>
              <a:spcAft>
                <a:spcPts val="0"/>
              </a:spcAft>
            </a:pPr>
            <a:r>
              <a:rPr sz="1500" b="1">
                <a:solidFill>
                  <a:srgbClr val="2563EB"/>
                </a:solidFill>
                <a:latin typeface="Space Grotesk"/>
              </a:rPr>
              <a:t>Input Data</a:t>
            </a:r>
          </a:p>
        </p:txBody>
      </p:sp>
      <p:sp>
        <p:nvSpPr>
          <p:cNvPr id="11" name="TextBox 10"/>
          <p:cNvSpPr txBox="1"/>
          <p:nvPr/>
        </p:nvSpPr>
        <p:spPr>
          <a:xfrm>
            <a:off x="594360" y="2560320"/>
            <a:ext cx="1828800" cy="1645920"/>
          </a:xfrm>
          <a:prstGeom prst="rect">
            <a:avLst/>
          </a:prstGeom>
          <a:noFill/>
        </p:spPr>
        <p:txBody>
          <a:bodyPr wrap="square"/>
          <a:lstStyle/>
          <a:p>
            <a:pPr algn="ctr">
              <a:spcBef>
                <a:spcPts val="0"/>
              </a:spcBef>
              <a:spcAft>
                <a:spcPts val="0"/>
              </a:spcAft>
            </a:pPr>
            <a:r>
              <a:rPr sz="1200" b="0">
                <a:solidFill>
                  <a:srgbClr val="9CA3AF"/>
                </a:solidFill>
                <a:latin typeface="Inter"/>
              </a:rPr>
              <a:t>Sales Data &amp;
Inventory Data</a:t>
            </a:r>
          </a:p>
        </p:txBody>
      </p:sp>
      <p:sp>
        <p:nvSpPr>
          <p:cNvPr id="12" name="TextBox 11"/>
          <p:cNvSpPr txBox="1"/>
          <p:nvPr/>
        </p:nvSpPr>
        <p:spPr>
          <a:xfrm>
            <a:off x="2560320" y="2651760"/>
            <a:ext cx="274320" cy="274320"/>
          </a:xfrm>
          <a:prstGeom prst="rect">
            <a:avLst/>
          </a:prstGeom>
          <a:noFill/>
        </p:spPr>
        <p:txBody>
          <a:bodyPr wrap="square"/>
          <a:lstStyle/>
          <a:p>
            <a:pPr algn="ctr">
              <a:spcBef>
                <a:spcPts val="0"/>
              </a:spcBef>
              <a:spcAft>
                <a:spcPts val="0"/>
              </a:spcAft>
            </a:pPr>
            <a:r>
              <a:rPr sz="2000" b="1">
                <a:solidFill>
                  <a:srgbClr val="9CA3AF"/>
                </a:solidFill>
                <a:latin typeface="Inter"/>
              </a:rPr>
              <a:t>→</a:t>
            </a:r>
          </a:p>
        </p:txBody>
      </p:sp>
      <p:sp>
        <p:nvSpPr>
          <p:cNvPr id="13" name="Rounded Rectangle 12"/>
          <p:cNvSpPr/>
          <p:nvPr/>
        </p:nvSpPr>
        <p:spPr>
          <a:xfrm>
            <a:off x="2834640" y="1417320"/>
            <a:ext cx="2011680" cy="2926080"/>
          </a:xfrm>
          <a:prstGeom prst="roundRect">
            <a:avLst/>
          </a:prstGeom>
          <a:solidFill>
            <a:srgbClr val="FFFFFF"/>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834640" y="1417320"/>
            <a:ext cx="2011680" cy="6350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39312" y="1600200"/>
            <a:ext cx="402336" cy="402336"/>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Inter"/>
              </a:rPr>
              <a:t>2</a:t>
            </a:r>
          </a:p>
        </p:txBody>
      </p:sp>
      <p:sp>
        <p:nvSpPr>
          <p:cNvPr id="16" name="TextBox 15"/>
          <p:cNvSpPr txBox="1"/>
          <p:nvPr/>
        </p:nvSpPr>
        <p:spPr>
          <a:xfrm>
            <a:off x="2926080" y="2103120"/>
            <a:ext cx="1828800" cy="365760"/>
          </a:xfrm>
          <a:prstGeom prst="rect">
            <a:avLst/>
          </a:prstGeom>
          <a:noFill/>
        </p:spPr>
        <p:txBody>
          <a:bodyPr wrap="square"/>
          <a:lstStyle/>
          <a:p>
            <a:pPr algn="ctr">
              <a:spcBef>
                <a:spcPts val="0"/>
              </a:spcBef>
              <a:spcAft>
                <a:spcPts val="0"/>
              </a:spcAft>
            </a:pPr>
            <a:r>
              <a:rPr sz="1500" b="1">
                <a:solidFill>
                  <a:srgbClr val="F59E0B"/>
                </a:solidFill>
                <a:latin typeface="Space Grotesk"/>
              </a:rPr>
              <a:t>Validation</a:t>
            </a:r>
          </a:p>
        </p:txBody>
      </p:sp>
      <p:sp>
        <p:nvSpPr>
          <p:cNvPr id="17" name="TextBox 16"/>
          <p:cNvSpPr txBox="1"/>
          <p:nvPr/>
        </p:nvSpPr>
        <p:spPr>
          <a:xfrm>
            <a:off x="2926080" y="2560320"/>
            <a:ext cx="1828800" cy="1645920"/>
          </a:xfrm>
          <a:prstGeom prst="rect">
            <a:avLst/>
          </a:prstGeom>
          <a:noFill/>
        </p:spPr>
        <p:txBody>
          <a:bodyPr wrap="square"/>
          <a:lstStyle/>
          <a:p>
            <a:pPr algn="ctr">
              <a:spcBef>
                <a:spcPts val="0"/>
              </a:spcBef>
              <a:spcAft>
                <a:spcPts val="0"/>
              </a:spcAft>
            </a:pPr>
            <a:r>
              <a:rPr sz="1200" b="0">
                <a:solidFill>
                  <a:srgbClr val="9CA3AF"/>
                </a:solidFill>
                <a:latin typeface="Inter"/>
              </a:rPr>
              <a:t>Required fields, types,
missing values, consistency</a:t>
            </a:r>
          </a:p>
        </p:txBody>
      </p:sp>
      <p:sp>
        <p:nvSpPr>
          <p:cNvPr id="18" name="TextBox 17"/>
          <p:cNvSpPr txBox="1"/>
          <p:nvPr/>
        </p:nvSpPr>
        <p:spPr>
          <a:xfrm>
            <a:off x="4892040" y="2651760"/>
            <a:ext cx="274320" cy="274320"/>
          </a:xfrm>
          <a:prstGeom prst="rect">
            <a:avLst/>
          </a:prstGeom>
          <a:noFill/>
        </p:spPr>
        <p:txBody>
          <a:bodyPr wrap="square"/>
          <a:lstStyle/>
          <a:p>
            <a:pPr algn="ctr">
              <a:spcBef>
                <a:spcPts val="0"/>
              </a:spcBef>
              <a:spcAft>
                <a:spcPts val="0"/>
              </a:spcAft>
            </a:pPr>
            <a:r>
              <a:rPr sz="2000" b="1">
                <a:solidFill>
                  <a:srgbClr val="9CA3AF"/>
                </a:solidFill>
                <a:latin typeface="Inter"/>
              </a:rPr>
              <a:t>→</a:t>
            </a:r>
          </a:p>
        </p:txBody>
      </p:sp>
      <p:sp>
        <p:nvSpPr>
          <p:cNvPr id="19" name="Rounded Rectangle 18"/>
          <p:cNvSpPr/>
          <p:nvPr/>
        </p:nvSpPr>
        <p:spPr>
          <a:xfrm>
            <a:off x="5166360" y="1417320"/>
            <a:ext cx="2011680" cy="2926080"/>
          </a:xfrm>
          <a:prstGeom prst="roundRect">
            <a:avLst/>
          </a:prstGeom>
          <a:solidFill>
            <a:srgbClr val="FFFFFF"/>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166360" y="1417320"/>
            <a:ext cx="2011680" cy="6350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971032" y="1600200"/>
            <a:ext cx="402336" cy="402336"/>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Inter"/>
              </a:rPr>
              <a:t>3</a:t>
            </a:r>
          </a:p>
        </p:txBody>
      </p:sp>
      <p:sp>
        <p:nvSpPr>
          <p:cNvPr id="22" name="TextBox 21"/>
          <p:cNvSpPr txBox="1"/>
          <p:nvPr/>
        </p:nvSpPr>
        <p:spPr>
          <a:xfrm>
            <a:off x="5257800" y="2103120"/>
            <a:ext cx="1828800" cy="365760"/>
          </a:xfrm>
          <a:prstGeom prst="rect">
            <a:avLst/>
          </a:prstGeom>
          <a:noFill/>
        </p:spPr>
        <p:txBody>
          <a:bodyPr wrap="square"/>
          <a:lstStyle/>
          <a:p>
            <a:pPr algn="ctr">
              <a:spcBef>
                <a:spcPts val="0"/>
              </a:spcBef>
              <a:spcAft>
                <a:spcPts val="0"/>
              </a:spcAft>
            </a:pPr>
            <a:r>
              <a:rPr sz="1500" b="1">
                <a:solidFill>
                  <a:srgbClr val="14B8A6"/>
                </a:solidFill>
                <a:latin typeface="Space Grotesk"/>
              </a:rPr>
              <a:t>Processing</a:t>
            </a:r>
          </a:p>
        </p:txBody>
      </p:sp>
      <p:sp>
        <p:nvSpPr>
          <p:cNvPr id="23" name="TextBox 22"/>
          <p:cNvSpPr txBox="1"/>
          <p:nvPr/>
        </p:nvSpPr>
        <p:spPr>
          <a:xfrm>
            <a:off x="5257800" y="2560320"/>
            <a:ext cx="1828800" cy="1645920"/>
          </a:xfrm>
          <a:prstGeom prst="rect">
            <a:avLst/>
          </a:prstGeom>
          <a:noFill/>
        </p:spPr>
        <p:txBody>
          <a:bodyPr wrap="square"/>
          <a:lstStyle/>
          <a:p>
            <a:pPr algn="ctr">
              <a:spcBef>
                <a:spcPts val="0"/>
              </a:spcBef>
              <a:spcAft>
                <a:spcPts val="0"/>
              </a:spcAft>
            </a:pPr>
            <a:r>
              <a:rPr sz="1200" b="0">
                <a:solidFill>
                  <a:srgbClr val="9CA3AF"/>
                </a:solidFill>
                <a:latin typeface="Inter"/>
              </a:rPr>
              <a:t>Cleaning, aggregation,
time series, features</a:t>
            </a:r>
          </a:p>
        </p:txBody>
      </p:sp>
      <p:sp>
        <p:nvSpPr>
          <p:cNvPr id="24" name="TextBox 23"/>
          <p:cNvSpPr txBox="1"/>
          <p:nvPr/>
        </p:nvSpPr>
        <p:spPr>
          <a:xfrm>
            <a:off x="7223760" y="2651760"/>
            <a:ext cx="274320" cy="274320"/>
          </a:xfrm>
          <a:prstGeom prst="rect">
            <a:avLst/>
          </a:prstGeom>
          <a:noFill/>
        </p:spPr>
        <p:txBody>
          <a:bodyPr wrap="square"/>
          <a:lstStyle/>
          <a:p>
            <a:pPr algn="ctr">
              <a:spcBef>
                <a:spcPts val="0"/>
              </a:spcBef>
              <a:spcAft>
                <a:spcPts val="0"/>
              </a:spcAft>
            </a:pPr>
            <a:r>
              <a:rPr sz="2000" b="1">
                <a:solidFill>
                  <a:srgbClr val="9CA3AF"/>
                </a:solidFill>
                <a:latin typeface="Inter"/>
              </a:rPr>
              <a:t>→</a:t>
            </a:r>
          </a:p>
        </p:txBody>
      </p:sp>
      <p:sp>
        <p:nvSpPr>
          <p:cNvPr id="25" name="Rounded Rectangle 24"/>
          <p:cNvSpPr/>
          <p:nvPr/>
        </p:nvSpPr>
        <p:spPr>
          <a:xfrm>
            <a:off x="7498080" y="1417320"/>
            <a:ext cx="2011680" cy="2926080"/>
          </a:xfrm>
          <a:prstGeom prst="roundRect">
            <a:avLst/>
          </a:prstGeom>
          <a:solidFill>
            <a:srgbClr val="FFFF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498080" y="1417320"/>
            <a:ext cx="2011680" cy="635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302752" y="1600200"/>
            <a:ext cx="402336" cy="402336"/>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Inter"/>
              </a:rPr>
              <a:t>4</a:t>
            </a:r>
          </a:p>
        </p:txBody>
      </p:sp>
      <p:sp>
        <p:nvSpPr>
          <p:cNvPr id="28" name="TextBox 27"/>
          <p:cNvSpPr txBox="1"/>
          <p:nvPr/>
        </p:nvSpPr>
        <p:spPr>
          <a:xfrm>
            <a:off x="7589520" y="2103120"/>
            <a:ext cx="1828800" cy="365760"/>
          </a:xfrm>
          <a:prstGeom prst="rect">
            <a:avLst/>
          </a:prstGeom>
          <a:noFill/>
        </p:spPr>
        <p:txBody>
          <a:bodyPr wrap="square"/>
          <a:lstStyle/>
          <a:p>
            <a:pPr algn="ctr">
              <a:spcBef>
                <a:spcPts val="0"/>
              </a:spcBef>
              <a:spcAft>
                <a:spcPts val="0"/>
              </a:spcAft>
            </a:pPr>
            <a:r>
              <a:rPr sz="1500" b="1">
                <a:solidFill>
                  <a:srgbClr val="2563EB"/>
                </a:solidFill>
                <a:latin typeface="Space Grotesk"/>
              </a:rPr>
              <a:t>AI &amp; Analytics</a:t>
            </a:r>
          </a:p>
        </p:txBody>
      </p:sp>
      <p:sp>
        <p:nvSpPr>
          <p:cNvPr id="29" name="TextBox 28"/>
          <p:cNvSpPr txBox="1"/>
          <p:nvPr/>
        </p:nvSpPr>
        <p:spPr>
          <a:xfrm>
            <a:off x="7589520" y="2560320"/>
            <a:ext cx="1828800" cy="1645920"/>
          </a:xfrm>
          <a:prstGeom prst="rect">
            <a:avLst/>
          </a:prstGeom>
          <a:noFill/>
        </p:spPr>
        <p:txBody>
          <a:bodyPr wrap="square"/>
          <a:lstStyle/>
          <a:p>
            <a:pPr algn="ctr">
              <a:spcBef>
                <a:spcPts val="0"/>
              </a:spcBef>
              <a:spcAft>
                <a:spcPts val="0"/>
              </a:spcAft>
            </a:pPr>
            <a:r>
              <a:rPr sz="1200" b="0">
                <a:solidFill>
                  <a:srgbClr val="9CA3AF"/>
                </a:solidFill>
                <a:latin typeface="Inter"/>
              </a:rPr>
              <a:t>Demand analysis, forecasting,
evaluation, optimization</a:t>
            </a:r>
          </a:p>
        </p:txBody>
      </p:sp>
      <p:sp>
        <p:nvSpPr>
          <p:cNvPr id="30" name="TextBox 29"/>
          <p:cNvSpPr txBox="1"/>
          <p:nvPr/>
        </p:nvSpPr>
        <p:spPr>
          <a:xfrm>
            <a:off x="9555480" y="2651760"/>
            <a:ext cx="274320" cy="274320"/>
          </a:xfrm>
          <a:prstGeom prst="rect">
            <a:avLst/>
          </a:prstGeom>
          <a:noFill/>
        </p:spPr>
        <p:txBody>
          <a:bodyPr wrap="square"/>
          <a:lstStyle/>
          <a:p>
            <a:pPr algn="ctr">
              <a:spcBef>
                <a:spcPts val="0"/>
              </a:spcBef>
              <a:spcAft>
                <a:spcPts val="0"/>
              </a:spcAft>
            </a:pPr>
            <a:r>
              <a:rPr sz="2000" b="1">
                <a:solidFill>
                  <a:srgbClr val="9CA3AF"/>
                </a:solidFill>
                <a:latin typeface="Inter"/>
              </a:rPr>
              <a:t>→</a:t>
            </a:r>
          </a:p>
        </p:txBody>
      </p:sp>
      <p:sp>
        <p:nvSpPr>
          <p:cNvPr id="31" name="Rounded Rectangle 30"/>
          <p:cNvSpPr/>
          <p:nvPr/>
        </p:nvSpPr>
        <p:spPr>
          <a:xfrm>
            <a:off x="9829800" y="1417320"/>
            <a:ext cx="2011680" cy="2926080"/>
          </a:xfrm>
          <a:prstGeom prst="roundRect">
            <a:avLst/>
          </a:prstGeom>
          <a:solidFill>
            <a:srgbClr val="FFFFFF"/>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829800" y="1417320"/>
            <a:ext cx="2011680" cy="6350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634472" y="1600200"/>
            <a:ext cx="402336" cy="402336"/>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Inter"/>
              </a:rPr>
              <a:t>5</a:t>
            </a:r>
          </a:p>
        </p:txBody>
      </p:sp>
      <p:sp>
        <p:nvSpPr>
          <p:cNvPr id="34" name="TextBox 33"/>
          <p:cNvSpPr txBox="1"/>
          <p:nvPr/>
        </p:nvSpPr>
        <p:spPr>
          <a:xfrm>
            <a:off x="9921240" y="2103120"/>
            <a:ext cx="1828800" cy="365760"/>
          </a:xfrm>
          <a:prstGeom prst="rect">
            <a:avLst/>
          </a:prstGeom>
          <a:noFill/>
        </p:spPr>
        <p:txBody>
          <a:bodyPr wrap="square"/>
          <a:lstStyle/>
          <a:p>
            <a:pPr algn="ctr">
              <a:spcBef>
                <a:spcPts val="0"/>
              </a:spcBef>
              <a:spcAft>
                <a:spcPts val="0"/>
              </a:spcAft>
            </a:pPr>
            <a:r>
              <a:rPr sz="1500" b="1">
                <a:solidFill>
                  <a:srgbClr val="10B981"/>
                </a:solidFill>
                <a:latin typeface="Space Grotesk"/>
              </a:rPr>
              <a:t>Output</a:t>
            </a:r>
          </a:p>
        </p:txBody>
      </p:sp>
      <p:sp>
        <p:nvSpPr>
          <p:cNvPr id="35" name="TextBox 34"/>
          <p:cNvSpPr txBox="1"/>
          <p:nvPr/>
        </p:nvSpPr>
        <p:spPr>
          <a:xfrm>
            <a:off x="9921240" y="2560320"/>
            <a:ext cx="1828800" cy="1645920"/>
          </a:xfrm>
          <a:prstGeom prst="rect">
            <a:avLst/>
          </a:prstGeom>
          <a:noFill/>
        </p:spPr>
        <p:txBody>
          <a:bodyPr wrap="square"/>
          <a:lstStyle/>
          <a:p>
            <a:pPr algn="ctr">
              <a:spcBef>
                <a:spcPts val="0"/>
              </a:spcBef>
              <a:spcAft>
                <a:spcPts val="0"/>
              </a:spcAft>
            </a:pPr>
            <a:r>
              <a:rPr sz="1200" b="0">
                <a:solidFill>
                  <a:srgbClr val="9CA3AF"/>
                </a:solidFill>
                <a:latin typeface="Inter"/>
              </a:rPr>
              <a:t>Forecasts + Risks + KPIs
+ Recommendations</a:t>
            </a:r>
          </a:p>
        </p:txBody>
      </p:sp>
      <p:sp>
        <p:nvSpPr>
          <p:cNvPr id="36" name="Rounded Rectangle 35"/>
          <p:cNvSpPr/>
          <p:nvPr/>
        </p:nvSpPr>
        <p:spPr>
          <a:xfrm>
            <a:off x="502920" y="4663440"/>
            <a:ext cx="11155680" cy="54864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0080" y="4727448"/>
            <a:ext cx="10881360" cy="411480"/>
          </a:xfrm>
          <a:prstGeom prst="rect">
            <a:avLst/>
          </a:prstGeom>
          <a:noFill/>
        </p:spPr>
        <p:txBody>
          <a:bodyPr wrap="square"/>
          <a:lstStyle/>
          <a:p>
            <a:pPr algn="ctr">
              <a:spcBef>
                <a:spcPts val="0"/>
              </a:spcBef>
              <a:spcAft>
                <a:spcPts val="0"/>
              </a:spcAft>
            </a:pPr>
            <a:r>
              <a:rPr sz="1300" b="0">
                <a:solidFill>
                  <a:srgbClr val="2563EB"/>
                </a:solidFill>
                <a:latin typeface="Inter"/>
              </a:rPr>
              <a:t>Data quality is critical — forecasting and inventory recommendations are only as reliable as their inputs.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9FAFB"/>
        </a:solidFill>
        <a:effectLst/>
      </p:bgPr>
    </p:bg>
    <p:spTree>
      <p:nvGrpSpPr>
        <p:cNvPr id="1" name=""/>
        <p:cNvGrpSpPr/>
        <p:nvPr/>
      </p:nvGrpSpPr>
      <p:grpSpPr/>
      <p:sp>
        <p:nvSpPr>
          <p:cNvPr id="2" name="Rounded Rectangle 1"/>
          <p:cNvSpPr/>
          <p:nvPr/>
        </p:nvSpPr>
        <p:spPr>
          <a:xfrm>
            <a:off x="0" y="0"/>
            <a:ext cx="12191695" cy="10515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515600" cy="548640"/>
          </a:xfrm>
          <a:prstGeom prst="rect">
            <a:avLst/>
          </a:prstGeom>
          <a:noFill/>
        </p:spPr>
        <p:txBody>
          <a:bodyPr wrap="square"/>
          <a:lstStyle/>
          <a:p>
            <a:pPr algn="l">
              <a:spcBef>
                <a:spcPts val="0"/>
              </a:spcBef>
              <a:spcAft>
                <a:spcPts val="0"/>
              </a:spcAft>
            </a:pPr>
            <a:r>
              <a:rPr sz="3000" b="1">
                <a:solidFill>
                  <a:srgbClr val="FFFFFF"/>
                </a:solidFill>
                <a:latin typeface="Space Grotesk"/>
              </a:rPr>
              <a:t>Scope &amp; Boundaries</a:t>
            </a:r>
          </a:p>
        </p:txBody>
      </p:sp>
      <p:pic>
        <p:nvPicPr>
          <p:cNvPr id="4" name="Picture 3" descr="443732266_1006349624830063_6095867571651137613_n-removebg-preview.png"/>
          <p:cNvPicPr>
            <a:picLocks noChangeAspect="1"/>
          </p:cNvPicPr>
          <p:nvPr/>
        </p:nvPicPr>
        <p:blipFill>
          <a:blip r:embed="rId2"/>
          <a:stretch>
            <a:fillRect/>
          </a:stretch>
        </p:blipFill>
        <p:spPr>
          <a:xfrm>
            <a:off x="11094415" y="137160"/>
            <a:ext cx="868680" cy="868680"/>
          </a:xfrm>
          <a:prstGeom prst="rect">
            <a:avLst/>
          </a:prstGeom>
        </p:spPr>
      </p:pic>
      <p:sp>
        <p:nvSpPr>
          <p:cNvPr id="5" name="Rounded Rectangle 4"/>
          <p:cNvSpPr/>
          <p:nvPr/>
        </p:nvSpPr>
        <p:spPr>
          <a:xfrm>
            <a:off x="0" y="6675120"/>
            <a:ext cx="12191695" cy="18288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0" y="6446520"/>
            <a:ext cx="822960" cy="274320"/>
          </a:xfrm>
          <a:prstGeom prst="rect">
            <a:avLst/>
          </a:prstGeom>
          <a:noFill/>
        </p:spPr>
        <p:txBody>
          <a:bodyPr wrap="square"/>
          <a:lstStyle/>
          <a:p>
            <a:pPr algn="r">
              <a:spcBef>
                <a:spcPts val="0"/>
              </a:spcBef>
              <a:spcAft>
                <a:spcPts val="0"/>
              </a:spcAft>
            </a:pPr>
            <a:r>
              <a:rPr sz="1000" b="0">
                <a:solidFill>
                  <a:srgbClr val="9CA3AF"/>
                </a:solidFill>
                <a:latin typeface="Inter"/>
              </a:rPr>
              <a:t>14 / 21</a:t>
            </a:r>
          </a:p>
        </p:txBody>
      </p:sp>
      <p:sp>
        <p:nvSpPr>
          <p:cNvPr id="7" name="Rounded Rectangle 6"/>
          <p:cNvSpPr/>
          <p:nvPr/>
        </p:nvSpPr>
        <p:spPr>
          <a:xfrm>
            <a:off x="457200" y="1417320"/>
            <a:ext cx="5394960" cy="4892040"/>
          </a:xfrm>
          <a:prstGeom prst="roundRect">
            <a:avLst/>
          </a:prstGeom>
          <a:solidFill>
            <a:srgbClr val="FFFFFF"/>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27048"/>
            <a:ext cx="5120640" cy="365760"/>
          </a:xfrm>
          <a:prstGeom prst="rect">
            <a:avLst/>
          </a:prstGeom>
          <a:noFill/>
        </p:spPr>
        <p:txBody>
          <a:bodyPr wrap="square"/>
          <a:lstStyle/>
          <a:p>
            <a:pPr algn="l">
              <a:spcBef>
                <a:spcPts val="0"/>
              </a:spcBef>
              <a:spcAft>
                <a:spcPts val="0"/>
              </a:spcAft>
            </a:pPr>
            <a:r>
              <a:rPr sz="1700" b="1">
                <a:solidFill>
                  <a:srgbClr val="10B981"/>
                </a:solidFill>
                <a:latin typeface="Space Grotesk"/>
              </a:rPr>
              <a:t>  Included</a:t>
            </a:r>
          </a:p>
        </p:txBody>
      </p:sp>
      <p:sp>
        <p:nvSpPr>
          <p:cNvPr id="9" name="TextBox 8"/>
          <p:cNvSpPr txBox="1"/>
          <p:nvPr/>
        </p:nvSpPr>
        <p:spPr>
          <a:xfrm>
            <a:off x="594360" y="1828800"/>
            <a:ext cx="5120640" cy="4389120"/>
          </a:xfrm>
          <a:prstGeom prst="rect">
            <a:avLst/>
          </a:prstGeom>
          <a:noFill/>
        </p:spPr>
        <p:txBody>
          <a:bodyPr wrap="square"/>
          <a:lstStyle/>
          <a:p>
            <a:pPr algn="l">
              <a:spcAft>
                <a:spcPts val="400"/>
              </a:spcAft>
            </a:pPr>
            <a:r>
              <a:rPr sz="1300" b="0">
                <a:solidFill>
                  <a:srgbClr val="111827"/>
                </a:solidFill>
                <a:latin typeface="Inter"/>
              </a:rPr>
              <a:t>    Multi-outlet retail inventory intelligence</a:t>
            </a:r>
          </a:p>
          <a:p>
            <a:pPr algn="l">
              <a:spcAft>
                <a:spcPts val="400"/>
              </a:spcAft>
            </a:pPr>
            <a:r>
              <a:rPr sz="1300" b="0">
                <a:solidFill>
                  <a:srgbClr val="111827"/>
                </a:solidFill>
                <a:latin typeface="Inter"/>
              </a:rPr>
              <a:t>    Historical sales and inventory analysis</a:t>
            </a:r>
          </a:p>
          <a:p>
            <a:pPr algn="l">
              <a:spcAft>
                <a:spcPts val="400"/>
              </a:spcAft>
            </a:pPr>
            <a:r>
              <a:rPr sz="1300" b="0">
                <a:solidFill>
                  <a:srgbClr val="111827"/>
                </a:solidFill>
                <a:latin typeface="Inter"/>
              </a:rPr>
              <a:t>    Product-outlet demand forecasting</a:t>
            </a:r>
          </a:p>
          <a:p>
            <a:pPr algn="l">
              <a:spcAft>
                <a:spcPts val="400"/>
              </a:spcAft>
            </a:pPr>
            <a:r>
              <a:rPr sz="1300" b="0">
                <a:solidFill>
                  <a:srgbClr val="111827"/>
                </a:solidFill>
                <a:latin typeface="Inter"/>
              </a:rPr>
              <a:t>    Multiple forecasting approaches</a:t>
            </a:r>
          </a:p>
          <a:p>
            <a:pPr algn="l">
              <a:spcAft>
                <a:spcPts val="400"/>
              </a:spcAft>
            </a:pPr>
            <a:r>
              <a:rPr sz="1300" b="0">
                <a:solidFill>
                  <a:srgbClr val="111827"/>
                </a:solidFill>
                <a:latin typeface="Inter"/>
              </a:rPr>
              <a:t>    Forecast evaluation</a:t>
            </a:r>
          </a:p>
          <a:p>
            <a:pPr algn="l">
              <a:spcAft>
                <a:spcPts val="400"/>
              </a:spcAft>
            </a:pPr>
            <a:r>
              <a:rPr sz="1300" b="0">
                <a:solidFill>
                  <a:srgbClr val="111827"/>
                </a:solidFill>
                <a:latin typeface="Inter"/>
              </a:rPr>
              <a:t>    Inventory optimization calculations</a:t>
            </a:r>
          </a:p>
          <a:p>
            <a:pPr algn="l">
              <a:spcAft>
                <a:spcPts val="400"/>
              </a:spcAft>
            </a:pPr>
            <a:r>
              <a:rPr sz="1300" b="0">
                <a:solidFill>
                  <a:srgbClr val="111827"/>
                </a:solidFill>
                <a:latin typeface="Inter"/>
              </a:rPr>
              <a:t>    Stockout and overstock detection</a:t>
            </a:r>
          </a:p>
          <a:p>
            <a:pPr algn="l">
              <a:spcAft>
                <a:spcPts val="400"/>
              </a:spcAft>
            </a:pPr>
            <a:r>
              <a:rPr sz="1300" b="0">
                <a:solidFill>
                  <a:srgbClr val="111827"/>
                </a:solidFill>
                <a:latin typeface="Inter"/>
              </a:rPr>
              <a:t>    Prioritized recommendations</a:t>
            </a:r>
          </a:p>
          <a:p>
            <a:pPr algn="l">
              <a:spcAft>
                <a:spcPts val="400"/>
              </a:spcAft>
            </a:pPr>
            <a:r>
              <a:rPr sz="1300" b="0">
                <a:solidFill>
                  <a:srgbClr val="111827"/>
                </a:solidFill>
                <a:latin typeface="Inter"/>
              </a:rPr>
              <a:t>    Inter-outlet transfer opportunities</a:t>
            </a:r>
          </a:p>
          <a:p>
            <a:pPr algn="l">
              <a:spcAft>
                <a:spcPts val="400"/>
              </a:spcAft>
            </a:pPr>
            <a:r>
              <a:rPr sz="1300" b="0">
                <a:solidFill>
                  <a:srgbClr val="111827"/>
                </a:solidFill>
                <a:latin typeface="Inter"/>
              </a:rPr>
              <a:t>    Interactive dashboard</a:t>
            </a:r>
          </a:p>
          <a:p>
            <a:pPr algn="l">
              <a:spcAft>
                <a:spcPts val="400"/>
              </a:spcAft>
            </a:pPr>
            <a:r>
              <a:rPr sz="1300" b="0">
                <a:solidFill>
                  <a:srgbClr val="111827"/>
                </a:solidFill>
                <a:latin typeface="Inter"/>
              </a:rPr>
              <a:t>    Product and outlet analytics</a:t>
            </a:r>
          </a:p>
          <a:p>
            <a:pPr algn="l">
              <a:spcAft>
                <a:spcPts val="400"/>
              </a:spcAft>
            </a:pPr>
            <a:r>
              <a:rPr sz="1300" b="0">
                <a:solidFill>
                  <a:srgbClr val="111827"/>
                </a:solidFill>
                <a:latin typeface="Inter"/>
              </a:rPr>
              <a:t>    Data validation</a:t>
            </a:r>
          </a:p>
        </p:txBody>
      </p:sp>
      <p:sp>
        <p:nvSpPr>
          <p:cNvPr id="10" name="Rounded Rectangle 9"/>
          <p:cNvSpPr/>
          <p:nvPr/>
        </p:nvSpPr>
        <p:spPr>
          <a:xfrm>
            <a:off x="6126480" y="1417320"/>
            <a:ext cx="5577840" cy="4892040"/>
          </a:xfrm>
          <a:prstGeom prst="roundRect">
            <a:avLst/>
          </a:prstGeom>
          <a:solidFill>
            <a:srgbClr val="FFFFFF"/>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3640" y="1527048"/>
            <a:ext cx="5303520" cy="365760"/>
          </a:xfrm>
          <a:prstGeom prst="rect">
            <a:avLst/>
          </a:prstGeom>
          <a:noFill/>
        </p:spPr>
        <p:txBody>
          <a:bodyPr wrap="square"/>
          <a:lstStyle/>
          <a:p>
            <a:pPr algn="l">
              <a:spcBef>
                <a:spcPts val="0"/>
              </a:spcBef>
              <a:spcAft>
                <a:spcPts val="0"/>
              </a:spcAft>
            </a:pPr>
            <a:r>
              <a:rPr sz="1700" b="1">
                <a:solidFill>
                  <a:srgbClr val="EF4444"/>
                </a:solidFill>
                <a:latin typeface="Space Grotesk"/>
              </a:rPr>
              <a:t>  Outside Current Scope</a:t>
            </a:r>
          </a:p>
        </p:txBody>
      </p:sp>
      <p:sp>
        <p:nvSpPr>
          <p:cNvPr id="12" name="TextBox 11"/>
          <p:cNvSpPr txBox="1"/>
          <p:nvPr/>
        </p:nvSpPr>
        <p:spPr>
          <a:xfrm>
            <a:off x="6263640" y="1828800"/>
            <a:ext cx="5303520" cy="4389120"/>
          </a:xfrm>
          <a:prstGeom prst="rect">
            <a:avLst/>
          </a:prstGeom>
          <a:noFill/>
        </p:spPr>
        <p:txBody>
          <a:bodyPr wrap="square"/>
          <a:lstStyle/>
          <a:p>
            <a:pPr algn="l">
              <a:spcAft>
                <a:spcPts val="400"/>
              </a:spcAft>
            </a:pPr>
            <a:r>
              <a:rPr sz="1300" b="0">
                <a:solidFill>
                  <a:srgbClr val="111827"/>
                </a:solidFill>
                <a:latin typeface="Inter"/>
              </a:rPr>
              <a:t>    Full ERP/POS system</a:t>
            </a:r>
          </a:p>
          <a:p>
            <a:pPr algn="l">
              <a:spcAft>
                <a:spcPts val="400"/>
              </a:spcAft>
            </a:pPr>
            <a:r>
              <a:rPr sz="1300" b="0">
                <a:solidFill>
                  <a:srgbClr val="111827"/>
                </a:solidFill>
                <a:latin typeface="Inter"/>
              </a:rPr>
              <a:t>    Automated supplier purchase orders</a:t>
            </a:r>
          </a:p>
          <a:p>
            <a:pPr algn="l">
              <a:spcAft>
                <a:spcPts val="400"/>
              </a:spcAft>
            </a:pPr>
            <a:r>
              <a:rPr sz="1300" b="0">
                <a:solidFill>
                  <a:srgbClr val="111827"/>
                </a:solidFill>
                <a:latin typeface="Inter"/>
              </a:rPr>
              <a:t>    Automatic physical stock transfers</a:t>
            </a:r>
          </a:p>
          <a:p>
            <a:pPr algn="l">
              <a:spcAft>
                <a:spcPts val="400"/>
              </a:spcAft>
            </a:pPr>
            <a:r>
              <a:rPr sz="1300" b="0">
                <a:solidFill>
                  <a:srgbClr val="111827"/>
                </a:solidFill>
                <a:latin typeface="Inter"/>
              </a:rPr>
              <a:t>    Payment/accounting systems</a:t>
            </a:r>
          </a:p>
          <a:p>
            <a:pPr algn="l">
              <a:spcAft>
                <a:spcPts val="400"/>
              </a:spcAft>
            </a:pPr>
            <a:r>
              <a:rPr sz="1300" b="0">
                <a:solidFill>
                  <a:srgbClr val="111827"/>
                </a:solidFill>
                <a:latin typeface="Inter"/>
              </a:rPr>
              <a:t>    Warehouse management system</a:t>
            </a:r>
          </a:p>
          <a:p>
            <a:pPr algn="l">
              <a:spcAft>
                <a:spcPts val="400"/>
              </a:spcAft>
            </a:pPr>
            <a:r>
              <a:rPr sz="1300" b="0">
                <a:solidFill>
                  <a:srgbClr val="111827"/>
                </a:solidFill>
                <a:latin typeface="Inter"/>
              </a:rPr>
              <a:t>    Direct live POS integration</a:t>
            </a:r>
          </a:p>
          <a:p>
            <a:pPr algn="l">
              <a:spcAft>
                <a:spcPts val="400"/>
              </a:spcAft>
            </a:pPr>
            <a:r>
              <a:rPr sz="1300" b="0">
                <a:solidFill>
                  <a:srgbClr val="111827"/>
                </a:solidFill>
                <a:latin typeface="Inter"/>
              </a:rPr>
              <a:t>    Fully automated purchasing decisions</a:t>
            </a:r>
          </a:p>
          <a:p>
            <a:pPr algn="l">
              <a:spcAft>
                <a:spcPts val="400"/>
              </a:spcAft>
            </a:pPr>
            <a:r>
              <a:rPr sz="1300" b="0">
                <a:solidFill>
                  <a:srgbClr val="111827"/>
                </a:solidFill>
                <a:latin typeface="Inter"/>
              </a:rPr>
              <a:t>    Weather/promotion-based forecasting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9FAFB"/>
        </a:solidFill>
        <a:effectLst/>
      </p:bgPr>
    </p:bg>
    <p:spTree>
      <p:nvGrpSpPr>
        <p:cNvPr id="1" name=""/>
        <p:cNvGrpSpPr/>
        <p:nvPr/>
      </p:nvGrpSpPr>
      <p:grpSpPr/>
      <p:sp>
        <p:nvSpPr>
          <p:cNvPr id="2" name="Rounded Rectangle 1"/>
          <p:cNvSpPr/>
          <p:nvPr/>
        </p:nvSpPr>
        <p:spPr>
          <a:xfrm>
            <a:off x="0" y="0"/>
            <a:ext cx="12191695" cy="10515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515600" cy="548640"/>
          </a:xfrm>
          <a:prstGeom prst="rect">
            <a:avLst/>
          </a:prstGeom>
          <a:noFill/>
        </p:spPr>
        <p:txBody>
          <a:bodyPr wrap="square"/>
          <a:lstStyle/>
          <a:p>
            <a:pPr algn="l">
              <a:spcBef>
                <a:spcPts val="0"/>
              </a:spcBef>
              <a:spcAft>
                <a:spcPts val="0"/>
              </a:spcAft>
            </a:pPr>
            <a:r>
              <a:rPr sz="3000" b="1">
                <a:solidFill>
                  <a:srgbClr val="FFFFFF"/>
                </a:solidFill>
                <a:latin typeface="Space Grotesk"/>
              </a:rPr>
              <a:t>17-Week Development Plan</a:t>
            </a:r>
          </a:p>
        </p:txBody>
      </p:sp>
      <p:pic>
        <p:nvPicPr>
          <p:cNvPr id="4" name="Picture 3" descr="443732266_1006349624830063_6095867571651137613_n-removebg-preview.png"/>
          <p:cNvPicPr>
            <a:picLocks noChangeAspect="1"/>
          </p:cNvPicPr>
          <p:nvPr/>
        </p:nvPicPr>
        <p:blipFill>
          <a:blip r:embed="rId2"/>
          <a:stretch>
            <a:fillRect/>
          </a:stretch>
        </p:blipFill>
        <p:spPr>
          <a:xfrm>
            <a:off x="11094415" y="137160"/>
            <a:ext cx="868680" cy="868680"/>
          </a:xfrm>
          <a:prstGeom prst="rect">
            <a:avLst/>
          </a:prstGeom>
        </p:spPr>
      </p:pic>
      <p:sp>
        <p:nvSpPr>
          <p:cNvPr id="5" name="Rounded Rectangle 4"/>
          <p:cNvSpPr/>
          <p:nvPr/>
        </p:nvSpPr>
        <p:spPr>
          <a:xfrm>
            <a:off x="0" y="6675120"/>
            <a:ext cx="12191695" cy="18288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0" y="6446520"/>
            <a:ext cx="822960" cy="274320"/>
          </a:xfrm>
          <a:prstGeom prst="rect">
            <a:avLst/>
          </a:prstGeom>
          <a:noFill/>
        </p:spPr>
        <p:txBody>
          <a:bodyPr wrap="square"/>
          <a:lstStyle/>
          <a:p>
            <a:pPr algn="r">
              <a:spcBef>
                <a:spcPts val="0"/>
              </a:spcBef>
              <a:spcAft>
                <a:spcPts val="0"/>
              </a:spcAft>
            </a:pPr>
            <a:r>
              <a:rPr sz="1000" b="0">
                <a:solidFill>
                  <a:srgbClr val="9CA3AF"/>
                </a:solidFill>
                <a:latin typeface="Inter"/>
              </a:rPr>
              <a:t>15 / 21</a:t>
            </a:r>
          </a:p>
        </p:txBody>
      </p:sp>
      <p:sp>
        <p:nvSpPr>
          <p:cNvPr id="7" name="Rounded Rectangle 6"/>
          <p:cNvSpPr/>
          <p:nvPr/>
        </p:nvSpPr>
        <p:spPr>
          <a:xfrm>
            <a:off x="457200" y="3200400"/>
            <a:ext cx="11247120" cy="50800"/>
          </a:xfrm>
          <a:prstGeom prst="round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3127248"/>
            <a:ext cx="182880" cy="18288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560320"/>
            <a:ext cx="1097280" cy="502920"/>
          </a:xfrm>
          <a:prstGeom prst="rect">
            <a:avLst/>
          </a:prstGeom>
          <a:noFill/>
        </p:spPr>
        <p:txBody>
          <a:bodyPr wrap="square"/>
          <a:lstStyle/>
          <a:p>
            <a:pPr algn="ctr">
              <a:spcBef>
                <a:spcPts val="0"/>
              </a:spcBef>
              <a:spcAft>
                <a:spcPts val="0"/>
              </a:spcAft>
            </a:pPr>
            <a:r>
              <a:rPr sz="1100" b="1">
                <a:solidFill>
                  <a:srgbClr val="2563EB"/>
                </a:solidFill>
                <a:latin typeface="Space Grotesk"/>
              </a:rPr>
              <a:t>M1
Week 4</a:t>
            </a:r>
          </a:p>
        </p:txBody>
      </p:sp>
      <p:sp>
        <p:nvSpPr>
          <p:cNvPr id="10" name="TextBox 9"/>
          <p:cNvSpPr txBox="1"/>
          <p:nvPr/>
        </p:nvSpPr>
        <p:spPr>
          <a:xfrm>
            <a:off x="457200" y="3429000"/>
            <a:ext cx="1097280" cy="1371600"/>
          </a:xfrm>
          <a:prstGeom prst="rect">
            <a:avLst/>
          </a:prstGeom>
          <a:noFill/>
        </p:spPr>
        <p:txBody>
          <a:bodyPr wrap="square"/>
          <a:lstStyle/>
          <a:p>
            <a:pPr algn="ctr">
              <a:spcBef>
                <a:spcPts val="0"/>
              </a:spcBef>
              <a:spcAft>
                <a:spcPts val="0"/>
              </a:spcAft>
            </a:pPr>
            <a:r>
              <a:rPr sz="1000" b="0">
                <a:solidFill>
                  <a:srgbClr val="9CA3AF"/>
                </a:solidFill>
                <a:latin typeface="Inter"/>
              </a:rPr>
              <a:t>Project Scope &amp;
Requirements Approved</a:t>
            </a:r>
          </a:p>
        </p:txBody>
      </p:sp>
      <p:sp>
        <p:nvSpPr>
          <p:cNvPr id="11" name="Oval 10"/>
          <p:cNvSpPr/>
          <p:nvPr/>
        </p:nvSpPr>
        <p:spPr>
          <a:xfrm>
            <a:off x="2176272" y="3127248"/>
            <a:ext cx="182880" cy="18288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719072" y="2560320"/>
            <a:ext cx="1097280" cy="502920"/>
          </a:xfrm>
          <a:prstGeom prst="rect">
            <a:avLst/>
          </a:prstGeom>
          <a:noFill/>
        </p:spPr>
        <p:txBody>
          <a:bodyPr wrap="square"/>
          <a:lstStyle/>
          <a:p>
            <a:pPr algn="ctr">
              <a:spcBef>
                <a:spcPts val="0"/>
              </a:spcBef>
              <a:spcAft>
                <a:spcPts val="0"/>
              </a:spcAft>
            </a:pPr>
            <a:r>
              <a:rPr sz="1100" b="1">
                <a:solidFill>
                  <a:srgbClr val="2563EB"/>
                </a:solidFill>
                <a:latin typeface="Space Grotesk"/>
              </a:rPr>
              <a:t>M2
Week 6</a:t>
            </a:r>
          </a:p>
        </p:txBody>
      </p:sp>
      <p:sp>
        <p:nvSpPr>
          <p:cNvPr id="13" name="TextBox 12"/>
          <p:cNvSpPr txBox="1"/>
          <p:nvPr/>
        </p:nvSpPr>
        <p:spPr>
          <a:xfrm>
            <a:off x="1719072" y="3429000"/>
            <a:ext cx="1097280" cy="1371600"/>
          </a:xfrm>
          <a:prstGeom prst="rect">
            <a:avLst/>
          </a:prstGeom>
          <a:noFill/>
        </p:spPr>
        <p:txBody>
          <a:bodyPr wrap="square"/>
          <a:lstStyle/>
          <a:p>
            <a:pPr algn="ctr">
              <a:spcBef>
                <a:spcPts val="0"/>
              </a:spcBef>
              <a:spcAft>
                <a:spcPts val="0"/>
              </a:spcAft>
            </a:pPr>
            <a:r>
              <a:rPr sz="1000" b="0">
                <a:solidFill>
                  <a:srgbClr val="9CA3AF"/>
                </a:solidFill>
                <a:latin typeface="Inter"/>
              </a:rPr>
              <a:t>System Architecture &amp;
UI Design Completed</a:t>
            </a:r>
          </a:p>
        </p:txBody>
      </p:sp>
      <p:sp>
        <p:nvSpPr>
          <p:cNvPr id="14" name="Oval 13"/>
          <p:cNvSpPr/>
          <p:nvPr/>
        </p:nvSpPr>
        <p:spPr>
          <a:xfrm>
            <a:off x="3438144" y="3127248"/>
            <a:ext cx="182880" cy="182880"/>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80944" y="2560320"/>
            <a:ext cx="1097280" cy="502920"/>
          </a:xfrm>
          <a:prstGeom prst="rect">
            <a:avLst/>
          </a:prstGeom>
          <a:noFill/>
        </p:spPr>
        <p:txBody>
          <a:bodyPr wrap="square"/>
          <a:lstStyle/>
          <a:p>
            <a:pPr algn="ctr">
              <a:spcBef>
                <a:spcPts val="0"/>
              </a:spcBef>
              <a:spcAft>
                <a:spcPts val="0"/>
              </a:spcAft>
            </a:pPr>
            <a:r>
              <a:rPr sz="1100" b="1">
                <a:solidFill>
                  <a:srgbClr val="14B8A6"/>
                </a:solidFill>
                <a:latin typeface="Space Grotesk"/>
              </a:rPr>
              <a:t>M3
Week 7</a:t>
            </a:r>
          </a:p>
        </p:txBody>
      </p:sp>
      <p:sp>
        <p:nvSpPr>
          <p:cNvPr id="16" name="TextBox 15"/>
          <p:cNvSpPr txBox="1"/>
          <p:nvPr/>
        </p:nvSpPr>
        <p:spPr>
          <a:xfrm>
            <a:off x="2980944" y="3429000"/>
            <a:ext cx="1097280" cy="1371600"/>
          </a:xfrm>
          <a:prstGeom prst="rect">
            <a:avLst/>
          </a:prstGeom>
          <a:noFill/>
        </p:spPr>
        <p:txBody>
          <a:bodyPr wrap="square"/>
          <a:lstStyle/>
          <a:p>
            <a:pPr algn="ctr">
              <a:spcBef>
                <a:spcPts val="0"/>
              </a:spcBef>
              <a:spcAft>
                <a:spcPts val="0"/>
              </a:spcAft>
            </a:pPr>
            <a:r>
              <a:rPr sz="1000" b="0">
                <a:solidFill>
                  <a:srgbClr val="9CA3AF"/>
                </a:solidFill>
                <a:latin typeface="Inter"/>
              </a:rPr>
              <a:t>Dataset &amp; Data
Pipeline Completed</a:t>
            </a:r>
          </a:p>
        </p:txBody>
      </p:sp>
      <p:sp>
        <p:nvSpPr>
          <p:cNvPr id="17" name="Oval 16"/>
          <p:cNvSpPr/>
          <p:nvPr/>
        </p:nvSpPr>
        <p:spPr>
          <a:xfrm>
            <a:off x="4700016" y="3127248"/>
            <a:ext cx="182880" cy="182880"/>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42816" y="2560320"/>
            <a:ext cx="1097280" cy="502920"/>
          </a:xfrm>
          <a:prstGeom prst="rect">
            <a:avLst/>
          </a:prstGeom>
          <a:noFill/>
        </p:spPr>
        <p:txBody>
          <a:bodyPr wrap="square"/>
          <a:lstStyle/>
          <a:p>
            <a:pPr algn="ctr">
              <a:spcBef>
                <a:spcPts val="0"/>
              </a:spcBef>
              <a:spcAft>
                <a:spcPts val="0"/>
              </a:spcAft>
            </a:pPr>
            <a:r>
              <a:rPr sz="1100" b="1">
                <a:solidFill>
                  <a:srgbClr val="14B8A6"/>
                </a:solidFill>
                <a:latin typeface="Space Grotesk"/>
              </a:rPr>
              <a:t>M4
Week 10</a:t>
            </a:r>
          </a:p>
        </p:txBody>
      </p:sp>
      <p:sp>
        <p:nvSpPr>
          <p:cNvPr id="19" name="TextBox 18"/>
          <p:cNvSpPr txBox="1"/>
          <p:nvPr/>
        </p:nvSpPr>
        <p:spPr>
          <a:xfrm>
            <a:off x="4242816" y="3429000"/>
            <a:ext cx="1097280" cy="1371600"/>
          </a:xfrm>
          <a:prstGeom prst="rect">
            <a:avLst/>
          </a:prstGeom>
          <a:noFill/>
        </p:spPr>
        <p:txBody>
          <a:bodyPr wrap="square"/>
          <a:lstStyle/>
          <a:p>
            <a:pPr algn="ctr">
              <a:spcBef>
                <a:spcPts val="0"/>
              </a:spcBef>
              <a:spcAft>
                <a:spcPts val="0"/>
              </a:spcAft>
            </a:pPr>
            <a:r>
              <a:rPr sz="1000" b="0">
                <a:solidFill>
                  <a:srgbClr val="9CA3AF"/>
                </a:solidFill>
                <a:latin typeface="Inter"/>
              </a:rPr>
              <a:t>Forecasting Engine
Completed</a:t>
            </a:r>
          </a:p>
        </p:txBody>
      </p:sp>
      <p:sp>
        <p:nvSpPr>
          <p:cNvPr id="20" name="Oval 19"/>
          <p:cNvSpPr/>
          <p:nvPr/>
        </p:nvSpPr>
        <p:spPr>
          <a:xfrm>
            <a:off x="5961888" y="3127248"/>
            <a:ext cx="182880" cy="18288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504688" y="2560320"/>
            <a:ext cx="1097280" cy="502920"/>
          </a:xfrm>
          <a:prstGeom prst="rect">
            <a:avLst/>
          </a:prstGeom>
          <a:noFill/>
        </p:spPr>
        <p:txBody>
          <a:bodyPr wrap="square"/>
          <a:lstStyle/>
          <a:p>
            <a:pPr algn="ctr">
              <a:spcBef>
                <a:spcPts val="0"/>
              </a:spcBef>
              <a:spcAft>
                <a:spcPts val="0"/>
              </a:spcAft>
            </a:pPr>
            <a:r>
              <a:rPr sz="1100" b="1">
                <a:solidFill>
                  <a:srgbClr val="2563EB"/>
                </a:solidFill>
                <a:latin typeface="Space Grotesk"/>
              </a:rPr>
              <a:t>M5
Week 11</a:t>
            </a:r>
          </a:p>
        </p:txBody>
      </p:sp>
      <p:sp>
        <p:nvSpPr>
          <p:cNvPr id="22" name="TextBox 21"/>
          <p:cNvSpPr txBox="1"/>
          <p:nvPr/>
        </p:nvSpPr>
        <p:spPr>
          <a:xfrm>
            <a:off x="5504688" y="3429000"/>
            <a:ext cx="1097280" cy="1371600"/>
          </a:xfrm>
          <a:prstGeom prst="rect">
            <a:avLst/>
          </a:prstGeom>
          <a:noFill/>
        </p:spPr>
        <p:txBody>
          <a:bodyPr wrap="square"/>
          <a:lstStyle/>
          <a:p>
            <a:pPr algn="ctr">
              <a:spcBef>
                <a:spcPts val="0"/>
              </a:spcBef>
              <a:spcAft>
                <a:spcPts val="0"/>
              </a:spcAft>
            </a:pPr>
            <a:r>
              <a:rPr sz="1000" b="0">
                <a:solidFill>
                  <a:srgbClr val="9CA3AF"/>
                </a:solidFill>
                <a:latin typeface="Inter"/>
              </a:rPr>
              <a:t>Inventory Optimization &amp;
Recommendation Engine</a:t>
            </a:r>
          </a:p>
        </p:txBody>
      </p:sp>
      <p:sp>
        <p:nvSpPr>
          <p:cNvPr id="23" name="Oval 22"/>
          <p:cNvSpPr/>
          <p:nvPr/>
        </p:nvSpPr>
        <p:spPr>
          <a:xfrm>
            <a:off x="7223760" y="3127248"/>
            <a:ext cx="182880" cy="18288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66560" y="2560320"/>
            <a:ext cx="1097280" cy="502920"/>
          </a:xfrm>
          <a:prstGeom prst="rect">
            <a:avLst/>
          </a:prstGeom>
          <a:noFill/>
        </p:spPr>
        <p:txBody>
          <a:bodyPr wrap="square"/>
          <a:lstStyle/>
          <a:p>
            <a:pPr algn="ctr">
              <a:spcBef>
                <a:spcPts val="0"/>
              </a:spcBef>
              <a:spcAft>
                <a:spcPts val="0"/>
              </a:spcAft>
            </a:pPr>
            <a:r>
              <a:rPr sz="1100" b="1">
                <a:solidFill>
                  <a:srgbClr val="2563EB"/>
                </a:solidFill>
                <a:latin typeface="Space Grotesk"/>
              </a:rPr>
              <a:t>M6
Week 12</a:t>
            </a:r>
          </a:p>
        </p:txBody>
      </p:sp>
      <p:sp>
        <p:nvSpPr>
          <p:cNvPr id="25" name="TextBox 24"/>
          <p:cNvSpPr txBox="1"/>
          <p:nvPr/>
        </p:nvSpPr>
        <p:spPr>
          <a:xfrm>
            <a:off x="6766560" y="3429000"/>
            <a:ext cx="1097280" cy="1371600"/>
          </a:xfrm>
          <a:prstGeom prst="rect">
            <a:avLst/>
          </a:prstGeom>
          <a:noFill/>
        </p:spPr>
        <p:txBody>
          <a:bodyPr wrap="square"/>
          <a:lstStyle/>
          <a:p>
            <a:pPr algn="ctr">
              <a:spcBef>
                <a:spcPts val="0"/>
              </a:spcBef>
              <a:spcAft>
                <a:spcPts val="0"/>
              </a:spcAft>
            </a:pPr>
            <a:r>
              <a:rPr sz="1000" b="0">
                <a:solidFill>
                  <a:srgbClr val="9CA3AF"/>
                </a:solidFill>
                <a:latin typeface="Inter"/>
              </a:rPr>
              <a:t>Core Frontend &amp;
Backend Integrated</a:t>
            </a:r>
          </a:p>
        </p:txBody>
      </p:sp>
      <p:sp>
        <p:nvSpPr>
          <p:cNvPr id="26" name="Oval 25"/>
          <p:cNvSpPr/>
          <p:nvPr/>
        </p:nvSpPr>
        <p:spPr>
          <a:xfrm>
            <a:off x="8485632" y="3127248"/>
            <a:ext cx="182880" cy="1828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28432" y="2560320"/>
            <a:ext cx="1097280" cy="502920"/>
          </a:xfrm>
          <a:prstGeom prst="rect">
            <a:avLst/>
          </a:prstGeom>
          <a:noFill/>
        </p:spPr>
        <p:txBody>
          <a:bodyPr wrap="square"/>
          <a:lstStyle/>
          <a:p>
            <a:pPr algn="ctr">
              <a:spcBef>
                <a:spcPts val="0"/>
              </a:spcBef>
              <a:spcAft>
                <a:spcPts val="0"/>
              </a:spcAft>
            </a:pPr>
            <a:r>
              <a:rPr sz="1100" b="1">
                <a:solidFill>
                  <a:srgbClr val="10B981"/>
                </a:solidFill>
                <a:latin typeface="Space Grotesk"/>
              </a:rPr>
              <a:t>M7
Week 15</a:t>
            </a:r>
          </a:p>
        </p:txBody>
      </p:sp>
      <p:sp>
        <p:nvSpPr>
          <p:cNvPr id="28" name="TextBox 27"/>
          <p:cNvSpPr txBox="1"/>
          <p:nvPr/>
        </p:nvSpPr>
        <p:spPr>
          <a:xfrm>
            <a:off x="8028432" y="3429000"/>
            <a:ext cx="1097280" cy="1371600"/>
          </a:xfrm>
          <a:prstGeom prst="rect">
            <a:avLst/>
          </a:prstGeom>
          <a:noFill/>
        </p:spPr>
        <p:txBody>
          <a:bodyPr wrap="square"/>
          <a:lstStyle/>
          <a:p>
            <a:pPr algn="ctr">
              <a:spcBef>
                <a:spcPts val="0"/>
              </a:spcBef>
              <a:spcAft>
                <a:spcPts val="0"/>
              </a:spcAft>
            </a:pPr>
            <a:r>
              <a:rPr sz="1000" b="0">
                <a:solidFill>
                  <a:srgbClr val="9CA3AF"/>
                </a:solidFill>
                <a:latin typeface="Inter"/>
              </a:rPr>
              <a:t>System Testing
Completed</a:t>
            </a:r>
          </a:p>
        </p:txBody>
      </p:sp>
      <p:sp>
        <p:nvSpPr>
          <p:cNvPr id="29" name="Oval 28"/>
          <p:cNvSpPr/>
          <p:nvPr/>
        </p:nvSpPr>
        <p:spPr>
          <a:xfrm>
            <a:off x="9747504" y="3127248"/>
            <a:ext cx="182880" cy="1828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290304" y="2560320"/>
            <a:ext cx="1097280" cy="502920"/>
          </a:xfrm>
          <a:prstGeom prst="rect">
            <a:avLst/>
          </a:prstGeom>
          <a:noFill/>
        </p:spPr>
        <p:txBody>
          <a:bodyPr wrap="square"/>
          <a:lstStyle/>
          <a:p>
            <a:pPr algn="ctr">
              <a:spcBef>
                <a:spcPts val="0"/>
              </a:spcBef>
              <a:spcAft>
                <a:spcPts val="0"/>
              </a:spcAft>
            </a:pPr>
            <a:r>
              <a:rPr sz="1100" b="1">
                <a:solidFill>
                  <a:srgbClr val="10B981"/>
                </a:solidFill>
                <a:latin typeface="Space Grotesk"/>
              </a:rPr>
              <a:t>M8
Week 16</a:t>
            </a:r>
          </a:p>
        </p:txBody>
      </p:sp>
      <p:sp>
        <p:nvSpPr>
          <p:cNvPr id="31" name="TextBox 30"/>
          <p:cNvSpPr txBox="1"/>
          <p:nvPr/>
        </p:nvSpPr>
        <p:spPr>
          <a:xfrm>
            <a:off x="9290304" y="3429000"/>
            <a:ext cx="1097280" cy="1371600"/>
          </a:xfrm>
          <a:prstGeom prst="rect">
            <a:avLst/>
          </a:prstGeom>
          <a:noFill/>
        </p:spPr>
        <p:txBody>
          <a:bodyPr wrap="square"/>
          <a:lstStyle/>
          <a:p>
            <a:pPr algn="ctr">
              <a:spcBef>
                <a:spcPts val="0"/>
              </a:spcBef>
              <a:spcAft>
                <a:spcPts val="0"/>
              </a:spcAft>
            </a:pPr>
            <a:r>
              <a:rPr sz="1000" b="0">
                <a:solidFill>
                  <a:srgbClr val="9CA3AF"/>
                </a:solidFill>
                <a:latin typeface="Inter"/>
              </a:rPr>
              <a:t>User Acceptance
Testing Completed</a:t>
            </a:r>
          </a:p>
        </p:txBody>
      </p:sp>
      <p:sp>
        <p:nvSpPr>
          <p:cNvPr id="32" name="Oval 31"/>
          <p:cNvSpPr/>
          <p:nvPr/>
        </p:nvSpPr>
        <p:spPr>
          <a:xfrm>
            <a:off x="11009376" y="3127248"/>
            <a:ext cx="182880" cy="182880"/>
          </a:xfrm>
          <a:prstGeom prst="ellipse">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552176" y="2560320"/>
            <a:ext cx="1097280" cy="502920"/>
          </a:xfrm>
          <a:prstGeom prst="rect">
            <a:avLst/>
          </a:prstGeom>
          <a:noFill/>
        </p:spPr>
        <p:txBody>
          <a:bodyPr wrap="square"/>
          <a:lstStyle/>
          <a:p>
            <a:pPr algn="ctr">
              <a:spcBef>
                <a:spcPts val="0"/>
              </a:spcBef>
              <a:spcAft>
                <a:spcPts val="0"/>
              </a:spcAft>
            </a:pPr>
            <a:r>
              <a:rPr sz="1100" b="1">
                <a:solidFill>
                  <a:srgbClr val="111827"/>
                </a:solidFill>
                <a:latin typeface="Space Grotesk"/>
              </a:rPr>
              <a:t>M9
Week 17</a:t>
            </a:r>
          </a:p>
        </p:txBody>
      </p:sp>
      <p:sp>
        <p:nvSpPr>
          <p:cNvPr id="34" name="TextBox 33"/>
          <p:cNvSpPr txBox="1"/>
          <p:nvPr/>
        </p:nvSpPr>
        <p:spPr>
          <a:xfrm>
            <a:off x="10552176" y="3429000"/>
            <a:ext cx="1097280" cy="1371600"/>
          </a:xfrm>
          <a:prstGeom prst="rect">
            <a:avLst/>
          </a:prstGeom>
          <a:noFill/>
        </p:spPr>
        <p:txBody>
          <a:bodyPr wrap="square"/>
          <a:lstStyle/>
          <a:p>
            <a:pPr algn="ctr">
              <a:spcBef>
                <a:spcPts val="0"/>
              </a:spcBef>
              <a:spcAft>
                <a:spcPts val="0"/>
              </a:spcAft>
            </a:pPr>
            <a:r>
              <a:rPr sz="1000" b="0">
                <a:solidFill>
                  <a:srgbClr val="9CA3AF"/>
                </a:solidFill>
                <a:latin typeface="Inter"/>
              </a:rPr>
              <a:t>Final Deployment &amp;
Demonstration Ready</a:t>
            </a:r>
          </a:p>
        </p:txBody>
      </p:sp>
      <p:sp>
        <p:nvSpPr>
          <p:cNvPr id="35" name="Rounded Rectangle 34"/>
          <p:cNvSpPr/>
          <p:nvPr/>
        </p:nvSpPr>
        <p:spPr>
          <a:xfrm>
            <a:off x="457200" y="5394960"/>
            <a:ext cx="11247120" cy="50292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080" y="5458968"/>
            <a:ext cx="10881360" cy="365760"/>
          </a:xfrm>
          <a:prstGeom prst="rect">
            <a:avLst/>
          </a:prstGeom>
          <a:noFill/>
        </p:spPr>
        <p:txBody>
          <a:bodyPr wrap="square"/>
          <a:lstStyle/>
          <a:p>
            <a:pPr algn="ctr">
              <a:spcBef>
                <a:spcPts val="0"/>
              </a:spcBef>
              <a:spcAft>
                <a:spcPts val="0"/>
              </a:spcAft>
            </a:pPr>
            <a:r>
              <a:rPr sz="1200" b="0">
                <a:solidFill>
                  <a:srgbClr val="2563EB"/>
                </a:solidFill>
                <a:latin typeface="Inter"/>
              </a:rPr>
              <a:t>Parallel Development: Frontend progresses alongside backend &amp; forecasting once interfaces are established.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9FAFB"/>
        </a:solidFill>
        <a:effectLst/>
      </p:bgPr>
    </p:bg>
    <p:spTree>
      <p:nvGrpSpPr>
        <p:cNvPr id="1" name=""/>
        <p:cNvGrpSpPr/>
        <p:nvPr/>
      </p:nvGrpSpPr>
      <p:grpSpPr/>
      <p:sp>
        <p:nvSpPr>
          <p:cNvPr id="2" name="Rounded Rectangle 1"/>
          <p:cNvSpPr/>
          <p:nvPr/>
        </p:nvSpPr>
        <p:spPr>
          <a:xfrm>
            <a:off x="0" y="0"/>
            <a:ext cx="12191695" cy="10515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515600" cy="548640"/>
          </a:xfrm>
          <a:prstGeom prst="rect">
            <a:avLst/>
          </a:prstGeom>
          <a:noFill/>
        </p:spPr>
        <p:txBody>
          <a:bodyPr wrap="square"/>
          <a:lstStyle/>
          <a:p>
            <a:pPr algn="l">
              <a:spcBef>
                <a:spcPts val="0"/>
              </a:spcBef>
              <a:spcAft>
                <a:spcPts val="0"/>
              </a:spcAft>
            </a:pPr>
            <a:r>
              <a:rPr sz="3000" b="1">
                <a:solidFill>
                  <a:srgbClr val="FFFFFF"/>
                </a:solidFill>
                <a:latin typeface="Space Grotesk"/>
              </a:rPr>
              <a:t>Project Team</a:t>
            </a:r>
          </a:p>
        </p:txBody>
      </p:sp>
      <p:pic>
        <p:nvPicPr>
          <p:cNvPr id="4" name="Picture 3" descr="443732266_1006349624830063_6095867571651137613_n-removebg-preview.png"/>
          <p:cNvPicPr>
            <a:picLocks noChangeAspect="1"/>
          </p:cNvPicPr>
          <p:nvPr/>
        </p:nvPicPr>
        <p:blipFill>
          <a:blip r:embed="rId2"/>
          <a:stretch>
            <a:fillRect/>
          </a:stretch>
        </p:blipFill>
        <p:spPr>
          <a:xfrm>
            <a:off x="11094415" y="137160"/>
            <a:ext cx="868680" cy="868680"/>
          </a:xfrm>
          <a:prstGeom prst="rect">
            <a:avLst/>
          </a:prstGeom>
        </p:spPr>
      </p:pic>
      <p:sp>
        <p:nvSpPr>
          <p:cNvPr id="5" name="Rounded Rectangle 4"/>
          <p:cNvSpPr/>
          <p:nvPr/>
        </p:nvSpPr>
        <p:spPr>
          <a:xfrm>
            <a:off x="0" y="6675120"/>
            <a:ext cx="12191695" cy="18288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0" y="6446520"/>
            <a:ext cx="822960" cy="274320"/>
          </a:xfrm>
          <a:prstGeom prst="rect">
            <a:avLst/>
          </a:prstGeom>
          <a:noFill/>
        </p:spPr>
        <p:txBody>
          <a:bodyPr wrap="square"/>
          <a:lstStyle/>
          <a:p>
            <a:pPr algn="r">
              <a:spcBef>
                <a:spcPts val="0"/>
              </a:spcBef>
              <a:spcAft>
                <a:spcPts val="0"/>
              </a:spcAft>
            </a:pPr>
            <a:r>
              <a:rPr sz="1000" b="0">
                <a:solidFill>
                  <a:srgbClr val="9CA3AF"/>
                </a:solidFill>
                <a:latin typeface="Inter"/>
              </a:rPr>
              <a:t>16 / 21</a:t>
            </a:r>
          </a:p>
        </p:txBody>
      </p:sp>
      <p:sp>
        <p:nvSpPr>
          <p:cNvPr id="7" name="Rounded Rectangle 6"/>
          <p:cNvSpPr/>
          <p:nvPr/>
        </p:nvSpPr>
        <p:spPr>
          <a:xfrm>
            <a:off x="457200" y="1417320"/>
            <a:ext cx="3566160" cy="4892040"/>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27048"/>
            <a:ext cx="3291840" cy="365760"/>
          </a:xfrm>
          <a:prstGeom prst="rect">
            <a:avLst/>
          </a:prstGeom>
          <a:noFill/>
        </p:spPr>
        <p:txBody>
          <a:bodyPr wrap="square"/>
          <a:lstStyle/>
          <a:p>
            <a:pPr algn="l">
              <a:spcBef>
                <a:spcPts val="0"/>
              </a:spcBef>
              <a:spcAft>
                <a:spcPts val="0"/>
              </a:spcAft>
            </a:pPr>
            <a:r>
              <a:rPr sz="1400" b="1">
                <a:solidFill>
                  <a:srgbClr val="2563EB"/>
                </a:solidFill>
                <a:latin typeface="Space Grotesk"/>
              </a:rPr>
              <a:t>  Meer Musabih
Lead Developer / ML &amp; Backend Engineer</a:t>
            </a:r>
          </a:p>
        </p:txBody>
      </p:sp>
      <p:sp>
        <p:nvSpPr>
          <p:cNvPr id="9" name="TextBox 8"/>
          <p:cNvSpPr txBox="1"/>
          <p:nvPr/>
        </p:nvSpPr>
        <p:spPr>
          <a:xfrm>
            <a:off x="594360" y="1828800"/>
            <a:ext cx="3291840" cy="4389120"/>
          </a:xfrm>
          <a:prstGeom prst="rect">
            <a:avLst/>
          </a:prstGeom>
          <a:noFill/>
        </p:spPr>
        <p:txBody>
          <a:bodyPr wrap="square"/>
          <a:lstStyle/>
          <a:p>
            <a:pPr algn="l">
              <a:spcAft>
                <a:spcPts val="400"/>
              </a:spcAft>
            </a:pPr>
            <a:r>
              <a:rPr sz="1200" b="0">
                <a:solidFill>
                  <a:srgbClr val="111827"/>
                </a:solidFill>
                <a:latin typeface="Inter"/>
              </a:rPr>
              <a:t>    Data pipeline &amp; validation</a:t>
            </a:r>
          </a:p>
          <a:p>
            <a:pPr algn="l">
              <a:spcAft>
                <a:spcPts val="400"/>
              </a:spcAft>
            </a:pPr>
            <a:r>
              <a:rPr sz="1200" b="0">
                <a:solidFill>
                  <a:srgbClr val="111827"/>
                </a:solidFill>
                <a:latin typeface="Inter"/>
              </a:rPr>
              <a:t>    Forecasting engine</a:t>
            </a:r>
          </a:p>
          <a:p>
            <a:pPr algn="l">
              <a:spcAft>
                <a:spcPts val="400"/>
              </a:spcAft>
            </a:pPr>
            <a:r>
              <a:rPr sz="1200" b="0">
                <a:solidFill>
                  <a:srgbClr val="111827"/>
                </a:solidFill>
                <a:latin typeface="Inter"/>
              </a:rPr>
              <a:t>    Model evaluation</a:t>
            </a:r>
          </a:p>
          <a:p>
            <a:pPr algn="l">
              <a:spcAft>
                <a:spcPts val="400"/>
              </a:spcAft>
            </a:pPr>
            <a:r>
              <a:rPr sz="1200" b="0">
                <a:solidFill>
                  <a:srgbClr val="111827"/>
                </a:solidFill>
                <a:latin typeface="Inter"/>
              </a:rPr>
              <a:t>    Inventory optimization</a:t>
            </a:r>
          </a:p>
          <a:p>
            <a:pPr algn="l">
              <a:spcAft>
                <a:spcPts val="400"/>
              </a:spcAft>
            </a:pPr>
            <a:r>
              <a:rPr sz="1200" b="0">
                <a:solidFill>
                  <a:srgbClr val="111827"/>
                </a:solidFill>
                <a:latin typeface="Inter"/>
              </a:rPr>
              <a:t>    Recommendation engine</a:t>
            </a:r>
          </a:p>
          <a:p>
            <a:pPr algn="l">
              <a:spcAft>
                <a:spcPts val="400"/>
              </a:spcAft>
            </a:pPr>
            <a:r>
              <a:rPr sz="1200" b="0">
                <a:solidFill>
                  <a:srgbClr val="111827"/>
                </a:solidFill>
                <a:latin typeface="Inter"/>
              </a:rPr>
              <a:t>    Transfer intelligence</a:t>
            </a:r>
          </a:p>
          <a:p>
            <a:pPr algn="l">
              <a:spcAft>
                <a:spcPts val="400"/>
              </a:spcAft>
            </a:pPr>
            <a:r>
              <a:rPr sz="1200" b="0">
                <a:solidFill>
                  <a:srgbClr val="111827"/>
                </a:solidFill>
                <a:latin typeface="Inter"/>
              </a:rPr>
              <a:t>    FastAPI backend &amp; API</a:t>
            </a:r>
          </a:p>
          <a:p>
            <a:pPr algn="l">
              <a:spcAft>
                <a:spcPts val="400"/>
              </a:spcAft>
            </a:pPr>
            <a:r>
              <a:rPr sz="1200" b="0">
                <a:solidFill>
                  <a:srgbClr val="111827"/>
                </a:solidFill>
                <a:latin typeface="Inter"/>
              </a:rPr>
              <a:t>    Data storage</a:t>
            </a:r>
          </a:p>
          <a:p>
            <a:pPr algn="l">
              <a:spcAft>
                <a:spcPts val="400"/>
              </a:spcAft>
            </a:pPr>
            <a:r>
              <a:rPr sz="1200" b="0">
                <a:solidFill>
                  <a:srgbClr val="111827"/>
                </a:solidFill>
                <a:latin typeface="Inter"/>
              </a:rPr>
              <a:t>    Technical documentation</a:t>
            </a:r>
          </a:p>
        </p:txBody>
      </p:sp>
      <p:sp>
        <p:nvSpPr>
          <p:cNvPr id="10" name="Rounded Rectangle 9"/>
          <p:cNvSpPr/>
          <p:nvPr/>
        </p:nvSpPr>
        <p:spPr>
          <a:xfrm>
            <a:off x="4297680" y="1417320"/>
            <a:ext cx="3566160" cy="4892040"/>
          </a:xfrm>
          <a:prstGeom prst="roundRect">
            <a:avLst/>
          </a:prstGeom>
          <a:solidFill>
            <a:srgbClr val="FFFFFF"/>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34840" y="1527048"/>
            <a:ext cx="3291840" cy="365760"/>
          </a:xfrm>
          <a:prstGeom prst="rect">
            <a:avLst/>
          </a:prstGeom>
          <a:noFill/>
        </p:spPr>
        <p:txBody>
          <a:bodyPr wrap="square"/>
          <a:lstStyle/>
          <a:p>
            <a:pPr algn="l">
              <a:spcBef>
                <a:spcPts val="0"/>
              </a:spcBef>
              <a:spcAft>
                <a:spcPts val="0"/>
              </a:spcAft>
            </a:pPr>
            <a:r>
              <a:rPr sz="1400" b="1">
                <a:solidFill>
                  <a:srgbClr val="14B8A6"/>
                </a:solidFill>
                <a:latin typeface="Space Grotesk"/>
              </a:rPr>
              <a:t>  Malaika Saleem
Frontend / Product &amp; QA Engineer</a:t>
            </a:r>
          </a:p>
        </p:txBody>
      </p:sp>
      <p:sp>
        <p:nvSpPr>
          <p:cNvPr id="12" name="TextBox 11"/>
          <p:cNvSpPr txBox="1"/>
          <p:nvPr/>
        </p:nvSpPr>
        <p:spPr>
          <a:xfrm>
            <a:off x="4434840" y="1828800"/>
            <a:ext cx="3291840" cy="4389120"/>
          </a:xfrm>
          <a:prstGeom prst="rect">
            <a:avLst/>
          </a:prstGeom>
          <a:noFill/>
        </p:spPr>
        <p:txBody>
          <a:bodyPr wrap="square"/>
          <a:lstStyle/>
          <a:p>
            <a:pPr algn="l">
              <a:spcAft>
                <a:spcPts val="400"/>
              </a:spcAft>
            </a:pPr>
            <a:r>
              <a:rPr sz="1200" b="0">
                <a:solidFill>
                  <a:srgbClr val="111827"/>
                </a:solidFill>
                <a:latin typeface="Inter"/>
              </a:rPr>
              <a:t>    UI/UX design</a:t>
            </a:r>
          </a:p>
          <a:p>
            <a:pPr algn="l">
              <a:spcAft>
                <a:spcPts val="400"/>
              </a:spcAft>
            </a:pPr>
            <a:r>
              <a:rPr sz="1200" b="0">
                <a:solidFill>
                  <a:srgbClr val="111827"/>
                </a:solidFill>
                <a:latin typeface="Inter"/>
              </a:rPr>
              <a:t>    React frontend</a:t>
            </a:r>
          </a:p>
          <a:p>
            <a:pPr algn="l">
              <a:spcAft>
                <a:spcPts val="400"/>
              </a:spcAft>
            </a:pPr>
            <a:r>
              <a:rPr sz="1200" b="0">
                <a:solidFill>
                  <a:srgbClr val="111827"/>
                </a:solidFill>
                <a:latin typeface="Inter"/>
              </a:rPr>
              <a:t>    Dashboard development</a:t>
            </a:r>
          </a:p>
          <a:p>
            <a:pPr algn="l">
              <a:spcAft>
                <a:spcPts val="400"/>
              </a:spcAft>
            </a:pPr>
            <a:r>
              <a:rPr sz="1200" b="0">
                <a:solidFill>
                  <a:srgbClr val="111827"/>
                </a:solidFill>
                <a:latin typeface="Inter"/>
              </a:rPr>
              <a:t>    Charts &amp; visualizations</a:t>
            </a:r>
          </a:p>
          <a:p>
            <a:pPr algn="l">
              <a:spcAft>
                <a:spcPts val="400"/>
              </a:spcAft>
            </a:pPr>
            <a:r>
              <a:rPr sz="1200" b="0">
                <a:solidFill>
                  <a:srgbClr val="111827"/>
                </a:solidFill>
                <a:latin typeface="Inter"/>
              </a:rPr>
              <a:t>    Product/outlet views</a:t>
            </a:r>
          </a:p>
          <a:p>
            <a:pPr algn="l">
              <a:spcAft>
                <a:spcPts val="400"/>
              </a:spcAft>
            </a:pPr>
            <a:r>
              <a:rPr sz="1200" b="0">
                <a:solidFill>
                  <a:srgbClr val="111827"/>
                </a:solidFill>
                <a:latin typeface="Inter"/>
              </a:rPr>
              <a:t>    Filters and tables</a:t>
            </a:r>
          </a:p>
          <a:p>
            <a:pPr algn="l">
              <a:spcAft>
                <a:spcPts val="400"/>
              </a:spcAft>
            </a:pPr>
            <a:r>
              <a:rPr sz="1200" b="0">
                <a:solidFill>
                  <a:srgbClr val="111827"/>
                </a:solidFill>
                <a:latin typeface="Inter"/>
              </a:rPr>
              <a:t>    API integration</a:t>
            </a:r>
          </a:p>
          <a:p>
            <a:pPr algn="l">
              <a:spcAft>
                <a:spcPts val="400"/>
              </a:spcAft>
            </a:pPr>
            <a:r>
              <a:rPr sz="1200" b="0">
                <a:solidFill>
                  <a:srgbClr val="111827"/>
                </a:solidFill>
                <a:latin typeface="Inter"/>
              </a:rPr>
              <a:t>    Usability testing</a:t>
            </a:r>
          </a:p>
          <a:p>
            <a:pPr algn="l">
              <a:spcAft>
                <a:spcPts val="400"/>
              </a:spcAft>
            </a:pPr>
            <a:r>
              <a:rPr sz="1200" b="0">
                <a:solidFill>
                  <a:srgbClr val="111827"/>
                </a:solidFill>
                <a:latin typeface="Inter"/>
              </a:rPr>
              <a:t>    User documentation</a:t>
            </a:r>
          </a:p>
        </p:txBody>
      </p:sp>
      <p:sp>
        <p:nvSpPr>
          <p:cNvPr id="13" name="Rounded Rectangle 12"/>
          <p:cNvSpPr/>
          <p:nvPr/>
        </p:nvSpPr>
        <p:spPr>
          <a:xfrm>
            <a:off x="8138160" y="1417320"/>
            <a:ext cx="3566160" cy="4892040"/>
          </a:xfrm>
          <a:prstGeom prst="roundRect">
            <a:avLst/>
          </a:prstGeom>
          <a:solidFill>
            <a:srgbClr val="FFFFFF"/>
          </a:solidFill>
          <a:ln w="12700">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5320" y="1527048"/>
            <a:ext cx="3291840" cy="365760"/>
          </a:xfrm>
          <a:prstGeom prst="rect">
            <a:avLst/>
          </a:prstGeom>
          <a:noFill/>
        </p:spPr>
        <p:txBody>
          <a:bodyPr wrap="square"/>
          <a:lstStyle/>
          <a:p>
            <a:pPr algn="l">
              <a:spcBef>
                <a:spcPts val="0"/>
              </a:spcBef>
              <a:spcAft>
                <a:spcPts val="0"/>
              </a:spcAft>
            </a:pPr>
            <a:r>
              <a:rPr sz="1400" b="1">
                <a:solidFill>
                  <a:srgbClr val="111827"/>
                </a:solidFill>
                <a:latin typeface="Space Grotesk"/>
              </a:rPr>
              <a:t>  Shared Responsibilities</a:t>
            </a:r>
          </a:p>
        </p:txBody>
      </p:sp>
      <p:sp>
        <p:nvSpPr>
          <p:cNvPr id="15" name="TextBox 14"/>
          <p:cNvSpPr txBox="1"/>
          <p:nvPr/>
        </p:nvSpPr>
        <p:spPr>
          <a:xfrm>
            <a:off x="8275320" y="1828800"/>
            <a:ext cx="3291840" cy="4389120"/>
          </a:xfrm>
          <a:prstGeom prst="rect">
            <a:avLst/>
          </a:prstGeom>
          <a:noFill/>
        </p:spPr>
        <p:txBody>
          <a:bodyPr wrap="square"/>
          <a:lstStyle/>
          <a:p>
            <a:pPr algn="l">
              <a:spcAft>
                <a:spcPts val="400"/>
              </a:spcAft>
            </a:pPr>
            <a:r>
              <a:rPr sz="1200" b="0">
                <a:solidFill>
                  <a:srgbClr val="111827"/>
                </a:solidFill>
                <a:latin typeface="Inter"/>
              </a:rPr>
              <a:t>    Requirements analysis</a:t>
            </a:r>
          </a:p>
          <a:p>
            <a:pPr algn="l">
              <a:spcAft>
                <a:spcPts val="400"/>
              </a:spcAft>
            </a:pPr>
            <a:r>
              <a:rPr sz="1200" b="0">
                <a:solidFill>
                  <a:srgbClr val="111827"/>
                </a:solidFill>
                <a:latin typeface="Inter"/>
              </a:rPr>
              <a:t>    System architecture</a:t>
            </a:r>
          </a:p>
          <a:p>
            <a:pPr algn="l">
              <a:spcAft>
                <a:spcPts val="400"/>
              </a:spcAft>
            </a:pPr>
            <a:r>
              <a:rPr sz="1200" b="0">
                <a:solidFill>
                  <a:srgbClr val="111827"/>
                </a:solidFill>
                <a:latin typeface="Inter"/>
              </a:rPr>
              <a:t>    Integration</a:t>
            </a:r>
          </a:p>
          <a:p>
            <a:pPr algn="l">
              <a:spcAft>
                <a:spcPts val="400"/>
              </a:spcAft>
            </a:pPr>
            <a:r>
              <a:rPr sz="1200" b="0">
                <a:solidFill>
                  <a:srgbClr val="111827"/>
                </a:solidFill>
                <a:latin typeface="Inter"/>
              </a:rPr>
              <a:t>    Testing</a:t>
            </a:r>
          </a:p>
          <a:p>
            <a:pPr algn="l">
              <a:spcAft>
                <a:spcPts val="400"/>
              </a:spcAft>
            </a:pPr>
            <a:r>
              <a:rPr sz="1200" b="0">
                <a:solidFill>
                  <a:srgbClr val="111827"/>
                </a:solidFill>
                <a:latin typeface="Inter"/>
              </a:rPr>
              <a:t>    Deployment</a:t>
            </a:r>
          </a:p>
          <a:p>
            <a:pPr algn="l">
              <a:spcAft>
                <a:spcPts val="400"/>
              </a:spcAft>
            </a:pPr>
            <a:r>
              <a:rPr sz="1200" b="0">
                <a:solidFill>
                  <a:srgbClr val="111827"/>
                </a:solidFill>
                <a:latin typeface="Inter"/>
              </a:rPr>
              <a:t>    Final documentation</a:t>
            </a:r>
          </a:p>
          <a:p>
            <a:pPr algn="l">
              <a:spcAft>
                <a:spcPts val="400"/>
              </a:spcAft>
            </a:pPr>
            <a:r>
              <a:rPr sz="1200" b="0">
                <a:solidFill>
                  <a:srgbClr val="111827"/>
                </a:solidFill>
                <a:latin typeface="Inter"/>
              </a:rPr>
              <a:t>    Presentation &amp; demonstration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9FAFB"/>
        </a:solidFill>
        <a:effectLst/>
      </p:bgPr>
    </p:bg>
    <p:spTree>
      <p:nvGrpSpPr>
        <p:cNvPr id="1" name=""/>
        <p:cNvGrpSpPr/>
        <p:nvPr/>
      </p:nvGrpSpPr>
      <p:grpSpPr/>
      <p:sp>
        <p:nvSpPr>
          <p:cNvPr id="2" name="Rounded Rectangle 1"/>
          <p:cNvSpPr/>
          <p:nvPr/>
        </p:nvSpPr>
        <p:spPr>
          <a:xfrm>
            <a:off x="0" y="0"/>
            <a:ext cx="12191695" cy="10515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515600" cy="548640"/>
          </a:xfrm>
          <a:prstGeom prst="rect">
            <a:avLst/>
          </a:prstGeom>
          <a:noFill/>
        </p:spPr>
        <p:txBody>
          <a:bodyPr wrap="square"/>
          <a:lstStyle/>
          <a:p>
            <a:pPr algn="l">
              <a:spcBef>
                <a:spcPts val="0"/>
              </a:spcBef>
              <a:spcAft>
                <a:spcPts val="0"/>
              </a:spcAft>
            </a:pPr>
            <a:r>
              <a:rPr sz="3000" b="1">
                <a:solidFill>
                  <a:srgbClr val="FFFFFF"/>
                </a:solidFill>
                <a:latin typeface="Space Grotesk"/>
              </a:rPr>
              <a:t>Expected Outcomes</a:t>
            </a:r>
          </a:p>
        </p:txBody>
      </p:sp>
      <p:pic>
        <p:nvPicPr>
          <p:cNvPr id="4" name="Picture 3" descr="443732266_1006349624830063_6095867571651137613_n-removebg-preview.png"/>
          <p:cNvPicPr>
            <a:picLocks noChangeAspect="1"/>
          </p:cNvPicPr>
          <p:nvPr/>
        </p:nvPicPr>
        <p:blipFill>
          <a:blip r:embed="rId2"/>
          <a:stretch>
            <a:fillRect/>
          </a:stretch>
        </p:blipFill>
        <p:spPr>
          <a:xfrm>
            <a:off x="11094415" y="137160"/>
            <a:ext cx="868680" cy="868680"/>
          </a:xfrm>
          <a:prstGeom prst="rect">
            <a:avLst/>
          </a:prstGeom>
        </p:spPr>
      </p:pic>
      <p:sp>
        <p:nvSpPr>
          <p:cNvPr id="5" name="Rounded Rectangle 4"/>
          <p:cNvSpPr/>
          <p:nvPr/>
        </p:nvSpPr>
        <p:spPr>
          <a:xfrm>
            <a:off x="0" y="6675120"/>
            <a:ext cx="12191695" cy="18288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0" y="6446520"/>
            <a:ext cx="822960" cy="274320"/>
          </a:xfrm>
          <a:prstGeom prst="rect">
            <a:avLst/>
          </a:prstGeom>
          <a:noFill/>
        </p:spPr>
        <p:txBody>
          <a:bodyPr wrap="square"/>
          <a:lstStyle/>
          <a:p>
            <a:pPr algn="r">
              <a:spcBef>
                <a:spcPts val="0"/>
              </a:spcBef>
              <a:spcAft>
                <a:spcPts val="0"/>
              </a:spcAft>
            </a:pPr>
            <a:r>
              <a:rPr sz="1000" b="0">
                <a:solidFill>
                  <a:srgbClr val="9CA3AF"/>
                </a:solidFill>
                <a:latin typeface="Inter"/>
              </a:rPr>
              <a:t>17 / 21</a:t>
            </a:r>
          </a:p>
        </p:txBody>
      </p:sp>
      <p:sp>
        <p:nvSpPr>
          <p:cNvPr id="7" name="Rounded Rectangle 6"/>
          <p:cNvSpPr/>
          <p:nvPr/>
        </p:nvSpPr>
        <p:spPr>
          <a:xfrm>
            <a:off x="457200" y="1417320"/>
            <a:ext cx="3520440" cy="1828800"/>
          </a:xfrm>
          <a:prstGeom prst="roundRect">
            <a:avLst/>
          </a:prstGeom>
          <a:solidFill>
            <a:srgbClr val="FFFF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57200" y="1417320"/>
            <a:ext cx="63500" cy="18288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600200"/>
            <a:ext cx="3154680" cy="320040"/>
          </a:xfrm>
          <a:prstGeom prst="rect">
            <a:avLst/>
          </a:prstGeom>
          <a:noFill/>
        </p:spPr>
        <p:txBody>
          <a:bodyPr wrap="square"/>
          <a:lstStyle/>
          <a:p>
            <a:pPr algn="l">
              <a:spcBef>
                <a:spcPts val="0"/>
              </a:spcBef>
              <a:spcAft>
                <a:spcPts val="0"/>
              </a:spcAft>
            </a:pPr>
            <a:r>
              <a:rPr sz="1500" b="1">
                <a:solidFill>
                  <a:srgbClr val="2563EB"/>
                </a:solidFill>
                <a:latin typeface="Space Grotesk"/>
              </a:rPr>
              <a:t>Predictive Intelligence</a:t>
            </a:r>
          </a:p>
        </p:txBody>
      </p:sp>
      <p:sp>
        <p:nvSpPr>
          <p:cNvPr id="10" name="TextBox 9"/>
          <p:cNvSpPr txBox="1"/>
          <p:nvPr/>
        </p:nvSpPr>
        <p:spPr>
          <a:xfrm>
            <a:off x="685800" y="2011680"/>
            <a:ext cx="3154680" cy="1097280"/>
          </a:xfrm>
          <a:prstGeom prst="rect">
            <a:avLst/>
          </a:prstGeom>
          <a:noFill/>
        </p:spPr>
        <p:txBody>
          <a:bodyPr wrap="square"/>
          <a:lstStyle/>
          <a:p>
            <a:pPr algn="l">
              <a:spcBef>
                <a:spcPts val="0"/>
              </a:spcBef>
              <a:spcAft>
                <a:spcPts val="0"/>
              </a:spcAft>
            </a:pPr>
            <a:r>
              <a:rPr sz="1200" b="0">
                <a:solidFill>
                  <a:srgbClr val="9CA3AF"/>
                </a:solidFill>
                <a:latin typeface="Inter"/>
              </a:rPr>
              <a:t>Forecast future
product-outlet demand</a:t>
            </a:r>
          </a:p>
        </p:txBody>
      </p:sp>
      <p:sp>
        <p:nvSpPr>
          <p:cNvPr id="11" name="Rounded Rectangle 10"/>
          <p:cNvSpPr/>
          <p:nvPr/>
        </p:nvSpPr>
        <p:spPr>
          <a:xfrm>
            <a:off x="4178808" y="1417320"/>
            <a:ext cx="3520440" cy="1828800"/>
          </a:xfrm>
          <a:prstGeom prst="roundRect">
            <a:avLst/>
          </a:prstGeom>
          <a:solidFill>
            <a:srgbClr val="FFFFFF"/>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178808" y="1417320"/>
            <a:ext cx="63500" cy="182880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07408" y="1600200"/>
            <a:ext cx="3154680" cy="320040"/>
          </a:xfrm>
          <a:prstGeom prst="rect">
            <a:avLst/>
          </a:prstGeom>
          <a:noFill/>
        </p:spPr>
        <p:txBody>
          <a:bodyPr wrap="square"/>
          <a:lstStyle/>
          <a:p>
            <a:pPr algn="l">
              <a:spcBef>
                <a:spcPts val="0"/>
              </a:spcBef>
              <a:spcAft>
                <a:spcPts val="0"/>
              </a:spcAft>
            </a:pPr>
            <a:r>
              <a:rPr sz="1500" b="1">
                <a:solidFill>
                  <a:srgbClr val="14B8A6"/>
                </a:solidFill>
                <a:latin typeface="Space Grotesk"/>
              </a:rPr>
              <a:t>Inventory Intelligence</a:t>
            </a:r>
          </a:p>
        </p:txBody>
      </p:sp>
      <p:sp>
        <p:nvSpPr>
          <p:cNvPr id="14" name="TextBox 13"/>
          <p:cNvSpPr txBox="1"/>
          <p:nvPr/>
        </p:nvSpPr>
        <p:spPr>
          <a:xfrm>
            <a:off x="4407408" y="2011680"/>
            <a:ext cx="3154680" cy="1097280"/>
          </a:xfrm>
          <a:prstGeom prst="rect">
            <a:avLst/>
          </a:prstGeom>
          <a:noFill/>
        </p:spPr>
        <p:txBody>
          <a:bodyPr wrap="square"/>
          <a:lstStyle/>
          <a:p>
            <a:pPr algn="l">
              <a:spcBef>
                <a:spcPts val="0"/>
              </a:spcBef>
              <a:spcAft>
                <a:spcPts val="0"/>
              </a:spcAft>
            </a:pPr>
            <a:r>
              <a:rPr sz="1200" b="0">
                <a:solidFill>
                  <a:srgbClr val="9CA3AF"/>
                </a:solidFill>
                <a:latin typeface="Inter"/>
              </a:rPr>
              <a:t>Understand inventory health
and projected stock position</a:t>
            </a:r>
          </a:p>
        </p:txBody>
      </p:sp>
      <p:sp>
        <p:nvSpPr>
          <p:cNvPr id="15" name="Rounded Rectangle 14"/>
          <p:cNvSpPr/>
          <p:nvPr/>
        </p:nvSpPr>
        <p:spPr>
          <a:xfrm>
            <a:off x="7900416" y="1417320"/>
            <a:ext cx="3520440" cy="1828800"/>
          </a:xfrm>
          <a:prstGeom prst="roundRect">
            <a:avLst/>
          </a:prstGeom>
          <a:solidFill>
            <a:srgbClr val="FFFFFF"/>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900416" y="1417320"/>
            <a:ext cx="63500" cy="182880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29016" y="1600200"/>
            <a:ext cx="3154680" cy="320040"/>
          </a:xfrm>
          <a:prstGeom prst="rect">
            <a:avLst/>
          </a:prstGeom>
          <a:noFill/>
        </p:spPr>
        <p:txBody>
          <a:bodyPr wrap="square"/>
          <a:lstStyle/>
          <a:p>
            <a:pPr algn="l">
              <a:spcBef>
                <a:spcPts val="0"/>
              </a:spcBef>
              <a:spcAft>
                <a:spcPts val="0"/>
              </a:spcAft>
            </a:pPr>
            <a:r>
              <a:rPr sz="1500" b="1">
                <a:solidFill>
                  <a:srgbClr val="10B981"/>
                </a:solidFill>
                <a:latin typeface="Space Grotesk"/>
              </a:rPr>
              <a:t>Prescriptive Decision Support</a:t>
            </a:r>
          </a:p>
        </p:txBody>
      </p:sp>
      <p:sp>
        <p:nvSpPr>
          <p:cNvPr id="18" name="TextBox 17"/>
          <p:cNvSpPr txBox="1"/>
          <p:nvPr/>
        </p:nvSpPr>
        <p:spPr>
          <a:xfrm>
            <a:off x="8129016" y="2011680"/>
            <a:ext cx="3154680" cy="1097280"/>
          </a:xfrm>
          <a:prstGeom prst="rect">
            <a:avLst/>
          </a:prstGeom>
          <a:noFill/>
        </p:spPr>
        <p:txBody>
          <a:bodyPr wrap="square"/>
          <a:lstStyle/>
          <a:p>
            <a:pPr algn="l">
              <a:spcBef>
                <a:spcPts val="0"/>
              </a:spcBef>
              <a:spcAft>
                <a:spcPts val="0"/>
              </a:spcAft>
            </a:pPr>
            <a:r>
              <a:rPr sz="1200" b="0">
                <a:solidFill>
                  <a:srgbClr val="9CA3AF"/>
                </a:solidFill>
                <a:latin typeface="Inter"/>
              </a:rPr>
              <a:t>Recommend replenishment
and potential transfers</a:t>
            </a:r>
          </a:p>
        </p:txBody>
      </p:sp>
      <p:sp>
        <p:nvSpPr>
          <p:cNvPr id="19" name="Rounded Rectangle 18"/>
          <p:cNvSpPr/>
          <p:nvPr/>
        </p:nvSpPr>
        <p:spPr>
          <a:xfrm>
            <a:off x="457200" y="3474720"/>
            <a:ext cx="3520440" cy="1828800"/>
          </a:xfrm>
          <a:prstGeom prst="roundRect">
            <a:avLst/>
          </a:prstGeom>
          <a:solidFill>
            <a:srgbClr val="FFFF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57200" y="3474720"/>
            <a:ext cx="63500" cy="18288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3657600"/>
            <a:ext cx="3154680" cy="320040"/>
          </a:xfrm>
          <a:prstGeom prst="rect">
            <a:avLst/>
          </a:prstGeom>
          <a:noFill/>
        </p:spPr>
        <p:txBody>
          <a:bodyPr wrap="square"/>
          <a:lstStyle/>
          <a:p>
            <a:pPr algn="l">
              <a:spcBef>
                <a:spcPts val="0"/>
              </a:spcBef>
              <a:spcAft>
                <a:spcPts val="0"/>
              </a:spcAft>
            </a:pPr>
            <a:r>
              <a:rPr sz="1500" b="1">
                <a:solidFill>
                  <a:srgbClr val="2563EB"/>
                </a:solidFill>
                <a:latin typeface="Space Grotesk"/>
              </a:rPr>
              <a:t>Multi-Outlet Visibility</a:t>
            </a:r>
          </a:p>
        </p:txBody>
      </p:sp>
      <p:sp>
        <p:nvSpPr>
          <p:cNvPr id="22" name="TextBox 21"/>
          <p:cNvSpPr txBox="1"/>
          <p:nvPr/>
        </p:nvSpPr>
        <p:spPr>
          <a:xfrm>
            <a:off x="685800" y="4069080"/>
            <a:ext cx="3154680" cy="1097280"/>
          </a:xfrm>
          <a:prstGeom prst="rect">
            <a:avLst/>
          </a:prstGeom>
          <a:noFill/>
        </p:spPr>
        <p:txBody>
          <a:bodyPr wrap="square"/>
          <a:lstStyle/>
          <a:p>
            <a:pPr algn="l">
              <a:spcBef>
                <a:spcPts val="0"/>
              </a:spcBef>
              <a:spcAft>
                <a:spcPts val="0"/>
              </a:spcAft>
            </a:pPr>
            <a:r>
              <a:rPr sz="1200" b="0">
                <a:solidFill>
                  <a:srgbClr val="9CA3AF"/>
                </a:solidFill>
                <a:latin typeface="Inter"/>
              </a:rPr>
              <a:t>Centralized company and
outlet-level analytics</a:t>
            </a:r>
          </a:p>
        </p:txBody>
      </p:sp>
      <p:sp>
        <p:nvSpPr>
          <p:cNvPr id="23" name="Rounded Rectangle 22"/>
          <p:cNvSpPr/>
          <p:nvPr/>
        </p:nvSpPr>
        <p:spPr>
          <a:xfrm>
            <a:off x="4178808" y="3474720"/>
            <a:ext cx="3520440" cy="1828800"/>
          </a:xfrm>
          <a:prstGeom prst="roundRect">
            <a:avLst/>
          </a:prstGeom>
          <a:solidFill>
            <a:srgbClr val="FFFFFF"/>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178808" y="3474720"/>
            <a:ext cx="63500" cy="182880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07408" y="3657600"/>
            <a:ext cx="3154680" cy="320040"/>
          </a:xfrm>
          <a:prstGeom prst="rect">
            <a:avLst/>
          </a:prstGeom>
          <a:noFill/>
        </p:spPr>
        <p:txBody>
          <a:bodyPr wrap="square"/>
          <a:lstStyle/>
          <a:p>
            <a:pPr algn="l">
              <a:spcBef>
                <a:spcPts val="0"/>
              </a:spcBef>
              <a:spcAft>
                <a:spcPts val="0"/>
              </a:spcAft>
            </a:pPr>
            <a:r>
              <a:rPr sz="1500" b="1">
                <a:solidFill>
                  <a:srgbClr val="14B8A6"/>
                </a:solidFill>
                <a:latin typeface="Space Grotesk"/>
              </a:rPr>
              <a:t>Model Comparison</a:t>
            </a:r>
          </a:p>
        </p:txBody>
      </p:sp>
      <p:sp>
        <p:nvSpPr>
          <p:cNvPr id="26" name="TextBox 25"/>
          <p:cNvSpPr txBox="1"/>
          <p:nvPr/>
        </p:nvSpPr>
        <p:spPr>
          <a:xfrm>
            <a:off x="4407408" y="4069080"/>
            <a:ext cx="3154680" cy="1097280"/>
          </a:xfrm>
          <a:prstGeom prst="rect">
            <a:avLst/>
          </a:prstGeom>
          <a:noFill/>
        </p:spPr>
        <p:txBody>
          <a:bodyPr wrap="square"/>
          <a:lstStyle/>
          <a:p>
            <a:pPr algn="l">
              <a:spcBef>
                <a:spcPts val="0"/>
              </a:spcBef>
              <a:spcAft>
                <a:spcPts val="0"/>
              </a:spcAft>
            </a:pPr>
            <a:r>
              <a:rPr sz="1200" b="0">
                <a:solidFill>
                  <a:srgbClr val="9CA3AF"/>
                </a:solidFill>
                <a:latin typeface="Inter"/>
              </a:rPr>
              <a:t>Evaluate multiple forecasting
approaches using observed data</a:t>
            </a:r>
          </a:p>
        </p:txBody>
      </p:sp>
      <p:sp>
        <p:nvSpPr>
          <p:cNvPr id="27" name="Rounded Rectangle 26"/>
          <p:cNvSpPr/>
          <p:nvPr/>
        </p:nvSpPr>
        <p:spPr>
          <a:xfrm>
            <a:off x="7900416" y="3474720"/>
            <a:ext cx="3520440" cy="1828800"/>
          </a:xfrm>
          <a:prstGeom prst="roundRect">
            <a:avLst/>
          </a:prstGeom>
          <a:solidFill>
            <a:srgbClr val="FFFFFF"/>
          </a:solidFill>
          <a:ln w="25400">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900416" y="3474720"/>
            <a:ext cx="63500" cy="1828800"/>
          </a:xfrm>
          <a:prstGeom prst="round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129016" y="3657600"/>
            <a:ext cx="3154680" cy="320040"/>
          </a:xfrm>
          <a:prstGeom prst="rect">
            <a:avLst/>
          </a:prstGeom>
          <a:noFill/>
        </p:spPr>
        <p:txBody>
          <a:bodyPr wrap="square"/>
          <a:lstStyle/>
          <a:p>
            <a:pPr algn="l">
              <a:spcBef>
                <a:spcPts val="0"/>
              </a:spcBef>
              <a:spcAft>
                <a:spcPts val="0"/>
              </a:spcAft>
            </a:pPr>
            <a:r>
              <a:rPr sz="1500" b="1">
                <a:solidFill>
                  <a:srgbClr val="111827"/>
                </a:solidFill>
                <a:latin typeface="Space Grotesk"/>
              </a:rPr>
              <a:t>Interactive Product</a:t>
            </a:r>
          </a:p>
        </p:txBody>
      </p:sp>
      <p:sp>
        <p:nvSpPr>
          <p:cNvPr id="30" name="TextBox 29"/>
          <p:cNvSpPr txBox="1"/>
          <p:nvPr/>
        </p:nvSpPr>
        <p:spPr>
          <a:xfrm>
            <a:off x="8129016" y="4069080"/>
            <a:ext cx="3154680" cy="1097280"/>
          </a:xfrm>
          <a:prstGeom prst="rect">
            <a:avLst/>
          </a:prstGeom>
          <a:noFill/>
        </p:spPr>
        <p:txBody>
          <a:bodyPr wrap="square"/>
          <a:lstStyle/>
          <a:p>
            <a:pPr algn="l">
              <a:spcBef>
                <a:spcPts val="0"/>
              </a:spcBef>
              <a:spcAft>
                <a:spcPts val="0"/>
              </a:spcAft>
            </a:pPr>
            <a:r>
              <a:rPr sz="1200" b="0">
                <a:solidFill>
                  <a:srgbClr val="9CA3AF"/>
                </a:solidFill>
                <a:latin typeface="Inter"/>
              </a:rPr>
              <a:t>Functional web-based application
rather than an isolated prototype</a:t>
            </a:r>
          </a:p>
        </p:txBody>
      </p:sp>
      <p:sp>
        <p:nvSpPr>
          <p:cNvPr id="31" name="Rounded Rectangle 30"/>
          <p:cNvSpPr/>
          <p:nvPr/>
        </p:nvSpPr>
        <p:spPr>
          <a:xfrm>
            <a:off x="457200" y="5394960"/>
            <a:ext cx="11247120" cy="1005840"/>
          </a:xfrm>
          <a:prstGeom prst="roundRect">
            <a:avLst/>
          </a:prstGeom>
          <a:solidFill>
            <a:srgbClr val="EFF6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5440680"/>
            <a:ext cx="10881360" cy="914400"/>
          </a:xfrm>
          <a:prstGeom prst="rect">
            <a:avLst/>
          </a:prstGeom>
          <a:noFill/>
        </p:spPr>
        <p:txBody>
          <a:bodyPr wrap="square"/>
          <a:lstStyle/>
          <a:p>
            <a:pPr algn="ctr">
              <a:spcAft>
                <a:spcPts val="400"/>
              </a:spcAft>
            </a:pPr>
            <a:r>
              <a:rPr sz="1300" b="1">
                <a:solidFill>
                  <a:srgbClr val="2563EB"/>
                </a:solidFill>
                <a:latin typeface="Space Grotesk"/>
              </a:rPr>
              <a:t>Academic Outcome: Integration of</a:t>
            </a:r>
          </a:p>
          <a:p>
            <a:pPr algn="ctr">
              <a:spcAft>
                <a:spcPts val="0"/>
              </a:spcAft>
            </a:pPr>
            <a:r>
              <a:rPr sz="1200" b="0">
                <a:solidFill>
                  <a:srgbClr val="111827"/>
                </a:solidFill>
                <a:latin typeface="Inter"/>
              </a:rPr>
              <a:t>Software Engineering  +  Data Processing  +  Statistical Forecasting  +  Machine Learning  +  Inventory Optimization  +  Decision Support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9FAFB"/>
        </a:solidFill>
        <a:effectLst/>
      </p:bgPr>
    </p:bg>
    <p:spTree>
      <p:nvGrpSpPr>
        <p:cNvPr id="1" name=""/>
        <p:cNvGrpSpPr/>
        <p:nvPr/>
      </p:nvGrpSpPr>
      <p:grpSpPr/>
      <p:sp>
        <p:nvSpPr>
          <p:cNvPr id="2" name="Rounded Rectangle 1"/>
          <p:cNvSpPr/>
          <p:nvPr/>
        </p:nvSpPr>
        <p:spPr>
          <a:xfrm>
            <a:off x="0" y="0"/>
            <a:ext cx="12191695" cy="10515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515600" cy="548640"/>
          </a:xfrm>
          <a:prstGeom prst="rect">
            <a:avLst/>
          </a:prstGeom>
          <a:noFill/>
        </p:spPr>
        <p:txBody>
          <a:bodyPr wrap="square"/>
          <a:lstStyle/>
          <a:p>
            <a:pPr algn="l">
              <a:spcBef>
                <a:spcPts val="0"/>
              </a:spcBef>
              <a:spcAft>
                <a:spcPts val="0"/>
              </a:spcAft>
            </a:pPr>
            <a:r>
              <a:rPr sz="3000" b="1">
                <a:solidFill>
                  <a:srgbClr val="FFFFFF"/>
                </a:solidFill>
                <a:latin typeface="Space Grotesk"/>
              </a:rPr>
              <a:t>Comparative Analysis</a:t>
            </a:r>
          </a:p>
        </p:txBody>
      </p:sp>
      <p:sp>
        <p:nvSpPr>
          <p:cNvPr id="4" name="TextBox 3"/>
          <p:cNvSpPr txBox="1"/>
          <p:nvPr/>
        </p:nvSpPr>
        <p:spPr>
          <a:xfrm>
            <a:off x="548640" y="640080"/>
            <a:ext cx="10515600" cy="365760"/>
          </a:xfrm>
          <a:prstGeom prst="rect">
            <a:avLst/>
          </a:prstGeom>
          <a:noFill/>
        </p:spPr>
        <p:txBody>
          <a:bodyPr wrap="square"/>
          <a:lstStyle/>
          <a:p>
            <a:pPr algn="l">
              <a:spcBef>
                <a:spcPts val="0"/>
              </a:spcBef>
              <a:spcAft>
                <a:spcPts val="0"/>
              </a:spcAft>
            </a:pPr>
            <a:r>
              <a:rPr sz="1600" b="0">
                <a:solidFill>
                  <a:srgbClr val="BFDBFE"/>
                </a:solidFill>
                <a:latin typeface="Inter"/>
              </a:rPr>
              <a:t>StockMind AI vs. Commercial Vendor Solutions</a:t>
            </a:r>
          </a:p>
        </p:txBody>
      </p:sp>
      <p:pic>
        <p:nvPicPr>
          <p:cNvPr id="5" name="Picture 4" descr="443732266_1006349624830063_6095867571651137613_n-removebg-preview.png"/>
          <p:cNvPicPr>
            <a:picLocks noChangeAspect="1"/>
          </p:cNvPicPr>
          <p:nvPr/>
        </p:nvPicPr>
        <p:blipFill>
          <a:blip r:embed="rId2"/>
          <a:stretch>
            <a:fillRect/>
          </a:stretch>
        </p:blipFill>
        <p:spPr>
          <a:xfrm>
            <a:off x="11094415" y="137160"/>
            <a:ext cx="868680" cy="868680"/>
          </a:xfrm>
          <a:prstGeom prst="rect">
            <a:avLst/>
          </a:prstGeom>
        </p:spPr>
      </p:pic>
      <p:sp>
        <p:nvSpPr>
          <p:cNvPr id="6" name="Rounded Rectangle 5"/>
          <p:cNvSpPr/>
          <p:nvPr/>
        </p:nvSpPr>
        <p:spPr>
          <a:xfrm>
            <a:off x="0" y="6675120"/>
            <a:ext cx="12191695" cy="18288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247120" y="6446520"/>
            <a:ext cx="822960" cy="274320"/>
          </a:xfrm>
          <a:prstGeom prst="rect">
            <a:avLst/>
          </a:prstGeom>
          <a:noFill/>
        </p:spPr>
        <p:txBody>
          <a:bodyPr wrap="square"/>
          <a:lstStyle/>
          <a:p>
            <a:pPr algn="r">
              <a:spcBef>
                <a:spcPts val="0"/>
              </a:spcBef>
              <a:spcAft>
                <a:spcPts val="0"/>
              </a:spcAft>
            </a:pPr>
            <a:r>
              <a:rPr sz="1000" b="0">
                <a:solidFill>
                  <a:srgbClr val="9CA3AF"/>
                </a:solidFill>
                <a:latin typeface="Inter"/>
              </a:rPr>
              <a:t>18 / 21</a:t>
            </a:r>
          </a:p>
        </p:txBody>
      </p:sp>
      <p:sp>
        <p:nvSpPr>
          <p:cNvPr id="8" name="Rounded Rectangle 7"/>
          <p:cNvSpPr/>
          <p:nvPr/>
        </p:nvSpPr>
        <p:spPr>
          <a:xfrm>
            <a:off x="320040" y="1463040"/>
            <a:ext cx="1920240" cy="457200"/>
          </a:xfrm>
          <a:prstGeom prst="round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Space Grotesk"/>
              </a:rPr>
              <a:t>Capability</a:t>
            </a:r>
          </a:p>
        </p:txBody>
      </p:sp>
      <p:sp>
        <p:nvSpPr>
          <p:cNvPr id="9" name="Rounded Rectangle 8"/>
          <p:cNvSpPr/>
          <p:nvPr/>
        </p:nvSpPr>
        <p:spPr>
          <a:xfrm>
            <a:off x="2240280" y="1463040"/>
            <a:ext cx="2450592" cy="457200"/>
          </a:xfrm>
          <a:prstGeom prst="roundRect">
            <a:avLst/>
          </a:prstGeom>
          <a:solidFill>
            <a:srgbClr val="9CA3A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Space Grotesk"/>
              </a:rPr>
              <a:t> RELEX Solutions</a:t>
            </a:r>
          </a:p>
        </p:txBody>
      </p:sp>
      <p:sp>
        <p:nvSpPr>
          <p:cNvPr id="10" name="Rounded Rectangle 9"/>
          <p:cNvSpPr/>
          <p:nvPr/>
        </p:nvSpPr>
        <p:spPr>
          <a:xfrm>
            <a:off x="4690872" y="1463040"/>
            <a:ext cx="2450592" cy="457200"/>
          </a:xfrm>
          <a:prstGeom prst="roundRect">
            <a:avLst/>
          </a:prstGeom>
          <a:solidFill>
            <a:srgbClr val="9CA3A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Space Grotesk"/>
              </a:rPr>
              <a:t> Blue Yonder (JDA)</a:t>
            </a:r>
          </a:p>
        </p:txBody>
      </p:sp>
      <p:sp>
        <p:nvSpPr>
          <p:cNvPr id="11" name="Rounded Rectangle 10"/>
          <p:cNvSpPr/>
          <p:nvPr/>
        </p:nvSpPr>
        <p:spPr>
          <a:xfrm>
            <a:off x="7141464" y="1463040"/>
            <a:ext cx="2084831" cy="457200"/>
          </a:xfrm>
          <a:prstGeom prst="roundRect">
            <a:avLst/>
          </a:prstGeom>
          <a:solidFill>
            <a:srgbClr val="9CA3A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Space Grotesk"/>
              </a:rPr>
              <a:t> Slimstock</a:t>
            </a:r>
          </a:p>
        </p:txBody>
      </p:sp>
      <p:sp>
        <p:nvSpPr>
          <p:cNvPr id="12" name="Rounded Rectangle 11"/>
          <p:cNvSpPr/>
          <p:nvPr/>
        </p:nvSpPr>
        <p:spPr>
          <a:xfrm>
            <a:off x="9226295" y="1463040"/>
            <a:ext cx="2450592" cy="45720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Space Grotesk"/>
              </a:rPr>
              <a:t> StockMind AI</a:t>
            </a:r>
          </a:p>
        </p:txBody>
      </p:sp>
      <p:sp>
        <p:nvSpPr>
          <p:cNvPr id="13" name="Rounded Rectangle 12"/>
          <p:cNvSpPr/>
          <p:nvPr/>
        </p:nvSpPr>
        <p:spPr>
          <a:xfrm>
            <a:off x="320040" y="1965960"/>
            <a:ext cx="1920240" cy="475488"/>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050" b="1">
                <a:solidFill>
                  <a:srgbClr val="2563EB"/>
                </a:solidFill>
                <a:latin typeface="Inter"/>
              </a:rPr>
              <a:t>Demand Forecasting</a:t>
            </a:r>
          </a:p>
        </p:txBody>
      </p:sp>
      <p:sp>
        <p:nvSpPr>
          <p:cNvPr id="14" name="Rounded Rectangle 13"/>
          <p:cNvSpPr/>
          <p:nvPr/>
        </p:nvSpPr>
        <p:spPr>
          <a:xfrm>
            <a:off x="2240280" y="1965960"/>
            <a:ext cx="2450592" cy="475488"/>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050" b="0">
                <a:solidFill>
                  <a:srgbClr val="111827"/>
                </a:solidFill>
                <a:latin typeface="Inter"/>
              </a:rPr>
              <a:t>Statistical + ML models</a:t>
            </a:r>
          </a:p>
        </p:txBody>
      </p:sp>
      <p:sp>
        <p:nvSpPr>
          <p:cNvPr id="15" name="Rounded Rectangle 14"/>
          <p:cNvSpPr/>
          <p:nvPr/>
        </p:nvSpPr>
        <p:spPr>
          <a:xfrm>
            <a:off x="4690872" y="1965960"/>
            <a:ext cx="2450592" cy="475488"/>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050" b="0">
                <a:solidFill>
                  <a:srgbClr val="111827"/>
                </a:solidFill>
                <a:latin typeface="Inter"/>
              </a:rPr>
              <a:t>Enterprise planning models</a:t>
            </a:r>
          </a:p>
        </p:txBody>
      </p:sp>
      <p:sp>
        <p:nvSpPr>
          <p:cNvPr id="16" name="Rounded Rectangle 15"/>
          <p:cNvSpPr/>
          <p:nvPr/>
        </p:nvSpPr>
        <p:spPr>
          <a:xfrm>
            <a:off x="7141464" y="1965960"/>
            <a:ext cx="2084831" cy="475488"/>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050" b="0">
                <a:solidFill>
                  <a:srgbClr val="111827"/>
                </a:solidFill>
                <a:latin typeface="Inter"/>
              </a:rPr>
              <a:t>Statistical forecasting</a:t>
            </a:r>
          </a:p>
        </p:txBody>
      </p:sp>
      <p:sp>
        <p:nvSpPr>
          <p:cNvPr id="17" name="Rounded Rectangle 16"/>
          <p:cNvSpPr/>
          <p:nvPr/>
        </p:nvSpPr>
        <p:spPr>
          <a:xfrm>
            <a:off x="9226295" y="1965960"/>
            <a:ext cx="2450592" cy="475488"/>
          </a:xfrm>
          <a:prstGeom prst="roundRect">
            <a:avLst/>
          </a:prstGeom>
          <a:solidFill>
            <a:srgbClr val="CCFBF1"/>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050" b="1">
                <a:solidFill>
                  <a:srgbClr val="134E4A"/>
                </a:solidFill>
                <a:latin typeface="Inter"/>
              </a:rPr>
              <a:t>Statistical + ML models, evaluated</a:t>
            </a:r>
          </a:p>
        </p:txBody>
      </p:sp>
      <p:sp>
        <p:nvSpPr>
          <p:cNvPr id="18" name="Rounded Rectangle 17"/>
          <p:cNvSpPr/>
          <p:nvPr/>
        </p:nvSpPr>
        <p:spPr>
          <a:xfrm>
            <a:off x="320040" y="2478024"/>
            <a:ext cx="1920240" cy="475488"/>
          </a:xfrm>
          <a:prstGeom prst="roundRect">
            <a:avLst/>
          </a:prstGeom>
          <a:solidFill>
            <a:srgbClr val="F3F4F6"/>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050" b="1">
                <a:solidFill>
                  <a:srgbClr val="2563EB"/>
                </a:solidFill>
                <a:latin typeface="Inter"/>
              </a:rPr>
              <a:t>Forecast Evaluation</a:t>
            </a:r>
          </a:p>
        </p:txBody>
      </p:sp>
      <p:sp>
        <p:nvSpPr>
          <p:cNvPr id="19" name="Rounded Rectangle 18"/>
          <p:cNvSpPr/>
          <p:nvPr/>
        </p:nvSpPr>
        <p:spPr>
          <a:xfrm>
            <a:off x="2240280" y="2478024"/>
            <a:ext cx="2450592" cy="475488"/>
          </a:xfrm>
          <a:prstGeom prst="roundRect">
            <a:avLst/>
          </a:prstGeom>
          <a:solidFill>
            <a:srgbClr val="F3F4F6"/>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050" b="0">
                <a:solidFill>
                  <a:srgbClr val="111827"/>
                </a:solidFill>
                <a:latin typeface="Inter"/>
              </a:rPr>
              <a:t>Limited visibility</a:t>
            </a:r>
          </a:p>
        </p:txBody>
      </p:sp>
      <p:sp>
        <p:nvSpPr>
          <p:cNvPr id="20" name="Rounded Rectangle 19"/>
          <p:cNvSpPr/>
          <p:nvPr/>
        </p:nvSpPr>
        <p:spPr>
          <a:xfrm>
            <a:off x="4690872" y="2478024"/>
            <a:ext cx="2450592" cy="475488"/>
          </a:xfrm>
          <a:prstGeom prst="roundRect">
            <a:avLst/>
          </a:prstGeom>
          <a:solidFill>
            <a:srgbClr val="F3F4F6"/>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050" b="0">
                <a:solidFill>
                  <a:srgbClr val="111827"/>
                </a:solidFill>
                <a:latin typeface="Inter"/>
              </a:rPr>
              <a:t>Not always exposed</a:t>
            </a:r>
          </a:p>
        </p:txBody>
      </p:sp>
      <p:sp>
        <p:nvSpPr>
          <p:cNvPr id="21" name="Rounded Rectangle 20"/>
          <p:cNvSpPr/>
          <p:nvPr/>
        </p:nvSpPr>
        <p:spPr>
          <a:xfrm>
            <a:off x="7141464" y="2478024"/>
            <a:ext cx="2084831" cy="475488"/>
          </a:xfrm>
          <a:prstGeom prst="roundRect">
            <a:avLst/>
          </a:prstGeom>
          <a:solidFill>
            <a:srgbClr val="F3F4F6"/>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050" b="0">
                <a:solidFill>
                  <a:srgbClr val="111827"/>
                </a:solidFill>
                <a:latin typeface="Inter"/>
              </a:rPr>
              <a:t>Basic metrics</a:t>
            </a:r>
          </a:p>
        </p:txBody>
      </p:sp>
      <p:sp>
        <p:nvSpPr>
          <p:cNvPr id="22" name="Rounded Rectangle 21"/>
          <p:cNvSpPr/>
          <p:nvPr/>
        </p:nvSpPr>
        <p:spPr>
          <a:xfrm>
            <a:off x="9226295" y="2478024"/>
            <a:ext cx="2450592" cy="475488"/>
          </a:xfrm>
          <a:prstGeom prst="roundRect">
            <a:avLst/>
          </a:prstGeom>
          <a:solidFill>
            <a:srgbClr val="99F6E4"/>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050" b="1">
                <a:solidFill>
                  <a:srgbClr val="134E4A"/>
                </a:solidFill>
                <a:latin typeface="Inter"/>
              </a:rPr>
              <a:t>MAE / RMSE / MAPE on held-out data</a:t>
            </a:r>
          </a:p>
        </p:txBody>
      </p:sp>
      <p:sp>
        <p:nvSpPr>
          <p:cNvPr id="23" name="Rounded Rectangle 22"/>
          <p:cNvSpPr/>
          <p:nvPr/>
        </p:nvSpPr>
        <p:spPr>
          <a:xfrm>
            <a:off x="320040" y="2990088"/>
            <a:ext cx="1920240" cy="475488"/>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050" b="1">
                <a:solidFill>
                  <a:srgbClr val="2563EB"/>
                </a:solidFill>
                <a:latin typeface="Inter"/>
              </a:rPr>
              <a:t>Safety Stock &amp; Reorder</a:t>
            </a:r>
          </a:p>
        </p:txBody>
      </p:sp>
      <p:sp>
        <p:nvSpPr>
          <p:cNvPr id="24" name="Rounded Rectangle 23"/>
          <p:cNvSpPr/>
          <p:nvPr/>
        </p:nvSpPr>
        <p:spPr>
          <a:xfrm>
            <a:off x="2240280" y="2990088"/>
            <a:ext cx="2450592" cy="475488"/>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050" b="0">
                <a:solidFill>
                  <a:srgbClr val="111827"/>
                </a:solidFill>
                <a:latin typeface="Inter"/>
              </a:rPr>
              <a:t>Advanced optimization</a:t>
            </a:r>
          </a:p>
        </p:txBody>
      </p:sp>
      <p:sp>
        <p:nvSpPr>
          <p:cNvPr id="25" name="Rounded Rectangle 24"/>
          <p:cNvSpPr/>
          <p:nvPr/>
        </p:nvSpPr>
        <p:spPr>
          <a:xfrm>
            <a:off x="4690872" y="2990088"/>
            <a:ext cx="2450592" cy="475488"/>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050" b="0">
                <a:solidFill>
                  <a:srgbClr val="111827"/>
                </a:solidFill>
                <a:latin typeface="Inter"/>
              </a:rPr>
              <a:t>Supply-chain planning</a:t>
            </a:r>
          </a:p>
        </p:txBody>
      </p:sp>
      <p:sp>
        <p:nvSpPr>
          <p:cNvPr id="26" name="Rounded Rectangle 25"/>
          <p:cNvSpPr/>
          <p:nvPr/>
        </p:nvSpPr>
        <p:spPr>
          <a:xfrm>
            <a:off x="7141464" y="2990088"/>
            <a:ext cx="2084831" cy="475488"/>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050" b="0">
                <a:solidFill>
                  <a:srgbClr val="111827"/>
                </a:solidFill>
                <a:latin typeface="Inter"/>
              </a:rPr>
              <a:t>Inventory policies</a:t>
            </a:r>
          </a:p>
        </p:txBody>
      </p:sp>
      <p:sp>
        <p:nvSpPr>
          <p:cNvPr id="27" name="Rounded Rectangle 26"/>
          <p:cNvSpPr/>
          <p:nvPr/>
        </p:nvSpPr>
        <p:spPr>
          <a:xfrm>
            <a:off x="9226295" y="2990088"/>
            <a:ext cx="2450592" cy="475488"/>
          </a:xfrm>
          <a:prstGeom prst="roundRect">
            <a:avLst/>
          </a:prstGeom>
          <a:solidFill>
            <a:srgbClr val="CCFBF1"/>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050" b="1">
                <a:solidFill>
                  <a:srgbClr val="134E4A"/>
                </a:solidFill>
                <a:latin typeface="Inter"/>
              </a:rPr>
              <a:t>Calculated from predicted demand</a:t>
            </a:r>
          </a:p>
        </p:txBody>
      </p:sp>
      <p:sp>
        <p:nvSpPr>
          <p:cNvPr id="28" name="Rounded Rectangle 27"/>
          <p:cNvSpPr/>
          <p:nvPr/>
        </p:nvSpPr>
        <p:spPr>
          <a:xfrm>
            <a:off x="320040" y="3502152"/>
            <a:ext cx="1920240" cy="475488"/>
          </a:xfrm>
          <a:prstGeom prst="roundRect">
            <a:avLst/>
          </a:prstGeom>
          <a:solidFill>
            <a:srgbClr val="F3F4F6"/>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050" b="1">
                <a:solidFill>
                  <a:srgbClr val="2563EB"/>
                </a:solidFill>
                <a:latin typeface="Inter"/>
              </a:rPr>
              <a:t>Risk Detection</a:t>
            </a:r>
          </a:p>
        </p:txBody>
      </p:sp>
      <p:sp>
        <p:nvSpPr>
          <p:cNvPr id="29" name="Rounded Rectangle 28"/>
          <p:cNvSpPr/>
          <p:nvPr/>
        </p:nvSpPr>
        <p:spPr>
          <a:xfrm>
            <a:off x="2240280" y="3502152"/>
            <a:ext cx="2450592" cy="475488"/>
          </a:xfrm>
          <a:prstGeom prst="roundRect">
            <a:avLst/>
          </a:prstGeom>
          <a:solidFill>
            <a:srgbClr val="F3F4F6"/>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050" b="0">
                <a:solidFill>
                  <a:srgbClr val="111827"/>
                </a:solidFill>
                <a:latin typeface="Inter"/>
              </a:rPr>
              <a:t>Alerts (paid tiers)</a:t>
            </a:r>
          </a:p>
        </p:txBody>
      </p:sp>
      <p:sp>
        <p:nvSpPr>
          <p:cNvPr id="30" name="Rounded Rectangle 29"/>
          <p:cNvSpPr/>
          <p:nvPr/>
        </p:nvSpPr>
        <p:spPr>
          <a:xfrm>
            <a:off x="4690872" y="3502152"/>
            <a:ext cx="2450592" cy="475488"/>
          </a:xfrm>
          <a:prstGeom prst="roundRect">
            <a:avLst/>
          </a:prstGeom>
          <a:solidFill>
            <a:srgbClr val="F3F4F6"/>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050" b="0">
                <a:solidFill>
                  <a:srgbClr val="111827"/>
                </a:solidFill>
                <a:latin typeface="Inter"/>
              </a:rPr>
              <a:t>Dashboard alerts</a:t>
            </a:r>
          </a:p>
        </p:txBody>
      </p:sp>
      <p:sp>
        <p:nvSpPr>
          <p:cNvPr id="31" name="Rounded Rectangle 30"/>
          <p:cNvSpPr/>
          <p:nvPr/>
        </p:nvSpPr>
        <p:spPr>
          <a:xfrm>
            <a:off x="7141464" y="3502152"/>
            <a:ext cx="2084831" cy="475488"/>
          </a:xfrm>
          <a:prstGeom prst="roundRect">
            <a:avLst/>
          </a:prstGeom>
          <a:solidFill>
            <a:srgbClr val="F3F4F6"/>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050" b="0">
                <a:solidFill>
                  <a:srgbClr val="111827"/>
                </a:solidFill>
                <a:latin typeface="Inter"/>
              </a:rPr>
              <a:t>Reorder alerts</a:t>
            </a:r>
          </a:p>
        </p:txBody>
      </p:sp>
      <p:sp>
        <p:nvSpPr>
          <p:cNvPr id="32" name="Rounded Rectangle 31"/>
          <p:cNvSpPr/>
          <p:nvPr/>
        </p:nvSpPr>
        <p:spPr>
          <a:xfrm>
            <a:off x="9226295" y="3502152"/>
            <a:ext cx="2450592" cy="475488"/>
          </a:xfrm>
          <a:prstGeom prst="roundRect">
            <a:avLst/>
          </a:prstGeom>
          <a:solidFill>
            <a:srgbClr val="99F6E4"/>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050" b="1">
                <a:solidFill>
                  <a:srgbClr val="134E4A"/>
                </a:solidFill>
                <a:latin typeface="Inter"/>
              </a:rPr>
              <a:t>Predictive stockout &amp; overstock flags</a:t>
            </a:r>
          </a:p>
        </p:txBody>
      </p:sp>
      <p:sp>
        <p:nvSpPr>
          <p:cNvPr id="33" name="Rounded Rectangle 32"/>
          <p:cNvSpPr/>
          <p:nvPr/>
        </p:nvSpPr>
        <p:spPr>
          <a:xfrm>
            <a:off x="320040" y="4014216"/>
            <a:ext cx="1920240" cy="475488"/>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050" b="1">
                <a:solidFill>
                  <a:srgbClr val="2563EB"/>
                </a:solidFill>
                <a:latin typeface="Inter"/>
              </a:rPr>
              <a:t>Multi-Outlet Transfers</a:t>
            </a:r>
          </a:p>
        </p:txBody>
      </p:sp>
      <p:sp>
        <p:nvSpPr>
          <p:cNvPr id="34" name="Rounded Rectangle 33"/>
          <p:cNvSpPr/>
          <p:nvPr/>
        </p:nvSpPr>
        <p:spPr>
          <a:xfrm>
            <a:off x="2240280" y="4014216"/>
            <a:ext cx="2450592" cy="475488"/>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050" b="0">
                <a:solidFill>
                  <a:srgbClr val="111827"/>
                </a:solidFill>
                <a:latin typeface="Inter"/>
              </a:rPr>
              <a:t>Yes (enterprise scope)</a:t>
            </a:r>
          </a:p>
        </p:txBody>
      </p:sp>
      <p:sp>
        <p:nvSpPr>
          <p:cNvPr id="35" name="Rounded Rectangle 34"/>
          <p:cNvSpPr/>
          <p:nvPr/>
        </p:nvSpPr>
        <p:spPr>
          <a:xfrm>
            <a:off x="4690872" y="4014216"/>
            <a:ext cx="2450592" cy="475488"/>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050" b="0">
                <a:solidFill>
                  <a:srgbClr val="111827"/>
                </a:solidFill>
                <a:latin typeface="Inter"/>
              </a:rPr>
              <a:t>Partial / module</a:t>
            </a:r>
          </a:p>
        </p:txBody>
      </p:sp>
      <p:sp>
        <p:nvSpPr>
          <p:cNvPr id="36" name="Rounded Rectangle 35"/>
          <p:cNvSpPr/>
          <p:nvPr/>
        </p:nvSpPr>
        <p:spPr>
          <a:xfrm>
            <a:off x="7141464" y="4014216"/>
            <a:ext cx="2084831" cy="475488"/>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050" b="0">
                <a:solidFill>
                  <a:srgbClr val="111827"/>
                </a:solidFill>
                <a:latin typeface="Inter"/>
              </a:rPr>
              <a:t>Limited</a:t>
            </a:r>
          </a:p>
        </p:txBody>
      </p:sp>
      <p:sp>
        <p:nvSpPr>
          <p:cNvPr id="37" name="Rounded Rectangle 36"/>
          <p:cNvSpPr/>
          <p:nvPr/>
        </p:nvSpPr>
        <p:spPr>
          <a:xfrm>
            <a:off x="9226295" y="4014216"/>
            <a:ext cx="2450592" cy="475488"/>
          </a:xfrm>
          <a:prstGeom prst="roundRect">
            <a:avLst/>
          </a:prstGeom>
          <a:solidFill>
            <a:srgbClr val="CCFBF1"/>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050" b="1">
                <a:solidFill>
                  <a:srgbClr val="134E4A"/>
                </a:solidFill>
                <a:latin typeface="Inter"/>
              </a:rPr>
              <a:t>Surplus ↔ shortage matching</a:t>
            </a:r>
          </a:p>
        </p:txBody>
      </p:sp>
      <p:sp>
        <p:nvSpPr>
          <p:cNvPr id="38" name="Rounded Rectangle 37"/>
          <p:cNvSpPr/>
          <p:nvPr/>
        </p:nvSpPr>
        <p:spPr>
          <a:xfrm>
            <a:off x="320040" y="4526280"/>
            <a:ext cx="1920240" cy="475488"/>
          </a:xfrm>
          <a:prstGeom prst="roundRect">
            <a:avLst/>
          </a:prstGeom>
          <a:solidFill>
            <a:srgbClr val="F3F4F6"/>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050" b="1">
                <a:solidFill>
                  <a:srgbClr val="2563EB"/>
                </a:solidFill>
                <a:latin typeface="Inter"/>
              </a:rPr>
              <a:t>Target Market</a:t>
            </a:r>
          </a:p>
        </p:txBody>
      </p:sp>
      <p:sp>
        <p:nvSpPr>
          <p:cNvPr id="39" name="Rounded Rectangle 38"/>
          <p:cNvSpPr/>
          <p:nvPr/>
        </p:nvSpPr>
        <p:spPr>
          <a:xfrm>
            <a:off x="2240280" y="4526280"/>
            <a:ext cx="2450592" cy="475488"/>
          </a:xfrm>
          <a:prstGeom prst="roundRect">
            <a:avLst/>
          </a:prstGeom>
          <a:solidFill>
            <a:srgbClr val="F3F4F6"/>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050" b="0">
                <a:solidFill>
                  <a:srgbClr val="111827"/>
                </a:solidFill>
                <a:latin typeface="Inter"/>
              </a:rPr>
              <a:t>Large retail / FMCG</a:t>
            </a:r>
          </a:p>
        </p:txBody>
      </p:sp>
      <p:sp>
        <p:nvSpPr>
          <p:cNvPr id="40" name="Rounded Rectangle 39"/>
          <p:cNvSpPr/>
          <p:nvPr/>
        </p:nvSpPr>
        <p:spPr>
          <a:xfrm>
            <a:off x="4690872" y="4526280"/>
            <a:ext cx="2450592" cy="475488"/>
          </a:xfrm>
          <a:prstGeom prst="roundRect">
            <a:avLst/>
          </a:prstGeom>
          <a:solidFill>
            <a:srgbClr val="F3F4F6"/>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050" b="0">
                <a:solidFill>
                  <a:srgbClr val="111827"/>
                </a:solidFill>
                <a:latin typeface="Inter"/>
              </a:rPr>
              <a:t>Global enterprises</a:t>
            </a:r>
          </a:p>
        </p:txBody>
      </p:sp>
      <p:sp>
        <p:nvSpPr>
          <p:cNvPr id="41" name="Rounded Rectangle 40"/>
          <p:cNvSpPr/>
          <p:nvPr/>
        </p:nvSpPr>
        <p:spPr>
          <a:xfrm>
            <a:off x="7141464" y="4526280"/>
            <a:ext cx="2084831" cy="475488"/>
          </a:xfrm>
          <a:prstGeom prst="roundRect">
            <a:avLst/>
          </a:prstGeom>
          <a:solidFill>
            <a:srgbClr val="F3F4F6"/>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050" b="0">
                <a:solidFill>
                  <a:srgbClr val="111827"/>
                </a:solidFill>
                <a:latin typeface="Inter"/>
              </a:rPr>
              <a:t>SMB / mid-market</a:t>
            </a:r>
          </a:p>
        </p:txBody>
      </p:sp>
      <p:sp>
        <p:nvSpPr>
          <p:cNvPr id="42" name="Rounded Rectangle 41"/>
          <p:cNvSpPr/>
          <p:nvPr/>
        </p:nvSpPr>
        <p:spPr>
          <a:xfrm>
            <a:off x="9226295" y="4526280"/>
            <a:ext cx="2450592" cy="475488"/>
          </a:xfrm>
          <a:prstGeom prst="roundRect">
            <a:avLst/>
          </a:prstGeom>
          <a:solidFill>
            <a:srgbClr val="99F6E4"/>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050" b="1">
                <a:solidFill>
                  <a:srgbClr val="134E4A"/>
                </a:solidFill>
                <a:latin typeface="Inter"/>
              </a:rPr>
              <a:t>Small &amp; mid multi-outlet chains</a:t>
            </a:r>
          </a:p>
        </p:txBody>
      </p:sp>
      <p:sp>
        <p:nvSpPr>
          <p:cNvPr id="43" name="Rounded Rectangle 42"/>
          <p:cNvSpPr/>
          <p:nvPr/>
        </p:nvSpPr>
        <p:spPr>
          <a:xfrm>
            <a:off x="320040" y="5038344"/>
            <a:ext cx="1920240" cy="475488"/>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050" b="1">
                <a:solidFill>
                  <a:srgbClr val="2563EB"/>
                </a:solidFill>
                <a:latin typeface="Inter"/>
              </a:rPr>
              <a:t>Cost &amp; Setup</a:t>
            </a:r>
          </a:p>
        </p:txBody>
      </p:sp>
      <p:sp>
        <p:nvSpPr>
          <p:cNvPr id="44" name="Rounded Rectangle 43"/>
          <p:cNvSpPr/>
          <p:nvPr/>
        </p:nvSpPr>
        <p:spPr>
          <a:xfrm>
            <a:off x="2240280" y="5038344"/>
            <a:ext cx="2450592" cy="475488"/>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050" b="0">
                <a:solidFill>
                  <a:srgbClr val="111827"/>
                </a:solidFill>
                <a:latin typeface="Inter"/>
              </a:rPr>
              <a:t>High license + services</a:t>
            </a:r>
          </a:p>
        </p:txBody>
      </p:sp>
      <p:sp>
        <p:nvSpPr>
          <p:cNvPr id="45" name="Rounded Rectangle 44"/>
          <p:cNvSpPr/>
          <p:nvPr/>
        </p:nvSpPr>
        <p:spPr>
          <a:xfrm>
            <a:off x="4690872" y="5038344"/>
            <a:ext cx="2450592" cy="475488"/>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050" b="0">
                <a:solidFill>
                  <a:srgbClr val="111827"/>
                </a:solidFill>
                <a:latin typeface="Inter"/>
              </a:rPr>
              <a:t>Very high, long rollout</a:t>
            </a:r>
          </a:p>
        </p:txBody>
      </p:sp>
      <p:sp>
        <p:nvSpPr>
          <p:cNvPr id="46" name="Rounded Rectangle 45"/>
          <p:cNvSpPr/>
          <p:nvPr/>
        </p:nvSpPr>
        <p:spPr>
          <a:xfrm>
            <a:off x="7141464" y="5038344"/>
            <a:ext cx="2084831" cy="475488"/>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050" b="0">
                <a:solidFill>
                  <a:srgbClr val="111827"/>
                </a:solidFill>
                <a:latin typeface="Inter"/>
              </a:rPr>
              <a:t>Medium, subscription</a:t>
            </a:r>
          </a:p>
        </p:txBody>
      </p:sp>
      <p:sp>
        <p:nvSpPr>
          <p:cNvPr id="47" name="Rounded Rectangle 46"/>
          <p:cNvSpPr/>
          <p:nvPr/>
        </p:nvSpPr>
        <p:spPr>
          <a:xfrm>
            <a:off x="9226295" y="5038344"/>
            <a:ext cx="2450592" cy="475488"/>
          </a:xfrm>
          <a:prstGeom prst="roundRect">
            <a:avLst/>
          </a:prstGeom>
          <a:solidFill>
            <a:srgbClr val="CCFBF1"/>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050" b="1">
                <a:solidFill>
                  <a:srgbClr val="134E4A"/>
                </a:solidFill>
                <a:latin typeface="Inter"/>
              </a:rPr>
              <a:t>Lightweight, low-cost web app</a:t>
            </a:r>
          </a:p>
        </p:txBody>
      </p:sp>
      <p:sp>
        <p:nvSpPr>
          <p:cNvPr id="48" name="Rounded Rectangle 47"/>
          <p:cNvSpPr/>
          <p:nvPr/>
        </p:nvSpPr>
        <p:spPr>
          <a:xfrm>
            <a:off x="320040" y="5989320"/>
            <a:ext cx="11567160" cy="548640"/>
          </a:xfrm>
          <a:prstGeom prst="roundRect">
            <a:avLst/>
          </a:prstGeom>
          <a:solidFill>
            <a:srgbClr val="ECFDF5"/>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02920" y="6053328"/>
            <a:ext cx="11247120" cy="411480"/>
          </a:xfrm>
          <a:prstGeom prst="rect">
            <a:avLst/>
          </a:prstGeom>
          <a:noFill/>
        </p:spPr>
        <p:txBody>
          <a:bodyPr wrap="square"/>
          <a:lstStyle/>
          <a:p>
            <a:pPr algn="l">
              <a:spcBef>
                <a:spcPts val="0"/>
              </a:spcBef>
              <a:spcAft>
                <a:spcPts val="0"/>
              </a:spcAft>
            </a:pPr>
            <a:r>
              <a:rPr sz="1300" b="0">
                <a:solidFill>
                  <a:srgbClr val="111827"/>
                </a:solidFill>
                <a:latin typeface="Inter"/>
              </a:rPr>
              <a:t>Key contrast: commercial solutions target large enterprises with high costs and long rollouts — StockMind AI is built specifically for small &amp; mid multi-outlet chains, with transparent, evaluated forecasts.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9FAFB"/>
        </a:solidFill>
        <a:effectLst/>
      </p:bgPr>
    </p:bg>
    <p:spTree>
      <p:nvGrpSpPr>
        <p:cNvPr id="1" name=""/>
        <p:cNvGrpSpPr/>
        <p:nvPr/>
      </p:nvGrpSpPr>
      <p:grpSpPr/>
      <p:sp>
        <p:nvSpPr>
          <p:cNvPr id="2" name="Rounded Rectangle 1"/>
          <p:cNvSpPr/>
          <p:nvPr/>
        </p:nvSpPr>
        <p:spPr>
          <a:xfrm>
            <a:off x="0" y="0"/>
            <a:ext cx="12191695" cy="10515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515600" cy="548640"/>
          </a:xfrm>
          <a:prstGeom prst="rect">
            <a:avLst/>
          </a:prstGeom>
          <a:noFill/>
        </p:spPr>
        <p:txBody>
          <a:bodyPr wrap="square"/>
          <a:lstStyle/>
          <a:p>
            <a:pPr algn="l">
              <a:spcBef>
                <a:spcPts val="0"/>
              </a:spcBef>
              <a:spcAft>
                <a:spcPts val="0"/>
              </a:spcAft>
            </a:pPr>
            <a:r>
              <a:rPr sz="3000" b="1">
                <a:solidFill>
                  <a:srgbClr val="FFFFFF"/>
                </a:solidFill>
                <a:latin typeface="Space Grotesk"/>
              </a:rPr>
              <a:t>References</a:t>
            </a:r>
          </a:p>
        </p:txBody>
      </p:sp>
      <p:pic>
        <p:nvPicPr>
          <p:cNvPr id="4" name="Picture 3" descr="443732266_1006349624830063_6095867571651137613_n-removebg-preview.png"/>
          <p:cNvPicPr>
            <a:picLocks noChangeAspect="1"/>
          </p:cNvPicPr>
          <p:nvPr/>
        </p:nvPicPr>
        <p:blipFill>
          <a:blip r:embed="rId2"/>
          <a:stretch>
            <a:fillRect/>
          </a:stretch>
        </p:blipFill>
        <p:spPr>
          <a:xfrm>
            <a:off x="11094415" y="137160"/>
            <a:ext cx="868680" cy="868680"/>
          </a:xfrm>
          <a:prstGeom prst="rect">
            <a:avLst/>
          </a:prstGeom>
        </p:spPr>
      </p:pic>
      <p:sp>
        <p:nvSpPr>
          <p:cNvPr id="5" name="Rounded Rectangle 4"/>
          <p:cNvSpPr/>
          <p:nvPr/>
        </p:nvSpPr>
        <p:spPr>
          <a:xfrm>
            <a:off x="0" y="6675120"/>
            <a:ext cx="12191695" cy="18288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0" y="6446520"/>
            <a:ext cx="822960" cy="274320"/>
          </a:xfrm>
          <a:prstGeom prst="rect">
            <a:avLst/>
          </a:prstGeom>
          <a:noFill/>
        </p:spPr>
        <p:txBody>
          <a:bodyPr wrap="square"/>
          <a:lstStyle/>
          <a:p>
            <a:pPr algn="r">
              <a:spcBef>
                <a:spcPts val="0"/>
              </a:spcBef>
              <a:spcAft>
                <a:spcPts val="0"/>
              </a:spcAft>
            </a:pPr>
            <a:r>
              <a:rPr sz="1000" b="0">
                <a:solidFill>
                  <a:srgbClr val="9CA3AF"/>
                </a:solidFill>
                <a:latin typeface="Inter"/>
              </a:rPr>
              <a:t>19 / 21</a:t>
            </a:r>
          </a:p>
        </p:txBody>
      </p:sp>
      <p:sp>
        <p:nvSpPr>
          <p:cNvPr id="7" name="Rounded Rectangle 6"/>
          <p:cNvSpPr/>
          <p:nvPr/>
        </p:nvSpPr>
        <p:spPr>
          <a:xfrm>
            <a:off x="457200" y="1463040"/>
            <a:ext cx="5532120" cy="137160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66928" y="1572768"/>
            <a:ext cx="365760" cy="36576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Inter"/>
              </a:rPr>
              <a:t>1</a:t>
            </a:r>
          </a:p>
        </p:txBody>
      </p:sp>
      <p:sp>
        <p:nvSpPr>
          <p:cNvPr id="9" name="TextBox 8"/>
          <p:cNvSpPr txBox="1"/>
          <p:nvPr/>
        </p:nvSpPr>
        <p:spPr>
          <a:xfrm>
            <a:off x="1005840" y="1572768"/>
            <a:ext cx="4846320" cy="594360"/>
          </a:xfrm>
          <a:prstGeom prst="rect">
            <a:avLst/>
          </a:prstGeom>
          <a:noFill/>
        </p:spPr>
        <p:txBody>
          <a:bodyPr wrap="square"/>
          <a:lstStyle/>
          <a:p>
            <a:pPr algn="l">
              <a:spcBef>
                <a:spcPts val="0"/>
              </a:spcBef>
              <a:spcAft>
                <a:spcPts val="0"/>
              </a:spcAft>
            </a:pPr>
            <a:r>
              <a:rPr sz="1200" b="1">
                <a:solidFill>
                  <a:srgbClr val="111827"/>
                </a:solidFill>
                <a:latin typeface="Inter"/>
              </a:rPr>
              <a:t>Box, G. E. P., &amp; Jenkins, G. M. — Time Series Analysis: Forecasting and Control</a:t>
            </a:r>
          </a:p>
        </p:txBody>
      </p:sp>
      <p:sp>
        <p:nvSpPr>
          <p:cNvPr id="10" name="TextBox 9"/>
          <p:cNvSpPr txBox="1"/>
          <p:nvPr/>
        </p:nvSpPr>
        <p:spPr>
          <a:xfrm>
            <a:off x="1005840" y="2212848"/>
            <a:ext cx="4846320" cy="548640"/>
          </a:xfrm>
          <a:prstGeom prst="rect">
            <a:avLst/>
          </a:prstGeom>
          <a:noFill/>
        </p:spPr>
        <p:txBody>
          <a:bodyPr wrap="square"/>
          <a:lstStyle/>
          <a:p>
            <a:pPr algn="l">
              <a:spcBef>
                <a:spcPts val="0"/>
              </a:spcBef>
              <a:spcAft>
                <a:spcPts val="0"/>
              </a:spcAft>
            </a:pPr>
            <a:r>
              <a:rPr sz="1000" b="0">
                <a:solidFill>
                  <a:srgbClr val="9CA3AF"/>
                </a:solidFill>
                <a:latin typeface="Inter"/>
              </a:rPr>
              <a:t>Foundational text for ARIMA modeling used in the forecasting engine.</a:t>
            </a:r>
          </a:p>
        </p:txBody>
      </p:sp>
      <p:sp>
        <p:nvSpPr>
          <p:cNvPr id="11" name="Rounded Rectangle 10"/>
          <p:cNvSpPr/>
          <p:nvPr/>
        </p:nvSpPr>
        <p:spPr>
          <a:xfrm>
            <a:off x="6172200" y="1463040"/>
            <a:ext cx="5532120" cy="137160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281928" y="1572768"/>
            <a:ext cx="365760" cy="36576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Inter"/>
              </a:rPr>
              <a:t>2</a:t>
            </a:r>
          </a:p>
        </p:txBody>
      </p:sp>
      <p:sp>
        <p:nvSpPr>
          <p:cNvPr id="13" name="TextBox 12"/>
          <p:cNvSpPr txBox="1"/>
          <p:nvPr/>
        </p:nvSpPr>
        <p:spPr>
          <a:xfrm>
            <a:off x="6720840" y="1572768"/>
            <a:ext cx="4846320" cy="594360"/>
          </a:xfrm>
          <a:prstGeom prst="rect">
            <a:avLst/>
          </a:prstGeom>
          <a:noFill/>
        </p:spPr>
        <p:txBody>
          <a:bodyPr wrap="square"/>
          <a:lstStyle/>
          <a:p>
            <a:pPr algn="l">
              <a:spcBef>
                <a:spcPts val="0"/>
              </a:spcBef>
              <a:spcAft>
                <a:spcPts val="0"/>
              </a:spcAft>
            </a:pPr>
            <a:r>
              <a:rPr sz="1200" b="1">
                <a:solidFill>
                  <a:srgbClr val="111827"/>
                </a:solidFill>
                <a:latin typeface="Inter"/>
              </a:rPr>
              <a:t>Holt, C. C. — Forecasting Seasonals and Trends by Exponentially Weighted Moving Averages</a:t>
            </a:r>
          </a:p>
        </p:txBody>
      </p:sp>
      <p:sp>
        <p:nvSpPr>
          <p:cNvPr id="14" name="TextBox 13"/>
          <p:cNvSpPr txBox="1"/>
          <p:nvPr/>
        </p:nvSpPr>
        <p:spPr>
          <a:xfrm>
            <a:off x="6720840" y="2212848"/>
            <a:ext cx="4846320" cy="548640"/>
          </a:xfrm>
          <a:prstGeom prst="rect">
            <a:avLst/>
          </a:prstGeom>
          <a:noFill/>
        </p:spPr>
        <p:txBody>
          <a:bodyPr wrap="square"/>
          <a:lstStyle/>
          <a:p>
            <a:pPr algn="l">
              <a:spcBef>
                <a:spcPts val="0"/>
              </a:spcBef>
              <a:spcAft>
                <a:spcPts val="0"/>
              </a:spcAft>
            </a:pPr>
            <a:r>
              <a:rPr sz="1000" b="0">
                <a:solidFill>
                  <a:srgbClr val="9CA3AF"/>
                </a:solidFill>
                <a:latin typeface="Inter"/>
              </a:rPr>
              <a:t>Basis for exponential smoothing approaches such as Holt-Winters.</a:t>
            </a:r>
          </a:p>
        </p:txBody>
      </p:sp>
      <p:sp>
        <p:nvSpPr>
          <p:cNvPr id="15" name="Rounded Rectangle 14"/>
          <p:cNvSpPr/>
          <p:nvPr/>
        </p:nvSpPr>
        <p:spPr>
          <a:xfrm>
            <a:off x="457200" y="3017520"/>
            <a:ext cx="5532120" cy="137160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66928" y="3127248"/>
            <a:ext cx="365760" cy="36576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Inter"/>
              </a:rPr>
              <a:t>3</a:t>
            </a:r>
          </a:p>
        </p:txBody>
      </p:sp>
      <p:sp>
        <p:nvSpPr>
          <p:cNvPr id="17" name="TextBox 16"/>
          <p:cNvSpPr txBox="1"/>
          <p:nvPr/>
        </p:nvSpPr>
        <p:spPr>
          <a:xfrm>
            <a:off x="1005840" y="3127248"/>
            <a:ext cx="4846320" cy="594360"/>
          </a:xfrm>
          <a:prstGeom prst="rect">
            <a:avLst/>
          </a:prstGeom>
          <a:noFill/>
        </p:spPr>
        <p:txBody>
          <a:bodyPr wrap="square"/>
          <a:lstStyle/>
          <a:p>
            <a:pPr algn="l">
              <a:spcBef>
                <a:spcPts val="0"/>
              </a:spcBef>
              <a:spcAft>
                <a:spcPts val="0"/>
              </a:spcAft>
            </a:pPr>
            <a:r>
              <a:rPr sz="1200" b="1">
                <a:solidFill>
                  <a:srgbClr val="111827"/>
                </a:solidFill>
                <a:latin typeface="Inter"/>
              </a:rPr>
              <a:t>Chen, T., &amp; Guestrin, C. — XGBoost: A Scalable Tree Boosting System (KDD 2016)</a:t>
            </a:r>
          </a:p>
        </p:txBody>
      </p:sp>
      <p:sp>
        <p:nvSpPr>
          <p:cNvPr id="18" name="TextBox 17"/>
          <p:cNvSpPr txBox="1"/>
          <p:nvPr/>
        </p:nvSpPr>
        <p:spPr>
          <a:xfrm>
            <a:off x="1005840" y="3767328"/>
            <a:ext cx="4846320" cy="548640"/>
          </a:xfrm>
          <a:prstGeom prst="rect">
            <a:avLst/>
          </a:prstGeom>
          <a:noFill/>
        </p:spPr>
        <p:txBody>
          <a:bodyPr wrap="square"/>
          <a:lstStyle/>
          <a:p>
            <a:pPr algn="l">
              <a:spcBef>
                <a:spcPts val="0"/>
              </a:spcBef>
              <a:spcAft>
                <a:spcPts val="0"/>
              </a:spcAft>
            </a:pPr>
            <a:r>
              <a:rPr sz="1000" b="0">
                <a:solidFill>
                  <a:srgbClr val="9CA3AF"/>
                </a:solidFill>
                <a:latin typeface="Inter"/>
              </a:rPr>
              <a:t>Machine-learning gradient boosting method included in the model comparison.</a:t>
            </a:r>
          </a:p>
        </p:txBody>
      </p:sp>
      <p:sp>
        <p:nvSpPr>
          <p:cNvPr id="19" name="Rounded Rectangle 18"/>
          <p:cNvSpPr/>
          <p:nvPr/>
        </p:nvSpPr>
        <p:spPr>
          <a:xfrm>
            <a:off x="6172200" y="3017520"/>
            <a:ext cx="5532120" cy="137160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281928" y="3127248"/>
            <a:ext cx="365760" cy="36576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Inter"/>
              </a:rPr>
              <a:t>4</a:t>
            </a:r>
          </a:p>
        </p:txBody>
      </p:sp>
      <p:sp>
        <p:nvSpPr>
          <p:cNvPr id="21" name="TextBox 20"/>
          <p:cNvSpPr txBox="1"/>
          <p:nvPr/>
        </p:nvSpPr>
        <p:spPr>
          <a:xfrm>
            <a:off x="6720840" y="3127248"/>
            <a:ext cx="4846320" cy="594360"/>
          </a:xfrm>
          <a:prstGeom prst="rect">
            <a:avLst/>
          </a:prstGeom>
          <a:noFill/>
        </p:spPr>
        <p:txBody>
          <a:bodyPr wrap="square"/>
          <a:lstStyle/>
          <a:p>
            <a:pPr algn="l">
              <a:spcBef>
                <a:spcPts val="0"/>
              </a:spcBef>
              <a:spcAft>
                <a:spcPts val="0"/>
              </a:spcAft>
            </a:pPr>
            <a:r>
              <a:rPr sz="1200" b="1">
                <a:solidFill>
                  <a:srgbClr val="111827"/>
                </a:solidFill>
                <a:latin typeface="Inter"/>
              </a:rPr>
              <a:t>Hyndman, R. J., &amp; Athanasopoulos, G. — Forecasting: Principles and Practice</a:t>
            </a:r>
          </a:p>
        </p:txBody>
      </p:sp>
      <p:sp>
        <p:nvSpPr>
          <p:cNvPr id="22" name="TextBox 21"/>
          <p:cNvSpPr txBox="1"/>
          <p:nvPr/>
        </p:nvSpPr>
        <p:spPr>
          <a:xfrm>
            <a:off x="6720840" y="3767328"/>
            <a:ext cx="4846320" cy="548640"/>
          </a:xfrm>
          <a:prstGeom prst="rect">
            <a:avLst/>
          </a:prstGeom>
          <a:noFill/>
        </p:spPr>
        <p:txBody>
          <a:bodyPr wrap="square"/>
          <a:lstStyle/>
          <a:p>
            <a:pPr algn="l">
              <a:spcBef>
                <a:spcPts val="0"/>
              </a:spcBef>
              <a:spcAft>
                <a:spcPts val="0"/>
              </a:spcAft>
            </a:pPr>
            <a:r>
              <a:rPr sz="1000" b="0">
                <a:solidFill>
                  <a:srgbClr val="9CA3AF"/>
                </a:solidFill>
                <a:latin typeface="Inter"/>
              </a:rPr>
              <a:t>Practical guidance on forecast evaluation metrics including MAE, RMSE, and MAPE.</a:t>
            </a:r>
          </a:p>
        </p:txBody>
      </p:sp>
      <p:sp>
        <p:nvSpPr>
          <p:cNvPr id="23" name="Rounded Rectangle 22"/>
          <p:cNvSpPr/>
          <p:nvPr/>
        </p:nvSpPr>
        <p:spPr>
          <a:xfrm>
            <a:off x="457200" y="4572000"/>
            <a:ext cx="5532120" cy="137160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66928" y="4681728"/>
            <a:ext cx="365760" cy="36576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Inter"/>
              </a:rPr>
              <a:t>5</a:t>
            </a:r>
          </a:p>
        </p:txBody>
      </p:sp>
      <p:sp>
        <p:nvSpPr>
          <p:cNvPr id="25" name="TextBox 24"/>
          <p:cNvSpPr txBox="1"/>
          <p:nvPr/>
        </p:nvSpPr>
        <p:spPr>
          <a:xfrm>
            <a:off x="1005840" y="4681728"/>
            <a:ext cx="4846320" cy="594360"/>
          </a:xfrm>
          <a:prstGeom prst="rect">
            <a:avLst/>
          </a:prstGeom>
          <a:noFill/>
        </p:spPr>
        <p:txBody>
          <a:bodyPr wrap="square"/>
          <a:lstStyle/>
          <a:p>
            <a:pPr algn="l">
              <a:spcBef>
                <a:spcPts val="0"/>
              </a:spcBef>
              <a:spcAft>
                <a:spcPts val="0"/>
              </a:spcAft>
            </a:pPr>
            <a:r>
              <a:rPr sz="1200" b="1">
                <a:solidFill>
                  <a:srgbClr val="111827"/>
                </a:solidFill>
                <a:latin typeface="Inter"/>
              </a:rPr>
              <a:t>Silver, E. A., Pyke, D. F., &amp; Thomas, D. J. — Inventory and Production Management</a:t>
            </a:r>
          </a:p>
        </p:txBody>
      </p:sp>
      <p:sp>
        <p:nvSpPr>
          <p:cNvPr id="26" name="TextBox 25"/>
          <p:cNvSpPr txBox="1"/>
          <p:nvPr/>
        </p:nvSpPr>
        <p:spPr>
          <a:xfrm>
            <a:off x="1005840" y="5321808"/>
            <a:ext cx="4846320" cy="548640"/>
          </a:xfrm>
          <a:prstGeom prst="rect">
            <a:avLst/>
          </a:prstGeom>
          <a:noFill/>
        </p:spPr>
        <p:txBody>
          <a:bodyPr wrap="square"/>
          <a:lstStyle/>
          <a:p>
            <a:pPr algn="l">
              <a:spcBef>
                <a:spcPts val="0"/>
              </a:spcBef>
              <a:spcAft>
                <a:spcPts val="0"/>
              </a:spcAft>
            </a:pPr>
            <a:r>
              <a:rPr sz="1000" b="0">
                <a:solidFill>
                  <a:srgbClr val="9CA3AF"/>
                </a:solidFill>
                <a:latin typeface="Inter"/>
              </a:rPr>
              <a:t>Standard reference for safety stock, reorder point, and inventory control.</a:t>
            </a:r>
          </a:p>
        </p:txBody>
      </p:sp>
      <p:sp>
        <p:nvSpPr>
          <p:cNvPr id="27" name="Rounded Rectangle 26"/>
          <p:cNvSpPr/>
          <p:nvPr/>
        </p:nvSpPr>
        <p:spPr>
          <a:xfrm>
            <a:off x="6172200" y="4572000"/>
            <a:ext cx="5532120" cy="137160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281928" y="4681728"/>
            <a:ext cx="365760" cy="36576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Inter"/>
              </a:rPr>
              <a:t>6</a:t>
            </a:r>
          </a:p>
        </p:txBody>
      </p:sp>
      <p:sp>
        <p:nvSpPr>
          <p:cNvPr id="29" name="TextBox 28"/>
          <p:cNvSpPr txBox="1"/>
          <p:nvPr/>
        </p:nvSpPr>
        <p:spPr>
          <a:xfrm>
            <a:off x="6720840" y="4681728"/>
            <a:ext cx="4846320" cy="594360"/>
          </a:xfrm>
          <a:prstGeom prst="rect">
            <a:avLst/>
          </a:prstGeom>
          <a:noFill/>
        </p:spPr>
        <p:txBody>
          <a:bodyPr wrap="square"/>
          <a:lstStyle/>
          <a:p>
            <a:pPr algn="l">
              <a:spcBef>
                <a:spcPts val="0"/>
              </a:spcBef>
              <a:spcAft>
                <a:spcPts val="0"/>
              </a:spcAft>
            </a:pPr>
            <a:r>
              <a:rPr sz="1200" b="1">
                <a:solidFill>
                  <a:srgbClr val="111827"/>
                </a:solidFill>
                <a:latin typeface="Inter"/>
              </a:rPr>
              <a:t>Chopra, S., &amp; Meindl, P. — Supply Chain Management: Strategy, Planning, and Operation</a:t>
            </a:r>
          </a:p>
        </p:txBody>
      </p:sp>
      <p:sp>
        <p:nvSpPr>
          <p:cNvPr id="30" name="TextBox 29"/>
          <p:cNvSpPr txBox="1"/>
          <p:nvPr/>
        </p:nvSpPr>
        <p:spPr>
          <a:xfrm>
            <a:off x="6720840" y="5321808"/>
            <a:ext cx="4846320" cy="548640"/>
          </a:xfrm>
          <a:prstGeom prst="rect">
            <a:avLst/>
          </a:prstGeom>
          <a:noFill/>
        </p:spPr>
        <p:txBody>
          <a:bodyPr wrap="square"/>
          <a:lstStyle/>
          <a:p>
            <a:pPr algn="l">
              <a:spcBef>
                <a:spcPts val="0"/>
              </a:spcBef>
              <a:spcAft>
                <a:spcPts val="0"/>
              </a:spcAft>
            </a:pPr>
            <a:r>
              <a:rPr sz="1000" b="0">
                <a:solidFill>
                  <a:srgbClr val="9CA3AF"/>
                </a:solidFill>
                <a:latin typeface="Inter"/>
              </a:rPr>
              <a:t>Framework for multi-location inventory and supply-chain coordination.</a:t>
            </a:r>
          </a:p>
        </p:txBody>
      </p:sp>
      <p:sp>
        <p:nvSpPr>
          <p:cNvPr id="31" name="Rounded Rectangle 30"/>
          <p:cNvSpPr/>
          <p:nvPr/>
        </p:nvSpPr>
        <p:spPr>
          <a:xfrm>
            <a:off x="457200" y="6126480"/>
            <a:ext cx="5532120" cy="137160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566928" y="6236208"/>
            <a:ext cx="365760" cy="36576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Inter"/>
              </a:rPr>
              <a:t>7</a:t>
            </a:r>
          </a:p>
        </p:txBody>
      </p:sp>
      <p:sp>
        <p:nvSpPr>
          <p:cNvPr id="33" name="TextBox 32"/>
          <p:cNvSpPr txBox="1"/>
          <p:nvPr/>
        </p:nvSpPr>
        <p:spPr>
          <a:xfrm>
            <a:off x="1005840" y="6236208"/>
            <a:ext cx="4846320" cy="594360"/>
          </a:xfrm>
          <a:prstGeom prst="rect">
            <a:avLst/>
          </a:prstGeom>
          <a:noFill/>
        </p:spPr>
        <p:txBody>
          <a:bodyPr wrap="square"/>
          <a:lstStyle/>
          <a:p>
            <a:pPr algn="l">
              <a:spcBef>
                <a:spcPts val="0"/>
              </a:spcBef>
              <a:spcAft>
                <a:spcPts val="0"/>
              </a:spcAft>
            </a:pPr>
            <a:r>
              <a:rPr sz="1200" b="1">
                <a:solidFill>
                  <a:srgbClr val="111827"/>
                </a:solidFill>
                <a:latin typeface="Inter"/>
              </a:rPr>
              <a:t>Nahmias, S. — Production and Operations Analysis</a:t>
            </a:r>
          </a:p>
        </p:txBody>
      </p:sp>
      <p:sp>
        <p:nvSpPr>
          <p:cNvPr id="34" name="TextBox 33"/>
          <p:cNvSpPr txBox="1"/>
          <p:nvPr/>
        </p:nvSpPr>
        <p:spPr>
          <a:xfrm>
            <a:off x="1005840" y="6876288"/>
            <a:ext cx="4846320" cy="548640"/>
          </a:xfrm>
          <a:prstGeom prst="rect">
            <a:avLst/>
          </a:prstGeom>
          <a:noFill/>
        </p:spPr>
        <p:txBody>
          <a:bodyPr wrap="square"/>
          <a:lstStyle/>
          <a:p>
            <a:pPr algn="l">
              <a:spcBef>
                <a:spcPts val="0"/>
              </a:spcBef>
              <a:spcAft>
                <a:spcPts val="0"/>
              </a:spcAft>
            </a:pPr>
            <a:r>
              <a:rPr sz="1000" b="0">
                <a:solidFill>
                  <a:srgbClr val="9CA3AF"/>
                </a:solidFill>
                <a:latin typeface="Inter"/>
              </a:rPr>
              <a:t>Inventory policies, EOQ, and replenishment decision foundations.</a:t>
            </a:r>
          </a:p>
        </p:txBody>
      </p:sp>
      <p:sp>
        <p:nvSpPr>
          <p:cNvPr id="35" name="Rounded Rectangle 34"/>
          <p:cNvSpPr/>
          <p:nvPr/>
        </p:nvSpPr>
        <p:spPr>
          <a:xfrm>
            <a:off x="6172200" y="6126480"/>
            <a:ext cx="5532120" cy="137160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281928" y="6236208"/>
            <a:ext cx="365760" cy="36576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Inter"/>
              </a:rPr>
              <a:t>8</a:t>
            </a:r>
          </a:p>
        </p:txBody>
      </p:sp>
      <p:sp>
        <p:nvSpPr>
          <p:cNvPr id="37" name="TextBox 36"/>
          <p:cNvSpPr txBox="1"/>
          <p:nvPr/>
        </p:nvSpPr>
        <p:spPr>
          <a:xfrm>
            <a:off x="6720840" y="6236208"/>
            <a:ext cx="4846320" cy="594360"/>
          </a:xfrm>
          <a:prstGeom prst="rect">
            <a:avLst/>
          </a:prstGeom>
          <a:noFill/>
        </p:spPr>
        <p:txBody>
          <a:bodyPr wrap="square"/>
          <a:lstStyle/>
          <a:p>
            <a:pPr algn="l">
              <a:spcBef>
                <a:spcPts val="0"/>
              </a:spcBef>
              <a:spcAft>
                <a:spcPts val="0"/>
              </a:spcAft>
            </a:pPr>
            <a:r>
              <a:rPr sz="1200" b="1">
                <a:solidFill>
                  <a:srgbClr val="111827"/>
                </a:solidFill>
                <a:latin typeface="Inter"/>
              </a:rPr>
              <a:t>Kuhn, M., &amp; Johnson, K. — Applied Predictive Modeling</a:t>
            </a:r>
          </a:p>
        </p:txBody>
      </p:sp>
      <p:sp>
        <p:nvSpPr>
          <p:cNvPr id="38" name="TextBox 37"/>
          <p:cNvSpPr txBox="1"/>
          <p:nvPr/>
        </p:nvSpPr>
        <p:spPr>
          <a:xfrm>
            <a:off x="6720840" y="6876288"/>
            <a:ext cx="4846320" cy="548640"/>
          </a:xfrm>
          <a:prstGeom prst="rect">
            <a:avLst/>
          </a:prstGeom>
          <a:noFill/>
        </p:spPr>
        <p:txBody>
          <a:bodyPr wrap="square"/>
          <a:lstStyle/>
          <a:p>
            <a:pPr algn="l">
              <a:spcBef>
                <a:spcPts val="0"/>
              </a:spcBef>
              <a:spcAft>
                <a:spcPts val="0"/>
              </a:spcAft>
            </a:pPr>
            <a:r>
              <a:rPr sz="1000" b="0">
                <a:solidFill>
                  <a:srgbClr val="9CA3AF"/>
                </a:solidFill>
                <a:latin typeface="Inter"/>
              </a:rPr>
              <a:t>Model evaluation and validation practices for supervised learning.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9FAFB"/>
        </a:solidFill>
        <a:effectLst/>
      </p:bgPr>
    </p:bg>
    <p:spTree>
      <p:nvGrpSpPr>
        <p:cNvPr id="1" name=""/>
        <p:cNvGrpSpPr/>
        <p:nvPr/>
      </p:nvGrpSpPr>
      <p:grpSpPr/>
      <p:sp>
        <p:nvSpPr>
          <p:cNvPr id="2" name="TextBox 1"/>
          <p:cNvSpPr txBox="1"/>
          <p:nvPr/>
        </p:nvSpPr>
        <p:spPr>
          <a:xfrm>
            <a:off x="11247120" y="6446520"/>
            <a:ext cx="822960" cy="274320"/>
          </a:xfrm>
          <a:prstGeom prst="rect">
            <a:avLst/>
          </a:prstGeom>
          <a:noFill/>
        </p:spPr>
        <p:txBody>
          <a:bodyPr wrap="square"/>
          <a:lstStyle/>
          <a:p>
            <a:pPr algn="r">
              <a:spcBef>
                <a:spcPts val="0"/>
              </a:spcBef>
              <a:spcAft>
                <a:spcPts val="0"/>
              </a:spcAft>
            </a:pPr>
            <a:r>
              <a:rPr sz="1000" b="0">
                <a:solidFill>
                  <a:srgbClr val="9CA3AF"/>
                </a:solidFill>
                <a:latin typeface="Inter"/>
              </a:rPr>
              <a:t>20 / 21</a:t>
            </a:r>
          </a:p>
        </p:txBody>
      </p:sp>
      <p:pic>
        <p:nvPicPr>
          <p:cNvPr id="3" name="Picture 2" descr="443732266_1006349624830063_6095867571651137613_n-removebg-preview.png"/>
          <p:cNvPicPr>
            <a:picLocks noChangeAspect="1"/>
          </p:cNvPicPr>
          <p:nvPr/>
        </p:nvPicPr>
        <p:blipFill>
          <a:blip r:embed="rId2"/>
          <a:stretch>
            <a:fillRect/>
          </a:stretch>
        </p:blipFill>
        <p:spPr>
          <a:xfrm>
            <a:off x="11094415" y="137160"/>
            <a:ext cx="868680" cy="868680"/>
          </a:xfrm>
          <a:prstGeom prst="rect">
            <a:avLst/>
          </a:prstGeom>
        </p:spPr>
      </p:pic>
      <p:sp>
        <p:nvSpPr>
          <p:cNvPr id="4" name="Rounded Rectangle 3"/>
          <p:cNvSpPr/>
          <p:nvPr/>
        </p:nvSpPr>
        <p:spPr>
          <a:xfrm>
            <a:off x="0" y="0"/>
            <a:ext cx="109728" cy="685800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548640"/>
            <a:ext cx="10058400" cy="640080"/>
          </a:xfrm>
          <a:prstGeom prst="rect">
            <a:avLst/>
          </a:prstGeom>
          <a:noFill/>
        </p:spPr>
        <p:txBody>
          <a:bodyPr wrap="square"/>
          <a:lstStyle/>
          <a:p>
            <a:pPr algn="l">
              <a:spcBef>
                <a:spcPts val="0"/>
              </a:spcBef>
              <a:spcAft>
                <a:spcPts val="0"/>
              </a:spcAft>
            </a:pPr>
            <a:r>
              <a:rPr sz="4000" b="1">
                <a:solidFill>
                  <a:srgbClr val="2563EB"/>
                </a:solidFill>
                <a:latin typeface="Space Grotesk"/>
              </a:rPr>
              <a:t>StockMind AI</a:t>
            </a:r>
          </a:p>
        </p:txBody>
      </p:sp>
      <p:sp>
        <p:nvSpPr>
          <p:cNvPr id="6" name="TextBox 5"/>
          <p:cNvSpPr txBox="1"/>
          <p:nvPr/>
        </p:nvSpPr>
        <p:spPr>
          <a:xfrm>
            <a:off x="1097280" y="1143000"/>
            <a:ext cx="10058400" cy="365760"/>
          </a:xfrm>
          <a:prstGeom prst="rect">
            <a:avLst/>
          </a:prstGeom>
          <a:noFill/>
        </p:spPr>
        <p:txBody>
          <a:bodyPr wrap="square"/>
          <a:lstStyle/>
          <a:p>
            <a:pPr algn="l">
              <a:spcBef>
                <a:spcPts val="0"/>
              </a:spcBef>
              <a:spcAft>
                <a:spcPts val="0"/>
              </a:spcAft>
            </a:pPr>
            <a:r>
              <a:rPr sz="1800" b="1">
                <a:solidFill>
                  <a:srgbClr val="14B8A6"/>
                </a:solidFill>
                <a:latin typeface="Inter"/>
              </a:rPr>
              <a:t>From Data → Prediction → Decision</a:t>
            </a:r>
          </a:p>
        </p:txBody>
      </p:sp>
      <p:sp>
        <p:nvSpPr>
          <p:cNvPr id="7" name="Rounded Rectangle 6"/>
          <p:cNvSpPr/>
          <p:nvPr/>
        </p:nvSpPr>
        <p:spPr>
          <a:xfrm>
            <a:off x="731520" y="2011680"/>
            <a:ext cx="1417320" cy="5943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Inter"/>
              </a:rPr>
              <a:t>Historical Data</a:t>
            </a:r>
          </a:p>
        </p:txBody>
      </p:sp>
      <p:sp>
        <p:nvSpPr>
          <p:cNvPr id="8" name="TextBox 7"/>
          <p:cNvSpPr txBox="1"/>
          <p:nvPr/>
        </p:nvSpPr>
        <p:spPr>
          <a:xfrm>
            <a:off x="2157984" y="2121408"/>
            <a:ext cx="164592" cy="320040"/>
          </a:xfrm>
          <a:prstGeom prst="rect">
            <a:avLst/>
          </a:prstGeom>
          <a:noFill/>
        </p:spPr>
        <p:txBody>
          <a:bodyPr wrap="square"/>
          <a:lstStyle/>
          <a:p>
            <a:pPr algn="ctr">
              <a:spcBef>
                <a:spcPts val="0"/>
              </a:spcBef>
              <a:spcAft>
                <a:spcPts val="0"/>
              </a:spcAft>
            </a:pPr>
            <a:r>
              <a:rPr sz="1400" b="1">
                <a:solidFill>
                  <a:srgbClr val="9CA3AF"/>
                </a:solidFill>
                <a:latin typeface="Inter"/>
              </a:rPr>
              <a:t>→</a:t>
            </a:r>
          </a:p>
        </p:txBody>
      </p:sp>
      <p:sp>
        <p:nvSpPr>
          <p:cNvPr id="9" name="Rounded Rectangle 8"/>
          <p:cNvSpPr/>
          <p:nvPr/>
        </p:nvSpPr>
        <p:spPr>
          <a:xfrm>
            <a:off x="2286000" y="2011680"/>
            <a:ext cx="1417320" cy="5943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Inter"/>
              </a:rPr>
              <a:t>Demand Forecasting</a:t>
            </a:r>
          </a:p>
        </p:txBody>
      </p:sp>
      <p:sp>
        <p:nvSpPr>
          <p:cNvPr id="10" name="TextBox 9"/>
          <p:cNvSpPr txBox="1"/>
          <p:nvPr/>
        </p:nvSpPr>
        <p:spPr>
          <a:xfrm>
            <a:off x="3712464" y="2121408"/>
            <a:ext cx="164592" cy="320040"/>
          </a:xfrm>
          <a:prstGeom prst="rect">
            <a:avLst/>
          </a:prstGeom>
          <a:noFill/>
        </p:spPr>
        <p:txBody>
          <a:bodyPr wrap="square"/>
          <a:lstStyle/>
          <a:p>
            <a:pPr algn="ctr">
              <a:spcBef>
                <a:spcPts val="0"/>
              </a:spcBef>
              <a:spcAft>
                <a:spcPts val="0"/>
              </a:spcAft>
            </a:pPr>
            <a:r>
              <a:rPr sz="1400" b="1">
                <a:solidFill>
                  <a:srgbClr val="9CA3AF"/>
                </a:solidFill>
                <a:latin typeface="Inter"/>
              </a:rPr>
              <a:t>→</a:t>
            </a:r>
          </a:p>
        </p:txBody>
      </p:sp>
      <p:sp>
        <p:nvSpPr>
          <p:cNvPr id="11" name="Rounded Rectangle 10"/>
          <p:cNvSpPr/>
          <p:nvPr/>
        </p:nvSpPr>
        <p:spPr>
          <a:xfrm>
            <a:off x="3840480" y="2011680"/>
            <a:ext cx="1417320" cy="59436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Inter"/>
              </a:rPr>
              <a:t>Forecast Evaluation</a:t>
            </a:r>
          </a:p>
        </p:txBody>
      </p:sp>
      <p:sp>
        <p:nvSpPr>
          <p:cNvPr id="12" name="TextBox 11"/>
          <p:cNvSpPr txBox="1"/>
          <p:nvPr/>
        </p:nvSpPr>
        <p:spPr>
          <a:xfrm>
            <a:off x="5266944" y="2121408"/>
            <a:ext cx="164592" cy="320040"/>
          </a:xfrm>
          <a:prstGeom prst="rect">
            <a:avLst/>
          </a:prstGeom>
          <a:noFill/>
        </p:spPr>
        <p:txBody>
          <a:bodyPr wrap="square"/>
          <a:lstStyle/>
          <a:p>
            <a:pPr algn="ctr">
              <a:spcBef>
                <a:spcPts val="0"/>
              </a:spcBef>
              <a:spcAft>
                <a:spcPts val="0"/>
              </a:spcAft>
            </a:pPr>
            <a:r>
              <a:rPr sz="1400" b="1">
                <a:solidFill>
                  <a:srgbClr val="9CA3AF"/>
                </a:solidFill>
                <a:latin typeface="Inter"/>
              </a:rPr>
              <a:t>→</a:t>
            </a:r>
          </a:p>
        </p:txBody>
      </p:sp>
      <p:sp>
        <p:nvSpPr>
          <p:cNvPr id="13" name="Rounded Rectangle 12"/>
          <p:cNvSpPr/>
          <p:nvPr/>
        </p:nvSpPr>
        <p:spPr>
          <a:xfrm>
            <a:off x="5394960" y="2011680"/>
            <a:ext cx="1417320" cy="59436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Inter"/>
              </a:rPr>
              <a:t>Inventory Optimization</a:t>
            </a:r>
          </a:p>
        </p:txBody>
      </p:sp>
      <p:sp>
        <p:nvSpPr>
          <p:cNvPr id="14" name="TextBox 13"/>
          <p:cNvSpPr txBox="1"/>
          <p:nvPr/>
        </p:nvSpPr>
        <p:spPr>
          <a:xfrm>
            <a:off x="6821424" y="2121408"/>
            <a:ext cx="164592" cy="320040"/>
          </a:xfrm>
          <a:prstGeom prst="rect">
            <a:avLst/>
          </a:prstGeom>
          <a:noFill/>
        </p:spPr>
        <p:txBody>
          <a:bodyPr wrap="square"/>
          <a:lstStyle/>
          <a:p>
            <a:pPr algn="ctr">
              <a:spcBef>
                <a:spcPts val="0"/>
              </a:spcBef>
              <a:spcAft>
                <a:spcPts val="0"/>
              </a:spcAft>
            </a:pPr>
            <a:r>
              <a:rPr sz="1400" b="1">
                <a:solidFill>
                  <a:srgbClr val="9CA3AF"/>
                </a:solidFill>
                <a:latin typeface="Inter"/>
              </a:rPr>
              <a:t>→</a:t>
            </a:r>
          </a:p>
        </p:txBody>
      </p:sp>
      <p:sp>
        <p:nvSpPr>
          <p:cNvPr id="15" name="Rounded Rectangle 14"/>
          <p:cNvSpPr/>
          <p:nvPr/>
        </p:nvSpPr>
        <p:spPr>
          <a:xfrm>
            <a:off x="6949440" y="2011680"/>
            <a:ext cx="1417320" cy="59436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Inter"/>
              </a:rPr>
              <a:t>Risk Detection</a:t>
            </a:r>
          </a:p>
        </p:txBody>
      </p:sp>
      <p:sp>
        <p:nvSpPr>
          <p:cNvPr id="16" name="TextBox 15"/>
          <p:cNvSpPr txBox="1"/>
          <p:nvPr/>
        </p:nvSpPr>
        <p:spPr>
          <a:xfrm>
            <a:off x="8375904" y="2121408"/>
            <a:ext cx="164592" cy="320040"/>
          </a:xfrm>
          <a:prstGeom prst="rect">
            <a:avLst/>
          </a:prstGeom>
          <a:noFill/>
        </p:spPr>
        <p:txBody>
          <a:bodyPr wrap="square"/>
          <a:lstStyle/>
          <a:p>
            <a:pPr algn="ctr">
              <a:spcBef>
                <a:spcPts val="0"/>
              </a:spcBef>
              <a:spcAft>
                <a:spcPts val="0"/>
              </a:spcAft>
            </a:pPr>
            <a:r>
              <a:rPr sz="1400" b="1">
                <a:solidFill>
                  <a:srgbClr val="9CA3AF"/>
                </a:solidFill>
                <a:latin typeface="Inter"/>
              </a:rPr>
              <a:t>→</a:t>
            </a:r>
          </a:p>
        </p:txBody>
      </p:sp>
      <p:sp>
        <p:nvSpPr>
          <p:cNvPr id="17" name="Rounded Rectangle 16"/>
          <p:cNvSpPr/>
          <p:nvPr/>
        </p:nvSpPr>
        <p:spPr>
          <a:xfrm>
            <a:off x="8503920" y="2011680"/>
            <a:ext cx="1417320" cy="59436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Inter"/>
              </a:rPr>
              <a:t>Actionable Recommendations</a:t>
            </a:r>
          </a:p>
        </p:txBody>
      </p:sp>
      <p:sp>
        <p:nvSpPr>
          <p:cNvPr id="18" name="TextBox 17"/>
          <p:cNvSpPr txBox="1"/>
          <p:nvPr/>
        </p:nvSpPr>
        <p:spPr>
          <a:xfrm>
            <a:off x="9930384" y="2121408"/>
            <a:ext cx="164592" cy="320040"/>
          </a:xfrm>
          <a:prstGeom prst="rect">
            <a:avLst/>
          </a:prstGeom>
          <a:noFill/>
        </p:spPr>
        <p:txBody>
          <a:bodyPr wrap="square"/>
          <a:lstStyle/>
          <a:p>
            <a:pPr algn="ctr">
              <a:spcBef>
                <a:spcPts val="0"/>
              </a:spcBef>
              <a:spcAft>
                <a:spcPts val="0"/>
              </a:spcAft>
            </a:pPr>
            <a:r>
              <a:rPr sz="1400" b="1">
                <a:solidFill>
                  <a:srgbClr val="9CA3AF"/>
                </a:solidFill>
                <a:latin typeface="Inter"/>
              </a:rPr>
              <a:t>→</a:t>
            </a:r>
          </a:p>
        </p:txBody>
      </p:sp>
      <p:sp>
        <p:nvSpPr>
          <p:cNvPr id="19" name="Rounded Rectangle 18"/>
          <p:cNvSpPr/>
          <p:nvPr/>
        </p:nvSpPr>
        <p:spPr>
          <a:xfrm>
            <a:off x="10058400" y="2011680"/>
            <a:ext cx="1417320" cy="59436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Inter"/>
              </a:rPr>
              <a:t>Multi-Outlet Intelligence</a:t>
            </a:r>
          </a:p>
        </p:txBody>
      </p:sp>
      <p:sp>
        <p:nvSpPr>
          <p:cNvPr id="20" name="Rounded Rectangle 19"/>
          <p:cNvSpPr/>
          <p:nvPr/>
        </p:nvSpPr>
        <p:spPr>
          <a:xfrm>
            <a:off x="1097280" y="3200400"/>
            <a:ext cx="9966960" cy="1097280"/>
          </a:xfrm>
          <a:prstGeom prst="roundRect">
            <a:avLst/>
          </a:prstGeom>
          <a:solidFill>
            <a:srgbClr val="1E293B"/>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80160" y="3337560"/>
            <a:ext cx="9601200" cy="822960"/>
          </a:xfrm>
          <a:prstGeom prst="rect">
            <a:avLst/>
          </a:prstGeom>
          <a:noFill/>
        </p:spPr>
        <p:txBody>
          <a:bodyPr wrap="square"/>
          <a:lstStyle/>
          <a:p>
            <a:pPr algn="l">
              <a:spcAft>
                <a:spcPts val="600"/>
              </a:spcAft>
            </a:pPr>
            <a:r>
              <a:rPr sz="1400" b="1">
                <a:solidFill>
                  <a:srgbClr val="14B8A6"/>
                </a:solidFill>
                <a:latin typeface="Space Grotesk"/>
              </a:rPr>
              <a:t>Final Goal</a:t>
            </a:r>
          </a:p>
          <a:p>
            <a:pPr algn="l">
              <a:spcAft>
                <a:spcPts val="200"/>
              </a:spcAft>
            </a:pPr>
            <a:r>
              <a:rPr sz="1800" b="1">
                <a:solidFill>
                  <a:srgbClr val="FFFFFF"/>
                </a:solidFill>
                <a:latin typeface="Inter"/>
              </a:rPr>
              <a:t>Help retail decision-makers make better inventory planning decisions</a:t>
            </a:r>
          </a:p>
          <a:p>
            <a:pPr algn="l">
              <a:spcAft>
                <a:spcPts val="0"/>
              </a:spcAft>
            </a:pPr>
            <a:r>
              <a:rPr sz="1800" b="1">
                <a:solidFill>
                  <a:srgbClr val="14B8A6"/>
                </a:solidFill>
                <a:latin typeface="Inter"/>
              </a:rPr>
              <a:t>using data-driven intelligence.</a:t>
            </a:r>
          </a:p>
        </p:txBody>
      </p:sp>
      <p:sp>
        <p:nvSpPr>
          <p:cNvPr id="22" name="Rounded Rectangle 21"/>
          <p:cNvSpPr/>
          <p:nvPr/>
        </p:nvSpPr>
        <p:spPr>
          <a:xfrm>
            <a:off x="0" y="6629400"/>
            <a:ext cx="12191695" cy="22860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9FAFB"/>
        </a:solidFill>
        <a:effectLst/>
      </p:bgPr>
    </p:bg>
    <p:spTree>
      <p:nvGrpSpPr>
        <p:cNvPr id="1" name=""/>
        <p:cNvGrpSpPr/>
        <p:nvPr/>
      </p:nvGrpSpPr>
      <p:grpSpPr/>
      <p:sp>
        <p:nvSpPr>
          <p:cNvPr id="2" name="TextBox 1"/>
          <p:cNvSpPr txBox="1"/>
          <p:nvPr/>
        </p:nvSpPr>
        <p:spPr>
          <a:xfrm>
            <a:off x="11247120" y="6446520"/>
            <a:ext cx="822960" cy="274320"/>
          </a:xfrm>
          <a:prstGeom prst="rect">
            <a:avLst/>
          </a:prstGeom>
          <a:noFill/>
        </p:spPr>
        <p:txBody>
          <a:bodyPr wrap="square"/>
          <a:lstStyle/>
          <a:p>
            <a:pPr algn="r">
              <a:spcBef>
                <a:spcPts val="0"/>
              </a:spcBef>
              <a:spcAft>
                <a:spcPts val="0"/>
              </a:spcAft>
            </a:pPr>
            <a:r>
              <a:rPr sz="1000" b="0">
                <a:solidFill>
                  <a:srgbClr val="9CA3AF"/>
                </a:solidFill>
                <a:latin typeface="Inter"/>
              </a:rPr>
              <a:t>21 / 21</a:t>
            </a:r>
          </a:p>
        </p:txBody>
      </p:sp>
      <p:pic>
        <p:nvPicPr>
          <p:cNvPr id="3" name="Picture 2" descr="443732266_1006349624830063_6095867571651137613_n-removebg-preview.png"/>
          <p:cNvPicPr>
            <a:picLocks noChangeAspect="1"/>
          </p:cNvPicPr>
          <p:nvPr/>
        </p:nvPicPr>
        <p:blipFill>
          <a:blip r:embed="rId2"/>
          <a:stretch>
            <a:fillRect/>
          </a:stretch>
        </p:blipFill>
        <p:spPr>
          <a:xfrm>
            <a:off x="11094415" y="137160"/>
            <a:ext cx="868680" cy="868680"/>
          </a:xfrm>
          <a:prstGeom prst="rect">
            <a:avLst/>
          </a:prstGeom>
        </p:spPr>
      </p:pic>
      <p:sp>
        <p:nvSpPr>
          <p:cNvPr id="4" name="Rounded Rectangle 3"/>
          <p:cNvSpPr/>
          <p:nvPr/>
        </p:nvSpPr>
        <p:spPr>
          <a:xfrm>
            <a:off x="0" y="0"/>
            <a:ext cx="109728" cy="685800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371600"/>
            <a:ext cx="10058400" cy="914400"/>
          </a:xfrm>
          <a:prstGeom prst="rect">
            <a:avLst/>
          </a:prstGeom>
          <a:noFill/>
        </p:spPr>
        <p:txBody>
          <a:bodyPr wrap="square"/>
          <a:lstStyle/>
          <a:p>
            <a:pPr algn="ctr">
              <a:spcBef>
                <a:spcPts val="0"/>
              </a:spcBef>
              <a:spcAft>
                <a:spcPts val="0"/>
              </a:spcAft>
            </a:pPr>
            <a:r>
              <a:rPr sz="5200" b="1">
                <a:solidFill>
                  <a:srgbClr val="2563EB"/>
                </a:solidFill>
                <a:latin typeface="Space Grotesk"/>
              </a:rPr>
              <a:t>Thank You</a:t>
            </a:r>
          </a:p>
        </p:txBody>
      </p:sp>
      <p:sp>
        <p:nvSpPr>
          <p:cNvPr id="6" name="TextBox 5"/>
          <p:cNvSpPr txBox="1"/>
          <p:nvPr/>
        </p:nvSpPr>
        <p:spPr>
          <a:xfrm>
            <a:off x="1097280" y="2286000"/>
            <a:ext cx="10058400" cy="457200"/>
          </a:xfrm>
          <a:prstGeom prst="rect">
            <a:avLst/>
          </a:prstGeom>
          <a:noFill/>
        </p:spPr>
        <p:txBody>
          <a:bodyPr wrap="square"/>
          <a:lstStyle/>
          <a:p>
            <a:pPr algn="ctr">
              <a:spcBef>
                <a:spcPts val="0"/>
              </a:spcBef>
              <a:spcAft>
                <a:spcPts val="0"/>
              </a:spcAft>
            </a:pPr>
            <a:r>
              <a:rPr sz="2200" b="0">
                <a:solidFill>
                  <a:srgbClr val="14B8A6"/>
                </a:solidFill>
                <a:latin typeface="Inter"/>
              </a:rPr>
              <a:t>Questions &amp; Discussion</a:t>
            </a:r>
          </a:p>
        </p:txBody>
      </p:sp>
      <p:sp>
        <p:nvSpPr>
          <p:cNvPr id="7" name="Rounded Rectangle 6"/>
          <p:cNvSpPr/>
          <p:nvPr/>
        </p:nvSpPr>
        <p:spPr>
          <a:xfrm>
            <a:off x="5029200" y="2926080"/>
            <a:ext cx="2103120" cy="25400"/>
          </a:xfrm>
          <a:prstGeom prst="roundRect">
            <a:avLst/>
          </a:prstGeom>
          <a:solidFill>
            <a:srgbClr val="9CA3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3291840"/>
            <a:ext cx="10058400" cy="457200"/>
          </a:xfrm>
          <a:prstGeom prst="rect">
            <a:avLst/>
          </a:prstGeom>
          <a:noFill/>
        </p:spPr>
        <p:txBody>
          <a:bodyPr wrap="square"/>
          <a:lstStyle/>
          <a:p>
            <a:pPr algn="ctr">
              <a:spcBef>
                <a:spcPts val="0"/>
              </a:spcBef>
              <a:spcAft>
                <a:spcPts val="0"/>
              </a:spcAft>
            </a:pPr>
            <a:r>
              <a:rPr sz="2800" b="1">
                <a:solidFill>
                  <a:srgbClr val="2563EB"/>
                </a:solidFill>
                <a:latin typeface="Space Grotesk"/>
              </a:rPr>
              <a:t>StockMind AI</a:t>
            </a:r>
          </a:p>
        </p:txBody>
      </p:sp>
      <p:sp>
        <p:nvSpPr>
          <p:cNvPr id="9" name="TextBox 8"/>
          <p:cNvSpPr txBox="1"/>
          <p:nvPr/>
        </p:nvSpPr>
        <p:spPr>
          <a:xfrm>
            <a:off x="1097280" y="3794760"/>
            <a:ext cx="10058400" cy="365760"/>
          </a:xfrm>
          <a:prstGeom prst="rect">
            <a:avLst/>
          </a:prstGeom>
          <a:noFill/>
        </p:spPr>
        <p:txBody>
          <a:bodyPr wrap="square"/>
          <a:lstStyle/>
          <a:p>
            <a:pPr algn="ctr">
              <a:spcBef>
                <a:spcPts val="0"/>
              </a:spcBef>
              <a:spcAft>
                <a:spcPts val="0"/>
              </a:spcAft>
            </a:pPr>
            <a:r>
              <a:rPr sz="1400" b="0">
                <a:solidFill>
                  <a:srgbClr val="9CA3AF"/>
                </a:solidFill>
                <a:latin typeface="Inter"/>
              </a:rPr>
              <a:t>An Intelligent Demand Forecasting and Inventory Optimization System</a:t>
            </a:r>
          </a:p>
        </p:txBody>
      </p:sp>
      <p:sp>
        <p:nvSpPr>
          <p:cNvPr id="10" name="TextBox 9"/>
          <p:cNvSpPr txBox="1"/>
          <p:nvPr/>
        </p:nvSpPr>
        <p:spPr>
          <a:xfrm>
            <a:off x="1097280" y="4480560"/>
            <a:ext cx="10058400" cy="1645920"/>
          </a:xfrm>
          <a:prstGeom prst="rect">
            <a:avLst/>
          </a:prstGeom>
          <a:noFill/>
        </p:spPr>
        <p:txBody>
          <a:bodyPr wrap="square"/>
          <a:lstStyle/>
          <a:p>
            <a:pPr algn="ctr">
              <a:spcAft>
                <a:spcPts val="600"/>
              </a:spcAft>
            </a:pPr>
            <a:r>
              <a:rPr sz="1600" b="1">
                <a:solidFill>
                  <a:srgbClr val="111827"/>
                </a:solidFill>
                <a:latin typeface="Inter"/>
              </a:rPr>
              <a:t>Meer Musabih  |  Malaika Saleem</a:t>
            </a:r>
          </a:p>
          <a:p>
            <a:pPr algn="ctr">
              <a:spcAft>
                <a:spcPts val="600"/>
              </a:spcAft>
            </a:pPr>
            <a:r>
              <a:rPr sz="1400" b="0">
                <a:solidFill>
                  <a:srgbClr val="2563EB"/>
                </a:solidFill>
                <a:latin typeface="Inter"/>
              </a:rPr>
              <a:t>Supervisor: Dr. Muhammad Fawad</a:t>
            </a:r>
          </a:p>
          <a:p>
            <a:pPr algn="ctr">
              <a:spcAft>
                <a:spcPts val="0"/>
              </a:spcAft>
            </a:pPr>
            <a:r>
              <a:rPr sz="1400" b="0">
                <a:solidFill>
                  <a:srgbClr val="14B8A6"/>
                </a:solidFill>
                <a:latin typeface="Inter"/>
              </a:rPr>
              <a:t>Riphah International University — Lahore</a:t>
            </a:r>
          </a:p>
        </p:txBody>
      </p:sp>
      <p:sp>
        <p:nvSpPr>
          <p:cNvPr id="11" name="Rounded Rectangle 10"/>
          <p:cNvSpPr/>
          <p:nvPr/>
        </p:nvSpPr>
        <p:spPr>
          <a:xfrm>
            <a:off x="0" y="6629400"/>
            <a:ext cx="12191695" cy="22860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